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73" r:id="rId2"/>
    <p:sldId id="274" r:id="rId3"/>
    <p:sldId id="272" r:id="rId4"/>
    <p:sldId id="275" r:id="rId5"/>
    <p:sldId id="263" r:id="rId6"/>
    <p:sldId id="276" r:id="rId7"/>
    <p:sldId id="277" r:id="rId8"/>
    <p:sldId id="278" r:id="rId9"/>
    <p:sldId id="279" r:id="rId10"/>
    <p:sldId id="281" r:id="rId11"/>
    <p:sldId id="290" r:id="rId12"/>
    <p:sldId id="282" r:id="rId13"/>
    <p:sldId id="287" r:id="rId14"/>
    <p:sldId id="291" r:id="rId15"/>
    <p:sldId id="283" r:id="rId16"/>
    <p:sldId id="284" r:id="rId17"/>
    <p:sldId id="285" r:id="rId18"/>
    <p:sldId id="286" r:id="rId19"/>
    <p:sldId id="288" r:id="rId20"/>
    <p:sldId id="289" r:id="rId2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86"/>
    <p:restoredTop sz="74832"/>
  </p:normalViewPr>
  <p:slideViewPr>
    <p:cSldViewPr snapToGrid="0" snapToObjects="1">
      <p:cViewPr varScale="1">
        <p:scale>
          <a:sx n="116" d="100"/>
          <a:sy n="116" d="100"/>
        </p:scale>
        <p:origin x="15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2025 volume</c:v>
                </c:pt>
              </c:strCache>
            </c:strRef>
          </c:tx>
          <c:spPr>
            <a:solidFill>
              <a:srgbClr val="2F5597"/>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Mass General</c:v>
                </c:pt>
                <c:pt idx="1">
                  <c:v>Jackson Miami</c:v>
                </c:pt>
                <c:pt idx="2">
                  <c:v>UCSF</c:v>
                </c:pt>
                <c:pt idx="3">
                  <c:v>Cedars-Sinai</c:v>
                </c:pt>
                <c:pt idx="4">
                  <c:v>NY Presbyterian</c:v>
                </c:pt>
                <c:pt idx="5">
                  <c:v>Baylor/St. Luke's</c:v>
                </c:pt>
                <c:pt idx="6">
                  <c:v>Duke</c:v>
                </c:pt>
                <c:pt idx="7">
                  <c:v>Cleveland Clinic</c:v>
                </c:pt>
                <c:pt idx="8">
                  <c:v>Vanderbilt</c:v>
                </c:pt>
                <c:pt idx="9">
                  <c:v>Temple</c:v>
                </c:pt>
              </c:strCache>
            </c:strRef>
          </c:cat>
          <c:val>
            <c:numRef>
              <c:f>Sheet1!$B$2:$B$11</c:f>
              <c:numCache>
                <c:formatCode>General</c:formatCode>
                <c:ptCount val="10"/>
                <c:pt idx="0">
                  <c:v>84</c:v>
                </c:pt>
                <c:pt idx="1">
                  <c:v>85</c:v>
                </c:pt>
                <c:pt idx="2">
                  <c:v>89</c:v>
                </c:pt>
                <c:pt idx="3">
                  <c:v>93</c:v>
                </c:pt>
                <c:pt idx="4">
                  <c:v>101</c:v>
                </c:pt>
                <c:pt idx="5">
                  <c:v>102</c:v>
                </c:pt>
                <c:pt idx="6">
                  <c:v>104</c:v>
                </c:pt>
                <c:pt idx="7">
                  <c:v>143</c:v>
                </c:pt>
                <c:pt idx="8">
                  <c:v>149</c:v>
                </c:pt>
                <c:pt idx="9">
                  <c:v>178</c:v>
                </c:pt>
              </c:numCache>
            </c:numRef>
          </c:val>
          <c:extLst>
            <c:ext xmlns:c16="http://schemas.microsoft.com/office/drawing/2014/chart" uri="{C3380CC4-5D6E-409C-BE32-E72D297353CC}">
              <c16:uniqueId val="{00000000-D4B7-3F4C-9805-E5E8971E6B8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63238"/>
                </a:solidFill>
                <a:latin typeface="Apto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D6D7E"/>
                </a:solidFill>
                <a:latin typeface="Apto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2025</c:v>
                </c:pt>
              </c:strCache>
            </c:strRef>
          </c:tx>
          <c:spPr>
            <a:solidFill>
              <a:srgbClr val="B8C2CF"/>
            </a:solidFill>
          </c:spPr>
          <c:invertIfNegative val="1"/>
          <c:dPt>
            <c:idx val="7"/>
            <c:invertIfNegative val="1"/>
            <c:bubble3D val="0"/>
            <c:spPr>
              <a:solidFill>
                <a:srgbClr val="F0C070"/>
              </a:solidFill>
            </c:spPr>
            <c:extLst>
              <c:ext xmlns:c16="http://schemas.microsoft.com/office/drawing/2014/chart" uri="{C3380CC4-5D6E-409C-BE32-E72D297353CC}">
                <c16:uniqueId val="{00000001-7095-4840-A4D8-8384C26A757D}"/>
              </c:ext>
            </c:extLst>
          </c:dPt>
          <c:dLbls>
            <c:spPr>
              <a:noFill/>
              <a:ln>
                <a:noFill/>
              </a:ln>
              <a:effectLst/>
            </c:spPr>
            <c:txPr>
              <a:bodyPr/>
              <a:lstStyle/>
              <a:p>
                <a:pPr>
                  <a:defRPr sz="800">
                    <a:solidFill>
                      <a:srgbClr val="2D3A4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Vanderbilt</c:v>
                </c:pt>
                <c:pt idx="1">
                  <c:v>UF Shands</c:v>
                </c:pt>
                <c:pt idx="2">
                  <c:v>Jackson Miami</c:v>
                </c:pt>
                <c:pt idx="3">
                  <c:v>Tampa General</c:v>
                </c:pt>
                <c:pt idx="4">
                  <c:v>Emory</c:v>
                </c:pt>
                <c:pt idx="5">
                  <c:v>Mayo FL</c:v>
                </c:pt>
                <c:pt idx="6">
                  <c:v>AdventHealth</c:v>
                </c:pt>
                <c:pt idx="7">
                  <c:v>ALUA (UAB)</c:v>
                </c:pt>
                <c:pt idx="8">
                  <c:v>Ochsner</c:v>
                </c:pt>
                <c:pt idx="9">
                  <c:v>Kentucky</c:v>
                </c:pt>
              </c:strCache>
            </c:strRef>
          </c:cat>
          <c:val>
            <c:numRef>
              <c:f>Sheet1!$B$2:$B$11</c:f>
              <c:numCache>
                <c:formatCode>0</c:formatCode>
                <c:ptCount val="10"/>
                <c:pt idx="0">
                  <c:v>149</c:v>
                </c:pt>
                <c:pt idx="1">
                  <c:v>65</c:v>
                </c:pt>
                <c:pt idx="2">
                  <c:v>85</c:v>
                </c:pt>
                <c:pt idx="3">
                  <c:v>42</c:v>
                </c:pt>
                <c:pt idx="4">
                  <c:v>44</c:v>
                </c:pt>
                <c:pt idx="5">
                  <c:v>69</c:v>
                </c:pt>
                <c:pt idx="6">
                  <c:v>31</c:v>
                </c:pt>
                <c:pt idx="7">
                  <c:v>31</c:v>
                </c:pt>
                <c:pt idx="8">
                  <c:v>14</c:v>
                </c:pt>
                <c:pt idx="9">
                  <c:v>14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095-4840-A4D8-8384C26A757D}"/>
            </c:ext>
          </c:extLst>
        </c:ser>
        <c:ser>
          <c:idx val="1"/>
          <c:order val="1"/>
          <c:tx>
            <c:strRef>
              <c:f>Sheet1!$C$1</c:f>
              <c:strCache>
                <c:ptCount val="1"/>
                <c:pt idx="0">
                  <c:v>2026 pace (annualized)</c:v>
                </c:pt>
              </c:strCache>
            </c:strRef>
          </c:tx>
          <c:spPr>
            <a:solidFill>
              <a:srgbClr val="1E3A5F"/>
            </a:solidFill>
          </c:spPr>
          <c:invertIfNegative val="1"/>
          <c:dPt>
            <c:idx val="7"/>
            <c:invertIfNegative val="1"/>
            <c:bubble3D val="0"/>
            <c:spPr>
              <a:solidFill>
                <a:srgbClr val="C47A00"/>
              </a:solidFill>
            </c:spPr>
            <c:extLst>
              <c:ext xmlns:c16="http://schemas.microsoft.com/office/drawing/2014/chart" uri="{C3380CC4-5D6E-409C-BE32-E72D297353CC}">
                <c16:uniqueId val="{00000004-7095-4840-A4D8-8384C26A757D}"/>
              </c:ext>
            </c:extLst>
          </c:dPt>
          <c:dLbls>
            <c:spPr>
              <a:noFill/>
              <a:ln>
                <a:noFill/>
              </a:ln>
              <a:effectLst/>
            </c:spPr>
            <c:txPr>
              <a:bodyPr/>
              <a:lstStyle/>
              <a:p>
                <a:pPr>
                  <a:defRPr sz="800">
                    <a:solidFill>
                      <a:srgbClr val="2D3A4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Vanderbilt</c:v>
                </c:pt>
                <c:pt idx="1">
                  <c:v>UF Shands</c:v>
                </c:pt>
                <c:pt idx="2">
                  <c:v>Jackson Miami</c:v>
                </c:pt>
                <c:pt idx="3">
                  <c:v>Tampa General</c:v>
                </c:pt>
                <c:pt idx="4">
                  <c:v>Emory</c:v>
                </c:pt>
                <c:pt idx="5">
                  <c:v>Mayo FL</c:v>
                </c:pt>
                <c:pt idx="6">
                  <c:v>AdventHealth</c:v>
                </c:pt>
                <c:pt idx="7">
                  <c:v>ALUA (UAB)</c:v>
                </c:pt>
                <c:pt idx="8">
                  <c:v>Ochsner</c:v>
                </c:pt>
                <c:pt idx="9">
                  <c:v>Kentucky</c:v>
                </c:pt>
              </c:strCache>
            </c:strRef>
          </c:cat>
          <c:val>
            <c:numRef>
              <c:f>Sheet1!$C$2:$C$11</c:f>
              <c:numCache>
                <c:formatCode>0</c:formatCode>
                <c:ptCount val="10"/>
                <c:pt idx="0">
                  <c:v>144</c:v>
                </c:pt>
                <c:pt idx="1">
                  <c:v>92</c:v>
                </c:pt>
                <c:pt idx="2">
                  <c:v>80</c:v>
                </c:pt>
                <c:pt idx="3">
                  <c:v>80</c:v>
                </c:pt>
                <c:pt idx="4">
                  <c:v>69</c:v>
                </c:pt>
                <c:pt idx="5">
                  <c:v>56</c:v>
                </c:pt>
                <c:pt idx="6">
                  <c:v>35</c:v>
                </c:pt>
                <c:pt idx="7">
                  <c:v>31</c:v>
                </c:pt>
                <c:pt idx="8">
                  <c:v>23</c:v>
                </c:pt>
                <c:pt idx="9">
                  <c:v>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7095-4840-A4D8-8384C26A757D}"/>
            </c:ext>
          </c:extLst>
        </c:ser>
        <c:dLbls>
          <c:showLegendKey val="0"/>
          <c:showVal val="0"/>
          <c:showCatName val="0"/>
          <c:showSerName val="0"/>
          <c:showPercent val="0"/>
          <c:showBubbleSize val="0"/>
        </c:dLbls>
        <c:gapWidth val="6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888888"/>
            </a:solidFill>
          </a:ln>
        </c:spPr>
        <c:txPr>
          <a:bodyPr/>
          <a:lstStyle/>
          <a:p>
            <a:pPr>
              <a:defRPr sz="900"/>
            </a:pPr>
            <a:endParaRPr lang="en-US"/>
          </a:p>
        </c:txPr>
        <c:crossAx val="-2113994440"/>
        <c:crosses val="autoZero"/>
        <c:auto val="1"/>
        <c:lblAlgn val="ctr"/>
        <c:lblOffset val="100"/>
        <c:noMultiLvlLbl val="0"/>
      </c:catAx>
      <c:valAx>
        <c:axId val="-2113994440"/>
        <c:scaling>
          <c:orientation val="minMax"/>
          <c:max val="160"/>
        </c:scaling>
        <c:delete val="0"/>
        <c:axPos val="l"/>
        <c:majorGridlines>
          <c:spPr>
            <a:ln>
              <a:solidFill>
                <a:srgbClr val="D9D9D9"/>
              </a:solidFill>
            </a:ln>
          </c:spPr>
        </c:majorGridlines>
        <c:numFmt formatCode="0" sourceLinked="1"/>
        <c:majorTickMark val="out"/>
        <c:minorTickMark val="none"/>
        <c:tickLblPos val="nextTo"/>
        <c:spPr>
          <a:ln>
            <a:noFill/>
          </a:ln>
        </c:spPr>
        <c:txPr>
          <a:bodyPr/>
          <a:lstStyle/>
          <a:p>
            <a:pPr>
              <a:defRPr sz="900"/>
            </a:pPr>
            <a:endParaRPr lang="en-US"/>
          </a:p>
        </c:txPr>
        <c:crossAx val="-2068027336"/>
        <c:crosses val="autoZero"/>
        <c:crossBetween val="between"/>
      </c:valAx>
    </c:plotArea>
    <c:legend>
      <c:legendPos val="t"/>
      <c:overlay val="0"/>
      <c:txPr>
        <a:bodyPr/>
        <a:lstStyle/>
        <a:p>
          <a:pPr>
            <a:defRPr sz="1000"/>
          </a:pPr>
          <a:endParaRPr lang="en-US"/>
        </a:p>
      </c:txPr>
    </c:legend>
    <c:plotVisOnly val="1"/>
    <c:dispBlanksAs val="gap"/>
    <c:showDLblsOverMax val="1"/>
  </c:chart>
  <c:txPr>
    <a:bodyPr/>
    <a:lstStyle/>
    <a:p>
      <a:pPr>
        <a:defRPr sz="900">
          <a:solidFill>
            <a:srgbClr val="6B7280"/>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5B47B-3325-DB43-B6D8-97DF435B7DD3}" type="datetimeFigureOut">
              <a:rPr lang="en-US" smtClean="0"/>
              <a:t>10/26/26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2FAD0A-9503-FE4F-A2F4-7A0B620C137B}" type="slidenum">
              <a:rPr lang="en-US" smtClean="0"/>
              <a:t>‹#›</a:t>
            </a:fld>
            <a:endParaRPr lang="en-US"/>
          </a:p>
        </p:txBody>
      </p:sp>
    </p:spTree>
    <p:extLst>
      <p:ext uri="{BB962C8B-B14F-4D97-AF65-F5344CB8AC3E}">
        <p14:creationId xmlns:p14="http://schemas.microsoft.com/office/powerpoint/2010/main" val="1910686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October 2026 update of the April 2026 report. All OPTN volume figures now run through September 30, 2026 (HRSA data as of October 25, 2026). Part 1 covers national trends and policy impact; Part 2 covers ALUA, now including a Southeast peer comparison. Outcomes use the SRTR program-specific report released July 7, 2026 (data through April 30, 2026), the center's rolling graft-survival and waitlist-mortality reports updated October 4, 2026, and the January–August 2026 offer-acceptance subgroup report.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Personal data science project applying web scraping and AI-assisted analysis to public OPTN-HRSA data. The scraper captures annual lung transplant counts for 54 active adult programs. HRSA's 2026 column covers transplants performed January 1 – September 30, 2026; the data were pulled October 26, 2026. Highlighted rows are ALUA and its Southeast peers. Key questions: how has national volume changed, what did the DSA and CAS reforms do to individual programs, and where does ALUA stand nationally and regionally?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Top-line numbers. The 54 centers performed 3,083 lung transplants in 2025 and 2,397 in January–September 2026, an annualized pace of about 3,196 (+4%). ALUA performed 31 in 2025 and 23 in January–September 2026 — a pace of about 31, the same as 2025. One-year patient survival in the July 2026 PSR is 90.5% (expected 91.7%, national 90.3%), down from 95.7% in the January report.</a:t>
            </a:r>
          </a:p>
        </p:txBody>
      </p:sp>
      <p:sp>
        <p:nvSpPr>
          <p:cNvPr id="4" name="Slide Number Placeholder 3"/>
          <p:cNvSpPr>
            <a:spLocks noGrp="1"/>
          </p:cNvSpPr>
          <p:nvPr>
            <p:ph type="sldNum" sz="quarter" idx="5"/>
          </p:nvPr>
        </p:nvSpPr>
        <p:spPr/>
        <p:txBody>
          <a:bodyPr/>
          <a:lstStyle/>
          <a:p>
            <a:fld id="{F32FAD0A-9503-FE4F-A2F4-7A0B620C137B}" type="slidenum">
              <a:rPr lang="en-US" smtClean="0"/>
              <a:t>3</a:t>
            </a:fld>
            <a:endParaRPr lang="en-US"/>
          </a:p>
        </p:txBody>
      </p:sp>
    </p:spTree>
    <p:extLst>
      <p:ext uri="{BB962C8B-B14F-4D97-AF65-F5344CB8AC3E}">
        <p14:creationId xmlns:p14="http://schemas.microsoft.com/office/powerpoint/2010/main" val="661827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National volume grew from 1,196 in 2005 to 3,083 in 2025 — 158% growth. Era averages: pre-DSA (2015–17) 2,006 per year; the 250-nautical-mile era 2,332 (+16%); the CAS era 2,888 (+24%). Note the pre-DSA average uses the last three pre-DSA years, matching the three-year CAS window (the April deck labelled it 2010–17). COVID produced a 6.5% dip in 2020, recovered by 2022. CAS in March 2023 produced the largest single-year jump (+10.9%). 2026: 2,397 transplants January–September, an annualized pace of about 3,196 — about 4% above 2025, so growth is slowing from the post-CAS surge.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gives the national competitive context. The top ten centers perform about 36.6 percent of national volume, so the market is moderately concentrated. The dominant centers - Temple, Vanderbilt, and Cleveland Clinic - are not simply large by chance. Their volumes likely reflect a combination of referral networks, operational scale, acuity management, donor acceptance behavior, and surgical capacity. For ALUA, the relevant message is that sustaining volume requires competing on these capabilities, not just relying on regional donor geography.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allocation reforms reshaped the landscape. DSA removal (November 2017) eliminated donation service area geography as the first distribution level: median waitlist time fell 9 days and transplant rates rose, but length of stay rose about 2 days because of longer transport. CAS (March 2023) replaced the Lung Allocation Score with a composite acuity-first score and produced the largest year-on-year jump on record; waitlist mortality fell from 11.2% to 8.4% to 4.1% across the three eras.</a:t>
            </a:r>
          </a:p>
          <a:p>
            <a:endParaRPr/>
          </a:p>
          <a:p>
            <a:r>
              <a:t>Equity metrics were recomputed on the October 2026 data, using each center's average annual volume within each era (pre-DSA 2015–17, 250nm 2018–22, CAS 2023–25). The Gini coefficient fell 0.386 → 0.359 → 0.340 and the cross-center CV fell 72.2% → 67.5% → 61.4%, so volume is spread more evenly across programs. Centers averaging at least 33 transplants a year — the empirical volume-quality floor — rose from 23 of 51 to 31 of 54 to 35 of 54. The 250nm-era values differ slightly from the April deck (0.364, 69.5%, 28) because HRSA revises historical counts. ALUA's 2015–2025 CV of 34.0% is close to the peer median of 35.1%.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policy quadrant classifies 51 centers with data in both eras by how they fared under each reform. Double Winners (20) include Vanderbilt (+384%) and Cedars-Sinai (+461%). DSA Win / CAS Loss (16) includes Duke and Pittsburgh. DSA Loss / CAS Win (11) includes Mayo Minnesota and Utah. Double Losers (4) are Ochsner, Penn, Barnes-Jewish and University of Chicago. Update: Ochsner is rebounding in 2026 — 17 transplants January–September, an annualized pace of about 23 versus 14 in 2025 — so its Double Loser label should be revisited at year end.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Temple leads nationally at 178 cases in 2025, followed by Vanderbilt (149) and Cleveland Clinic (143). The Double Losers are cautionary cases whose historical advantages were geographic rather than clinical. Ochsner averaged about 10 a year in the CAS era but is rebounding in 2026 (17 by September, pace ~23). Penn fell from 86 to 59 a year as Temple took intra-city share. Barnes-Jewish lost its Midwest OPO catchment advantage. University of Chicago is squeezed by Loyola in the same metro.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2 — the ALUA deep dive. Headline metrics: 31 transplants in 2025 (best since 2007); one-year patient survival of 90.5% with a hazard ratio of 1.13 in the July 2026 PSR (January: 95.7%, 0.69); an offer acceptance ratio of 1.23 for January–August 2026 (0.90 for calendar 2025 in the PSR); and 23 transplants January–September 2026, a pace of about 31. Surveillance figures come from the center's rolling reports updated October 4, 2026.</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ALUA's volume has moved with structural events rather than a steady trend: a 2006 peak of 34; a 2019 leadership crisis trough of 8; recovery after a new medical director joined in December 2020; a dip to 18 after a surgeon departed in October 2024; and 31 in 2025 after a new surgeon arrived in April 2025. In 2026, ALUA performed 23 transplants January–September — 9 in Q1 and 14 across Q2 and Q3, about 7 a quarter. The annualized pace of about 31 matches 2025, so the April projection of ~36 (based on Q1 alone) has not held, but the program has now sustained its higher level for two years.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in the October update. The chart compares 2025 volume with the 2026 annualized pace (January–September × 12/9) for the 10 Southeast programs in the dataset. The region is on pace for about 621 transplants, +14% over 2025, against +4% nationally. ALUA is flat at about 31, so its regional share falls from 5.7% to 4.9% and its national rank slips from 37th to 43rd. Emory is the closest competitive threat: it averaged the same volume as ALUA in 2020–24 but has already set a program record with 52 by September (pace ~69). Vanderbilt is levelling off at about 144 a year but remains 4.7 times ALUA's volume. Caveats: the pace assumes an even monthly rate, and several Southeast programs (MUSC, Methodist Memphis, Jewish Hospital Louisville, Cleveland Clinic Florida, Wellstar MCG) are not in the 54-center scrape.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July 7, 2026 PSR (data through April 30, 2026) covers transplants from January 2023 through June 2025 — 56 adult single-organ transplants. One-year graft survival is 90.5% against an expected 91.5% and a national 89.8%; the hazard ratio is 1.12 with a 95% credible interval of 0.45–2.09. One-year patient survival is 90.5% (HR 1.13). Five graft failures were observed against 4.26 expected. The 90-day graft HR of 1.24 matches the center's rolling report, and the 1-year conditional HR of 0.95 shows patients who survive 90 days do as expected. Three-year graft survival (July 2020 – December 2022 cohort) is 76.7%, HR 1.00 — the earlier 1.17 has resolved.</a:t>
            </a:r>
          </a:p>
          <a:p>
            <a:endParaRPr/>
          </a:p>
          <a:p>
            <a:r>
              <a:t>The January 2026 PSR had reported HR 0.69 and 95.7% survival on the July 2022 – December 2024 cohort. Rolling the window forward six months dropped the strong 2022 half-year and added the first half of 2025, which carries two early graft failures, so the outcomes have moved from better-than-expected to expected. With 5 events the credible intervals are wide; none of the HRs approaches the 2.25 MPSC flag, but the direction is consistent with the rolling report on the next slide.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Clinical profile from the July 2026 PSR, transplants performed January–December 2025 (31 recipients). 51.6% were transplanted from the ICU versus 20.7% nationally and 42.8% in the OPTN region — 2.5 times the national rate and higher than the 46.2% in the April deck. High acuity raises early graft-failure risk, which is where the rolling report shows the signal. The donor profile stays young: 51.6% aged 18–34 and 16.1% under 18, with only 3.2% aged 50 or older against 26.5% nationally. Case mix is COPD-heavy (29.0% vs 21.4%) with fewer IPF (58.1% vs 64.1%); 9.7% of recipients had a BMI of 36 or more versus 1.2% nationally. Median post-transplant length of stay is 24 days versus 21 nationally (26 in the region), longer than the 19.5 days in the earlier period. Median time to transplant is 3.4 months versus 1.3 nationally, and 83.9% of donors come from outside the local DSA.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in the October update, from the UNOS Benchmark Report (October 2026; transplants July 2025 – June 2026, waitlist snapshot September 30, 2026). ALUA performed 32 transplants in the window — between the national first quartile (19) and median (40) — and sits in the Q2 size group with 19 other programs.</a:t>
            </a:r>
          </a:p>
          <a:p>
            <a:endParaRPr/>
          </a:p>
          <a:p>
            <a:r>
              <a:t>Recipients and donors are both young: 15.6% of recipients were 65 or older against 45.7% nationally, 9.4% were 18–34 against 3.0%, and 81.3% of donors were under 35 against 35.6%, with no donors aged 50 or older (29% nationally). The waitlist shows the same pattern — 9.1% aged 65+ against 49.0% nationally — so older candidates are the largest segment ALUA is not listing. Case mix is distinctive: interstitial lung disease other than IIP (40.6%), connective-tissue disease (18.8%) and sarcoidosis (6.3%) together make up two-thirds of transplants versus 28% nationally, while IIP is 12.5% versus 36.2%. Medical-urgency points of 2.5 or more applied to 53.1% of recipients (39.5% nationally), but 43.8% had post-transplant survival points of 20 or more (28.5% nationally), reflecting the younger recipients.</a:t>
            </a:r>
          </a:p>
          <a:p>
            <a:endParaRPr/>
          </a:p>
          <a:p>
            <a:r>
              <a:t>Logistics are conservative: median total ischemic time 6.4 hours against 9.8 nationally and 14.0 in Region 3; no donor further than 749 NM (14.4% of national transplants exceed 1,000 NM); 100% ABO-identical against 89.6%; and no machine perfusion against 7.0% nationally and 16.2% in Region 3. DCD use (18.8%) and PHS-risk donors (18.8%) are near national rates. These choices protect early outcomes but limit the offer pool; perfusion and longer distance are the unused levers if listings grow.</a:t>
            </a:r>
          </a:p>
          <a:p>
            <a:endParaRPr/>
          </a:p>
          <a:p>
            <a:r>
              <a:t>Watch items: 9.4% of recipients had an acute rejection episode treated before discharge, twice the national 4.7% and three times the size-peer 3.2%, which is consistent with the 90-day graft-failure signal in the rolling report. Median recipient BMI is 29.3 against 26.3 nationally (p95 36.5 vs 33.3). Median length of stay is 21 days against 20 nationally and 27 in Region 3. On equity, Black candidates are 45.5% of ALUA's waitlist (13.1% nationally) and 25.0% of recipients (10.5%); there were no Hispanic/Latino candidates or recipients (14–20% in the comparison groups). The list is fully active (0% status 7 vs 12.2% nationally) with a median CAS subscore of about 21.5 versus 23.1 nationally.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Chart data are from the center's rolling 90-day/1-year graft survival and waitlist mortality reports updated October 4, 2026. The SRTR 7/26 cohort (January 2023 – June 2025) came in at a 90-day graft HR of 1.24 — almost exactly the April projection of 1.25 — with a 1-year conditional graft HR of 0.95. The 1/27 cohort (July 2023 – December 2025) is now at 1.71: five 90-day failures against 2.1 expected, with an 18.8% probability that the true HR exceeds 2.25. The incomplete 7/27, 1/28 and 7/28 windows are tracking 1.90–2.08, with that probability rising to 36.6%. None breaches the MPSC flag, but the direction is clear.</a:t>
            </a:r>
          </a:p>
          <a:p>
            <a:endParaRPr/>
          </a:p>
          <a:p>
            <a:r>
              <a:t>The important distinction: 1-year conditional graft HRs remain 0.88–1.19, so patients who survive 90 days do as well as expected. The signal is perioperative failure. Six-month periods show 90-day failures of 2 of 16 (H1 2025), 2 of 15 (H2 2025), 1 of 17 (H1 2026) and 1 of 7 so far in H2 2026. SRTR hazard ratios are risk-adjusted, so the 52% ICU intake explains the rise only if the model under-adjusts at this acuity; the new surgeon's ramp from April 2025 is the other candidate. Waitlist mortality is resolving: HR 2.16 at 7/25, 1.58 at 7/26, 1.20 at 1/27, with the flag probability down from 56% to 13% and later windows at 0.74–0.96. The official July 2026 PSR still carries the 2024 trough in its two-year waitlist window (January 2024 – December 2025): pre-transplant mortality ratio 1.58 [0.68–2.84] and a transplant-rate ratio of 0.59 [0.44–0.76], the one interval in the report that excludes 1.0. Candidates listed July 2023 – June 2024 had 20% waitlist mortality at 6 months versus 2% nationally. Those windows roll forward in the January 2027 PSR.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January–August 2026 offer acceptance report reverses the April story. ALUA received 221 offers and accepted 22 against 17.5 expected — an overall ratio of 1.23 ('somewhat above average'). The trajectory is 0.62 in the January 2026 PSR, 0.90 for calendar 2025 in the July 2026 PSR (31 of 526 offers, 34.5 expected, credible interval 0.62–1.24), and 1.23 for January–August 2026. Acceptance of offers over 500 miles is 1.74 (12 of 95; 0.98 in CY2025), PHS increased-risk donors 1.38 (0.71 in CY2025) and DCD donors 1.54, so the distance and donor-risk levers recommended in April have been pulled. Hard-to-place offers remain deferred (0 of 38, ratio 0.65; 1 of 71 in CY2025). Offer counts across the reports are not directly comparable because the windows and offer definitions differ; the ratios are.</a:t>
            </a:r>
          </a:p>
          <a:p>
            <a:endParaRPr/>
          </a:p>
          <a:p>
            <a:r>
              <a:t>With acceptance above expected and volume still about 31 a year, the constraint has moved upstream. The waitlist activity report shows the active list shrinking from 13 at the start of H2 2024 to 8 at the start of H2 2026, with 15–17 deceased-donor transplants per half-year roughly equal to removals: the program is transplanting almost everyone it lists. Growth beyond ~31 now depends on referrals and listings. The trade-off to watch is the 90-day graft signal on the surveillance slide as distance and DCD acceptance widen.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M4 structural model (time trend, new-MD era from 2021, and single-year dummies for 2019, 2020, 2024 and 2025) was refit and reproduces the April figures exactly: adjusted R² 0.448, base forecast 22 for 2026 with an 80% prediction interval of 15–30. The base case treats the 2025 new-surgeon effect as a one-off; the accelerated scenario assumes it persists (30 in 2026, easing to 28 by 2030 with the trend).</a:t>
            </a:r>
          </a:p>
          <a:p>
            <a:endParaRPr/>
          </a:p>
          <a:p>
            <a:r>
              <a:t>With 23 transplants by September, 2026 is on pace for about 31 — at the top of the base interval and on the accelerated path. Two consecutive years at ~31 are evidence the new-surgeon effect is durable, so the base case of 22 now looks too low. Both paths remain below the 33-case threshold without further growth.</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Monte Carlo (100,000 paths, regime-switching with a 10% annual disruption probability). The scenarios are unchanged but relabelled: the April 'conservative' run started at 31 — exactly the 2026 pace — so it is now the base case (1-year 27%, 3-year 13%, 5-year 8% probability of sustaining 33+). The April base (start 36, from Q1 alone) becomes the upside case.</a:t>
            </a:r>
          </a:p>
          <a:p>
            <a:endParaRPr/>
          </a:p>
          <a:p>
            <a:r>
              <a:t>Year-end update: Q4 volume modelled as Poisson with a gamma posterior on the quarterly rate from January–September (23 cases over 3 quarters). Expected 2026 total is about 31 (80% range 27–35). Reaching 33 needs 10 or more in Q4, above any quarter so far, so P(2026 ≥ 33) is about 28%, down from 38% in April. To have a 50% chance of sustaining 33+ for three years, ALUA would need to start a year at about 43. Retaining the surgical team remains the highest-leverage action.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priorities. 1) The 90-day graft signal: SRTR 7/26 came in at 1.24 as projected, but the 1/27 cohort is at 1.71 with five early failures against 2.1 expected, and the incomplete windows track 1.9–2.1. Review every 2025–26 failure within 90 days before the January 2027 report, which will be the first official report in the approach zone. 2) Retain the surgical team through April 2027: disruption probability dominates the model, and two years at ~31 support a durable new-surgeon effect. 3) Offer acceptance is no longer the lever — the ratio is 1.23 with distance and DCD acceptance above expected — so growth now depends on referrals and listings; the active waitlist has shrunk to 8. 4) SRTR HRs are risk-adjusted; ask whether the model under-adjusts at ALUA's 2.5× national ICU intake (51.6% in 2025), especially as donor acceptance widens. 5) Q4 2026: 10 or more cases would reach 33 for the year (about a 28% chance); otherwise plan for ~31 and set a 2027 target of 33+, watching regional share against Emory and Vanderbilt.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National: 3,083 transplants in 2025, +158% since 2005; 2026 is on pace for about 3,196 (+4%). Both reforms improved equity and access. Policy: only 4 of 51 centers lost under both reforms; the Southeast is now one of the fastest-growing regions (+14% 2026 pace), led by Vanderbilt, Emory, Tampa and Shands. ALUA current state: the July 2026 PSR puts one-year survival at 90.5% with HR 1.13 — at expected, down from the January report's 0.69 — and a 90-day graft HR of 1.24 as projected; the rolling 1/27 cohort is at 1.71 on early graft failures, while 1-year conditional survival and waitlist mortality are fine. ALUA trajectory: 23 by September, pace ~31 — a second year at the 2025 level, on the accelerated path rather than the base model's 22, with about a 28% chance of reaching 33 in 2026. Offer acceptance has risen to 1.23, so listings are now the constraint. Regionally, ALUA's share is slipping (5.7% to 4.9%) as Emory and others grow.</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185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315968"/>
            <a:ext cx="12188952" cy="2542032"/>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279392"/>
            <a:ext cx="12188952" cy="64008"/>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0080"/>
            <a:ext cx="11247120" cy="800219"/>
          </a:xfrm>
          <a:prstGeom prst="rect">
            <a:avLst/>
          </a:prstGeom>
          <a:noFill/>
        </p:spPr>
        <p:txBody>
          <a:bodyPr wrap="square">
            <a:spAutoFit/>
          </a:bodyPr>
          <a:lstStyle/>
          <a:p>
            <a:pPr algn="ctr"/>
            <a:r>
              <a:rPr sz="4600" b="1" i="0" dirty="0">
                <a:solidFill>
                  <a:srgbClr val="FFFFFF"/>
                </a:solidFill>
              </a:rPr>
              <a:t>Lung Transplant</a:t>
            </a:r>
          </a:p>
        </p:txBody>
      </p:sp>
      <p:sp>
        <p:nvSpPr>
          <p:cNvPr id="6" name="TextBox 5"/>
          <p:cNvSpPr txBox="1"/>
          <p:nvPr/>
        </p:nvSpPr>
        <p:spPr>
          <a:xfrm>
            <a:off x="457200" y="1435608"/>
            <a:ext cx="11247120" cy="492443"/>
          </a:xfrm>
          <a:prstGeom prst="rect">
            <a:avLst/>
          </a:prstGeom>
          <a:noFill/>
        </p:spPr>
        <p:txBody>
          <a:bodyPr wrap="square">
            <a:spAutoFit/>
          </a:bodyPr>
          <a:lstStyle/>
          <a:p>
            <a:pPr algn="ctr"/>
            <a:r>
              <a:rPr sz="2600" b="0" i="0" dirty="0">
                <a:solidFill>
                  <a:srgbClr val="E8F2FA"/>
                </a:solidFill>
              </a:rPr>
              <a:t>Analytics Report · October 2026 Update</a:t>
            </a:r>
          </a:p>
        </p:txBody>
      </p:sp>
      <p:sp>
        <p:nvSpPr>
          <p:cNvPr id="7" name="TextBox 6"/>
          <p:cNvSpPr txBox="1"/>
          <p:nvPr/>
        </p:nvSpPr>
        <p:spPr>
          <a:xfrm>
            <a:off x="457199" y="2176272"/>
            <a:ext cx="11731625" cy="292388"/>
          </a:xfrm>
          <a:prstGeom prst="rect">
            <a:avLst/>
          </a:prstGeom>
          <a:noFill/>
        </p:spPr>
        <p:txBody>
          <a:bodyPr wrap="square">
            <a:spAutoFit/>
          </a:bodyPr>
          <a:lstStyle/>
          <a:p>
            <a:pPr algn="ctr"/>
            <a:r>
              <a:rPr sz="1300" b="0" i="0" dirty="0">
                <a:solidFill>
                  <a:srgbClr val="9BC4E2"/>
                </a:solidFill>
              </a:rPr>
              <a:t>National Insights · ALUA Program Analysis · Policy Impact · Forecasts</a:t>
            </a:r>
          </a:p>
        </p:txBody>
      </p:sp>
      <p:sp>
        <p:nvSpPr>
          <p:cNvPr id="23" name="TextBox 22"/>
          <p:cNvSpPr txBox="1"/>
          <p:nvPr/>
        </p:nvSpPr>
        <p:spPr>
          <a:xfrm>
            <a:off x="457200" y="4462272"/>
            <a:ext cx="5394960" cy="347472"/>
          </a:xfrm>
          <a:prstGeom prst="rect">
            <a:avLst/>
          </a:prstGeom>
          <a:noFill/>
        </p:spPr>
        <p:txBody>
          <a:bodyPr wrap="square">
            <a:spAutoFit/>
          </a:bodyPr>
          <a:lstStyle/>
          <a:p>
            <a:pPr algn="l"/>
            <a:r>
              <a:rPr sz="1000" b="1" i="0">
                <a:solidFill>
                  <a:srgbClr val="9BC4E2"/>
                </a:solidFill>
              </a:rPr>
              <a:t>PART 1 — NATIONAL ANALYSIS</a:t>
            </a:r>
          </a:p>
        </p:txBody>
      </p:sp>
      <p:sp>
        <p:nvSpPr>
          <p:cNvPr id="24" name="TextBox 23"/>
          <p:cNvSpPr txBox="1"/>
          <p:nvPr/>
        </p:nvSpPr>
        <p:spPr>
          <a:xfrm>
            <a:off x="6309360" y="4462272"/>
            <a:ext cx="5394960" cy="347472"/>
          </a:xfrm>
          <a:prstGeom prst="rect">
            <a:avLst/>
          </a:prstGeom>
          <a:noFill/>
        </p:spPr>
        <p:txBody>
          <a:bodyPr wrap="square">
            <a:spAutoFit/>
          </a:bodyPr>
          <a:lstStyle/>
          <a:p>
            <a:pPr algn="l"/>
            <a:r>
              <a:rPr sz="1000" b="1" i="0">
                <a:solidFill>
                  <a:srgbClr val="9BC4E2"/>
                </a:solidFill>
              </a:rPr>
              <a:t>PART 2 — ALUA PROGRAM</a:t>
            </a:r>
          </a:p>
        </p:txBody>
      </p:sp>
      <p:sp>
        <p:nvSpPr>
          <p:cNvPr id="25" name="TextBox 24"/>
          <p:cNvSpPr txBox="1"/>
          <p:nvPr/>
        </p:nvSpPr>
        <p:spPr>
          <a:xfrm>
            <a:off x="548640" y="4864608"/>
            <a:ext cx="5029200" cy="320040"/>
          </a:xfrm>
          <a:prstGeom prst="rect">
            <a:avLst/>
          </a:prstGeom>
          <a:noFill/>
        </p:spPr>
        <p:txBody>
          <a:bodyPr wrap="square">
            <a:spAutoFit/>
          </a:bodyPr>
          <a:lstStyle/>
          <a:p>
            <a:pPr algn="l"/>
            <a:r>
              <a:rPr sz="950" b="0" i="0" dirty="0">
                <a:solidFill>
                  <a:srgbClr val="FFFFFF"/>
                </a:solidFill>
              </a:rPr>
              <a:t>▸  National volume 2005–2026 (Jan–Sep)</a:t>
            </a:r>
          </a:p>
        </p:txBody>
      </p:sp>
      <p:sp>
        <p:nvSpPr>
          <p:cNvPr id="26" name="TextBox 25"/>
          <p:cNvSpPr txBox="1"/>
          <p:nvPr/>
        </p:nvSpPr>
        <p:spPr>
          <a:xfrm>
            <a:off x="548640" y="5212080"/>
            <a:ext cx="5029200" cy="320040"/>
          </a:xfrm>
          <a:prstGeom prst="rect">
            <a:avLst/>
          </a:prstGeom>
          <a:noFill/>
        </p:spPr>
        <p:txBody>
          <a:bodyPr wrap="square">
            <a:spAutoFit/>
          </a:bodyPr>
          <a:lstStyle/>
          <a:p>
            <a:pPr algn="l"/>
            <a:r>
              <a:rPr sz="950" b="0" i="0">
                <a:solidFill>
                  <a:srgbClr val="FFFFFF"/>
                </a:solidFill>
              </a:rPr>
              <a:t>▸  DSA &amp; CAS policy impact</a:t>
            </a:r>
          </a:p>
        </p:txBody>
      </p:sp>
      <p:sp>
        <p:nvSpPr>
          <p:cNvPr id="27" name="TextBox 26"/>
          <p:cNvSpPr txBox="1"/>
          <p:nvPr/>
        </p:nvSpPr>
        <p:spPr>
          <a:xfrm>
            <a:off x="548640" y="5559552"/>
            <a:ext cx="5029200" cy="320040"/>
          </a:xfrm>
          <a:prstGeom prst="rect">
            <a:avLst/>
          </a:prstGeom>
          <a:noFill/>
        </p:spPr>
        <p:txBody>
          <a:bodyPr wrap="square">
            <a:spAutoFit/>
          </a:bodyPr>
          <a:lstStyle/>
          <a:p>
            <a:pPr algn="l"/>
            <a:r>
              <a:rPr sz="950" b="0" i="0">
                <a:solidFill>
                  <a:srgbClr val="FFFFFF"/>
                </a:solidFill>
              </a:rPr>
              <a:t>▸  Program quadrant analysis</a:t>
            </a:r>
          </a:p>
        </p:txBody>
      </p:sp>
      <p:sp>
        <p:nvSpPr>
          <p:cNvPr id="28" name="TextBox 27"/>
          <p:cNvSpPr txBox="1"/>
          <p:nvPr/>
        </p:nvSpPr>
        <p:spPr>
          <a:xfrm>
            <a:off x="548640" y="5907024"/>
            <a:ext cx="5029200" cy="320040"/>
          </a:xfrm>
          <a:prstGeom prst="rect">
            <a:avLst/>
          </a:prstGeom>
          <a:noFill/>
        </p:spPr>
        <p:txBody>
          <a:bodyPr wrap="square">
            <a:spAutoFit/>
          </a:bodyPr>
          <a:lstStyle/>
          <a:p>
            <a:pPr algn="l"/>
            <a:r>
              <a:rPr sz="950" b="0" i="0">
                <a:solidFill>
                  <a:srgbClr val="FFFFFF"/>
                </a:solidFill>
              </a:rPr>
              <a:t>▸  Equity &amp; access metrics</a:t>
            </a:r>
          </a:p>
        </p:txBody>
      </p:sp>
      <p:sp>
        <p:nvSpPr>
          <p:cNvPr id="29" name="TextBox 28"/>
          <p:cNvSpPr txBox="1"/>
          <p:nvPr/>
        </p:nvSpPr>
        <p:spPr>
          <a:xfrm>
            <a:off x="6355080" y="4864608"/>
            <a:ext cx="5029200" cy="320040"/>
          </a:xfrm>
          <a:prstGeom prst="rect">
            <a:avLst/>
          </a:prstGeom>
          <a:noFill/>
        </p:spPr>
        <p:txBody>
          <a:bodyPr wrap="square">
            <a:spAutoFit/>
          </a:bodyPr>
          <a:lstStyle/>
          <a:p>
            <a:pPr algn="l"/>
            <a:r>
              <a:rPr sz="950" b="0" i="0">
                <a:solidFill>
                  <a:srgbClr val="FFFFFF"/>
                </a:solidFill>
              </a:rPr>
              <a:t>▸  Volume history &amp; Southeast peers</a:t>
            </a:r>
          </a:p>
        </p:txBody>
      </p:sp>
      <p:sp>
        <p:nvSpPr>
          <p:cNvPr id="30" name="TextBox 29"/>
          <p:cNvSpPr txBox="1"/>
          <p:nvPr/>
        </p:nvSpPr>
        <p:spPr>
          <a:xfrm>
            <a:off x="6355080" y="5212080"/>
            <a:ext cx="5029200" cy="320040"/>
          </a:xfrm>
          <a:prstGeom prst="rect">
            <a:avLst/>
          </a:prstGeom>
          <a:noFill/>
        </p:spPr>
        <p:txBody>
          <a:bodyPr wrap="square">
            <a:spAutoFit/>
          </a:bodyPr>
          <a:lstStyle/>
          <a:p>
            <a:pPr algn="l"/>
            <a:r>
              <a:rPr sz="950" b="0" i="0">
                <a:solidFill>
                  <a:srgbClr val="FFFFFF"/>
                </a:solidFill>
              </a:rPr>
              <a:t>▸  SRTR PSR Jul 2026 &amp; UNOS benchmarks</a:t>
            </a:r>
          </a:p>
        </p:txBody>
      </p:sp>
      <p:sp>
        <p:nvSpPr>
          <p:cNvPr id="31" name="TextBox 30"/>
          <p:cNvSpPr txBox="1"/>
          <p:nvPr/>
        </p:nvSpPr>
        <p:spPr>
          <a:xfrm>
            <a:off x="6355080" y="5559552"/>
            <a:ext cx="5029200" cy="320040"/>
          </a:xfrm>
          <a:prstGeom prst="rect">
            <a:avLst/>
          </a:prstGeom>
          <a:noFill/>
        </p:spPr>
        <p:txBody>
          <a:bodyPr wrap="square">
            <a:spAutoFit/>
          </a:bodyPr>
          <a:lstStyle/>
          <a:p>
            <a:pPr algn="l"/>
            <a:r>
              <a:rPr sz="950" b="0" i="0">
                <a:solidFill>
                  <a:srgbClr val="FFFFFF"/>
                </a:solidFill>
              </a:rPr>
              <a:t>▸  Rolling HR surveillance (Oct 4, 2026)</a:t>
            </a:r>
          </a:p>
        </p:txBody>
      </p:sp>
      <p:sp>
        <p:nvSpPr>
          <p:cNvPr id="32" name="TextBox 31"/>
          <p:cNvSpPr txBox="1"/>
          <p:nvPr/>
        </p:nvSpPr>
        <p:spPr>
          <a:xfrm>
            <a:off x="6355080" y="5907024"/>
            <a:ext cx="5029200" cy="320040"/>
          </a:xfrm>
          <a:prstGeom prst="rect">
            <a:avLst/>
          </a:prstGeom>
          <a:noFill/>
        </p:spPr>
        <p:txBody>
          <a:bodyPr wrap="square">
            <a:spAutoFit/>
          </a:bodyPr>
          <a:lstStyle/>
          <a:p>
            <a:pPr algn="l"/>
            <a:r>
              <a:rPr sz="950" b="0" i="0">
                <a:solidFill>
                  <a:srgbClr val="FFFFFF"/>
                </a:solidFill>
              </a:rPr>
              <a:t>▸  Offer acceptance, regression &amp; Monte Carlo</a:t>
            </a:r>
          </a:p>
        </p:txBody>
      </p:sp>
      <p:sp>
        <p:nvSpPr>
          <p:cNvPr id="33" name="TextBox 32"/>
          <p:cNvSpPr txBox="1"/>
          <p:nvPr/>
        </p:nvSpPr>
        <p:spPr>
          <a:xfrm>
            <a:off x="457200" y="6473952"/>
            <a:ext cx="11247120" cy="320040"/>
          </a:xfrm>
          <a:prstGeom prst="rect">
            <a:avLst/>
          </a:prstGeom>
          <a:noFill/>
        </p:spPr>
        <p:txBody>
          <a:bodyPr wrap="square">
            <a:spAutoFit/>
          </a:bodyPr>
          <a:lstStyle/>
          <a:p>
            <a:pPr algn="ctr"/>
            <a:r>
              <a:rPr sz="800" b="0" i="0">
                <a:solidFill>
                  <a:srgbClr val="7090B0"/>
                </a:solidFill>
              </a:rPr>
              <a:t>OPTN 2005–Sep 30, 2026 (as of Oct 25, 2026) · SRTR PSR July 7, 2026 · Rolling reports Oct 4, 2026 · Offer acceptance Jan–Aug 2026</a:t>
            </a:r>
          </a:p>
        </p:txBody>
      </p:sp>
    </p:spTree>
    <p:extLst>
      <p:ext uri="{BB962C8B-B14F-4D97-AF65-F5344CB8AC3E}">
        <p14:creationId xmlns:p14="http://schemas.microsoft.com/office/powerpoint/2010/main" val="2290802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CB48D7-383B-B74C-AC0D-E363558FDFF1}"/>
              </a:ext>
            </a:extLst>
          </p:cNvPr>
          <p:cNvSpPr/>
          <p:nvPr/>
        </p:nvSpPr>
        <p:spPr>
          <a:xfrm>
            <a:off x="0" y="6489700"/>
            <a:ext cx="12192000" cy="368300"/>
          </a:xfrm>
          <a:prstGeom prst="rect">
            <a:avLst/>
          </a:prstGeom>
          <a:solidFill>
            <a:srgbClr val="1E3A5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5911A908-2F19-014E-A787-8A23A63D5D4C}"/>
              </a:ext>
            </a:extLst>
          </p:cNvPr>
          <p:cNvSpPr/>
          <p:nvPr/>
        </p:nvSpPr>
        <p:spPr>
          <a:xfrm>
            <a:off x="0" y="0"/>
            <a:ext cx="12192000" cy="508000"/>
          </a:xfrm>
          <a:prstGeom prst="rect">
            <a:avLst/>
          </a:prstGeom>
          <a:solidFill>
            <a:srgbClr val="1E3A5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2" name="Picture 1">
            <a:extLst>
              <a:ext uri="{FF2B5EF4-FFF2-40B4-BE49-F238E27FC236}">
                <a16:creationId xmlns:a16="http://schemas.microsoft.com/office/drawing/2014/main" id="{8D8F9F97-3921-DA98-E0F5-D191B32E7266}"/>
              </a:ext>
            </a:extLst>
          </p:cNvPr>
          <p:cNvPicPr>
            <a:picLocks noChangeAspect="1"/>
          </p:cNvPicPr>
          <p:nvPr/>
        </p:nvPicPr>
        <p:blipFill>
          <a:blip r:embed="rId3"/>
          <a:stretch>
            <a:fillRect/>
          </a:stretch>
        </p:blipFill>
        <p:spPr>
          <a:xfrm>
            <a:off x="4509027" y="655377"/>
            <a:ext cx="6961484" cy="5778031"/>
          </a:xfrm>
          <a:prstGeom prst="rect">
            <a:avLst/>
          </a:prstGeom>
          <a:ln>
            <a:noFill/>
          </a:ln>
        </p:spPr>
      </p:pic>
      <p:sp>
        <p:nvSpPr>
          <p:cNvPr id="3" name="Title 2">
            <a:extLst>
              <a:ext uri="{FF2B5EF4-FFF2-40B4-BE49-F238E27FC236}">
                <a16:creationId xmlns:a16="http://schemas.microsoft.com/office/drawing/2014/main" id="{97D11437-C940-1438-7E28-11D7A9342413}"/>
              </a:ext>
            </a:extLst>
          </p:cNvPr>
          <p:cNvSpPr>
            <a:spLocks noGrp="1"/>
          </p:cNvSpPr>
          <p:nvPr>
            <p:ph type="title"/>
          </p:nvPr>
        </p:nvSpPr>
        <p:spPr>
          <a:xfrm>
            <a:off x="566737" y="-23149"/>
            <a:ext cx="3008313" cy="1162050"/>
          </a:xfrm>
        </p:spPr>
        <p:txBody>
          <a:bodyPr/>
          <a:lstStyle/>
          <a:p>
            <a:r>
              <a:rPr lang="en-US" dirty="0"/>
              <a:t>Web-scraped data </a:t>
            </a:r>
          </a:p>
        </p:txBody>
      </p:sp>
      <p:sp>
        <p:nvSpPr>
          <p:cNvPr id="4" name="Content Placeholder 3">
            <a:extLst>
              <a:ext uri="{FF2B5EF4-FFF2-40B4-BE49-F238E27FC236}">
                <a16:creationId xmlns:a16="http://schemas.microsoft.com/office/drawing/2014/main" id="{31B57477-2B3F-698F-CC0D-7AF793C2E7E1}"/>
              </a:ext>
            </a:extLst>
          </p:cNvPr>
          <p:cNvSpPr>
            <a:spLocks noGrp="1"/>
          </p:cNvSpPr>
          <p:nvPr>
            <p:ph idx="1"/>
          </p:nvPr>
        </p:nvSpPr>
        <p:spPr/>
        <p:txBody>
          <a:bodyPr/>
          <a:lstStyle/>
          <a:p>
            <a:endParaRPr lang="en-US"/>
          </a:p>
        </p:txBody>
      </p:sp>
      <p:sp>
        <p:nvSpPr>
          <p:cNvPr id="5" name="Text Placeholder 4">
            <a:extLst>
              <a:ext uri="{FF2B5EF4-FFF2-40B4-BE49-F238E27FC236}">
                <a16:creationId xmlns:a16="http://schemas.microsoft.com/office/drawing/2014/main" id="{002034A5-04BD-65C3-38CD-28187A93122E}"/>
              </a:ext>
            </a:extLst>
          </p:cNvPr>
          <p:cNvSpPr>
            <a:spLocks noGrp="1"/>
          </p:cNvSpPr>
          <p:nvPr>
            <p:ph type="body" sz="half" idx="2"/>
          </p:nvPr>
        </p:nvSpPr>
        <p:spPr>
          <a:xfrm>
            <a:off x="417372" y="1198862"/>
            <a:ext cx="3008313" cy="4691063"/>
          </a:xfrm>
        </p:spPr>
        <p:txBody>
          <a:bodyPr>
            <a:normAutofit fontScale="92500" lnSpcReduction="20000"/>
          </a:bodyPr>
          <a:lstStyle/>
          <a:p>
            <a:r>
              <a:rPr lang="en-US" b="1" dirty="0"/>
              <a:t>Personal project to apply text /data mining tools with AI help</a:t>
            </a:r>
          </a:p>
          <a:p>
            <a:endParaRPr lang="en-US" b="1" dirty="0"/>
          </a:p>
          <a:p>
            <a:r>
              <a:rPr lang="en-US" b="1" dirty="0"/>
              <a:t>OPTN-HRSA website:</a:t>
            </a:r>
          </a:p>
          <a:p>
            <a:r>
              <a:rPr lang="en-US" b="1" dirty="0"/>
              <a:t>Used AI-assisted coding to web-scrape lung transplant data for 54 US centers (active adult programs &gt; 3 years)</a:t>
            </a:r>
          </a:p>
          <a:p>
            <a:endParaRPr lang="en-US" b="1" dirty="0"/>
          </a:p>
          <a:p>
            <a:r>
              <a:rPr lang="en-US" b="1" dirty="0"/>
              <a:t>Period 2005 – Sep 30, 2026 (OPTN data as of Oct 25, 2026)</a:t>
            </a:r>
          </a:p>
          <a:p>
            <a:br>
              <a:rPr lang="en-US" b="1" dirty="0"/>
            </a:br>
            <a:r>
              <a:rPr lang="en-US" b="1" dirty="0"/>
              <a:t>Key Questions:</a:t>
            </a:r>
          </a:p>
          <a:p>
            <a:br>
              <a:rPr lang="en-US" b="1" dirty="0"/>
            </a:br>
            <a:r>
              <a:rPr lang="en-US" b="1" dirty="0"/>
              <a:t>How has the U.S. lung transplant system changed over the past 20 years?</a:t>
            </a:r>
            <a:r>
              <a:rPr lang="en-US" dirty="0"/>
              <a:t> </a:t>
            </a:r>
          </a:p>
          <a:p>
            <a:br>
              <a:rPr lang="en-US" b="1" dirty="0"/>
            </a:br>
            <a:r>
              <a:rPr lang="en-US" b="1" dirty="0"/>
              <a:t>How did major allocation policy reforms — DSA removal and CAS implementation — redistribute volume and access across centers?</a:t>
            </a:r>
            <a:r>
              <a:rPr lang="en-US" dirty="0"/>
              <a:t> </a:t>
            </a:r>
          </a:p>
          <a:p>
            <a:r>
              <a:rPr lang="en-US" b="1" dirty="0"/>
              <a:t>Where does ALUA stand now — nationally and against Southeast peers — and what are the major surveillance risks for 2026–2028? </a:t>
            </a:r>
          </a:p>
          <a:p>
            <a:endParaRPr lang="en-US" dirty="0"/>
          </a:p>
        </p:txBody>
      </p:sp>
    </p:spTree>
    <p:extLst>
      <p:ext uri="{BB962C8B-B14F-4D97-AF65-F5344CB8AC3E}">
        <p14:creationId xmlns:p14="http://schemas.microsoft.com/office/powerpoint/2010/main" val="2776880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E003-B476-D697-BFE9-B4655AA717D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C5D02FF-7590-D05E-36B7-9FCFC1517FE3}"/>
              </a:ext>
            </a:extLst>
          </p:cNvPr>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1986A5C-3E87-1DE1-9CC8-801B5817F171}"/>
              </a:ext>
            </a:extLst>
          </p:cNvPr>
          <p:cNvSpPr/>
          <p:nvPr/>
        </p:nvSpPr>
        <p:spPr>
          <a:xfrm>
            <a:off x="0" y="4315968"/>
            <a:ext cx="12188952" cy="2542032"/>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4BF46E8C-E04B-0366-5202-0B6556215F56}"/>
              </a:ext>
            </a:extLst>
          </p:cNvPr>
          <p:cNvSpPr/>
          <p:nvPr/>
        </p:nvSpPr>
        <p:spPr>
          <a:xfrm>
            <a:off x="0" y="4279392"/>
            <a:ext cx="12188952" cy="64008"/>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B0AD7A5-90FA-2B0A-2A86-9D131DE335BB}"/>
              </a:ext>
            </a:extLst>
          </p:cNvPr>
          <p:cNvSpPr txBox="1"/>
          <p:nvPr/>
        </p:nvSpPr>
        <p:spPr>
          <a:xfrm>
            <a:off x="457200" y="640080"/>
            <a:ext cx="11247120" cy="1005840"/>
          </a:xfrm>
          <a:prstGeom prst="rect">
            <a:avLst/>
          </a:prstGeom>
          <a:noFill/>
        </p:spPr>
        <p:txBody>
          <a:bodyPr wrap="square">
            <a:spAutoFit/>
          </a:bodyPr>
          <a:lstStyle/>
          <a:p>
            <a:pPr algn="ctr"/>
            <a:r>
              <a:rPr sz="4600" b="1" i="0">
                <a:solidFill>
                  <a:srgbClr val="FFFFFF"/>
                </a:solidFill>
              </a:rPr>
              <a:t>US Lung Transplant</a:t>
            </a:r>
          </a:p>
        </p:txBody>
      </p:sp>
      <p:sp>
        <p:nvSpPr>
          <p:cNvPr id="6" name="TextBox 5">
            <a:extLst>
              <a:ext uri="{FF2B5EF4-FFF2-40B4-BE49-F238E27FC236}">
                <a16:creationId xmlns:a16="http://schemas.microsoft.com/office/drawing/2014/main" id="{B92BBEFE-2DED-4E0E-7575-CD8878C17C3A}"/>
              </a:ext>
            </a:extLst>
          </p:cNvPr>
          <p:cNvSpPr txBox="1"/>
          <p:nvPr/>
        </p:nvSpPr>
        <p:spPr>
          <a:xfrm>
            <a:off x="457200" y="1435608"/>
            <a:ext cx="11247120" cy="685800"/>
          </a:xfrm>
          <a:prstGeom prst="rect">
            <a:avLst/>
          </a:prstGeom>
          <a:noFill/>
        </p:spPr>
        <p:txBody>
          <a:bodyPr wrap="square">
            <a:spAutoFit/>
          </a:bodyPr>
          <a:lstStyle/>
          <a:p>
            <a:pPr algn="ctr"/>
            <a:r>
              <a:rPr sz="2600" b="0" i="0">
                <a:solidFill>
                  <a:srgbClr val="E8F2FA"/>
                </a:solidFill>
              </a:rPr>
              <a:t>At a Glance · October 2026 Update</a:t>
            </a:r>
          </a:p>
        </p:txBody>
      </p:sp>
      <p:sp>
        <p:nvSpPr>
          <p:cNvPr id="7" name="TextBox 6">
            <a:extLst>
              <a:ext uri="{FF2B5EF4-FFF2-40B4-BE49-F238E27FC236}">
                <a16:creationId xmlns:a16="http://schemas.microsoft.com/office/drawing/2014/main" id="{EF0E2924-F6C0-1D65-DD36-1A3C4F339ADF}"/>
              </a:ext>
            </a:extLst>
          </p:cNvPr>
          <p:cNvSpPr txBox="1"/>
          <p:nvPr/>
        </p:nvSpPr>
        <p:spPr>
          <a:xfrm>
            <a:off x="457200" y="2176272"/>
            <a:ext cx="11247120" cy="438912"/>
          </a:xfrm>
          <a:prstGeom prst="rect">
            <a:avLst/>
          </a:prstGeom>
          <a:noFill/>
        </p:spPr>
        <p:txBody>
          <a:bodyPr wrap="square">
            <a:spAutoFit/>
          </a:bodyPr>
          <a:lstStyle/>
          <a:p>
            <a:pPr algn="ctr"/>
            <a:r>
              <a:rPr sz="1300" b="0" i="0">
                <a:solidFill>
                  <a:srgbClr val="9BC4E2"/>
                </a:solidFill>
              </a:rPr>
              <a:t>National Insights · ALUA Program Analysis · Policy Impact · Forecasts</a:t>
            </a:r>
          </a:p>
        </p:txBody>
      </p:sp>
      <p:sp>
        <p:nvSpPr>
          <p:cNvPr id="8" name="Rectangle 7">
            <a:extLst>
              <a:ext uri="{FF2B5EF4-FFF2-40B4-BE49-F238E27FC236}">
                <a16:creationId xmlns:a16="http://schemas.microsoft.com/office/drawing/2014/main" id="{E9478873-F25F-0EA1-8A98-05AC1E2E5F95}"/>
              </a:ext>
            </a:extLst>
          </p:cNvPr>
          <p:cNvSpPr/>
          <p:nvPr/>
        </p:nvSpPr>
        <p:spPr>
          <a:xfrm>
            <a:off x="320040" y="2834640"/>
            <a:ext cx="21031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54598D3-75E8-41A6-341E-B97544245990}"/>
              </a:ext>
            </a:extLst>
          </p:cNvPr>
          <p:cNvSpPr txBox="1"/>
          <p:nvPr/>
        </p:nvSpPr>
        <p:spPr>
          <a:xfrm>
            <a:off x="320040" y="2898648"/>
            <a:ext cx="2103120" cy="553212"/>
          </a:xfrm>
          <a:prstGeom prst="rect">
            <a:avLst/>
          </a:prstGeom>
          <a:noFill/>
        </p:spPr>
        <p:txBody>
          <a:bodyPr wrap="square">
            <a:spAutoFit/>
          </a:bodyPr>
          <a:lstStyle/>
          <a:p>
            <a:pPr algn="ctr"/>
            <a:r>
              <a:rPr sz="2100" b="1" i="0">
                <a:solidFill>
                  <a:srgbClr val="FFFFFF"/>
                </a:solidFill>
              </a:rPr>
              <a:t>3,083</a:t>
            </a:r>
          </a:p>
        </p:txBody>
      </p:sp>
      <p:sp>
        <p:nvSpPr>
          <p:cNvPr id="10" name="TextBox 9">
            <a:extLst>
              <a:ext uri="{FF2B5EF4-FFF2-40B4-BE49-F238E27FC236}">
                <a16:creationId xmlns:a16="http://schemas.microsoft.com/office/drawing/2014/main" id="{A9119664-DECD-0CA7-EAFC-B1B9AAB42195}"/>
              </a:ext>
            </a:extLst>
          </p:cNvPr>
          <p:cNvSpPr txBox="1"/>
          <p:nvPr/>
        </p:nvSpPr>
        <p:spPr>
          <a:xfrm>
            <a:off x="320040" y="3273552"/>
            <a:ext cx="2103120" cy="422452"/>
          </a:xfrm>
          <a:prstGeom prst="rect">
            <a:avLst/>
          </a:prstGeom>
          <a:noFill/>
        </p:spPr>
        <p:txBody>
          <a:bodyPr wrap="square">
            <a:spAutoFit/>
          </a:bodyPr>
          <a:lstStyle/>
          <a:p>
            <a:pPr algn="ctr"/>
            <a:r>
              <a:rPr sz="850" b="0" i="0">
                <a:solidFill>
                  <a:srgbClr val="C8DEF5"/>
                </a:solidFill>
              </a:rPr>
              <a:t>2025 National Volume</a:t>
            </a:r>
          </a:p>
        </p:txBody>
      </p:sp>
      <p:sp>
        <p:nvSpPr>
          <p:cNvPr id="11" name="Rectangle 10">
            <a:extLst>
              <a:ext uri="{FF2B5EF4-FFF2-40B4-BE49-F238E27FC236}">
                <a16:creationId xmlns:a16="http://schemas.microsoft.com/office/drawing/2014/main" id="{E86FE150-E2DD-D24F-EA6A-BD2CF425288F}"/>
              </a:ext>
            </a:extLst>
          </p:cNvPr>
          <p:cNvSpPr/>
          <p:nvPr/>
        </p:nvSpPr>
        <p:spPr>
          <a:xfrm>
            <a:off x="2578608" y="2834640"/>
            <a:ext cx="21031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17BC86B-31FA-04D2-415B-AA4064B4E5C0}"/>
              </a:ext>
            </a:extLst>
          </p:cNvPr>
          <p:cNvSpPr txBox="1"/>
          <p:nvPr/>
        </p:nvSpPr>
        <p:spPr>
          <a:xfrm>
            <a:off x="2578608" y="2898648"/>
            <a:ext cx="2103120" cy="553212"/>
          </a:xfrm>
          <a:prstGeom prst="rect">
            <a:avLst/>
          </a:prstGeom>
          <a:noFill/>
        </p:spPr>
        <p:txBody>
          <a:bodyPr wrap="square">
            <a:spAutoFit/>
          </a:bodyPr>
          <a:lstStyle/>
          <a:p>
            <a:pPr algn="ctr"/>
            <a:r>
              <a:rPr sz="2100" b="1" i="0">
                <a:solidFill>
                  <a:srgbClr val="FFFFFF"/>
                </a:solidFill>
              </a:rPr>
              <a:t>2,397</a:t>
            </a:r>
          </a:p>
        </p:txBody>
      </p:sp>
      <p:sp>
        <p:nvSpPr>
          <p:cNvPr id="13" name="TextBox 12">
            <a:extLst>
              <a:ext uri="{FF2B5EF4-FFF2-40B4-BE49-F238E27FC236}">
                <a16:creationId xmlns:a16="http://schemas.microsoft.com/office/drawing/2014/main" id="{60BEB466-5FC5-B0F8-965D-AC57651CFD7C}"/>
              </a:ext>
            </a:extLst>
          </p:cNvPr>
          <p:cNvSpPr txBox="1"/>
          <p:nvPr/>
        </p:nvSpPr>
        <p:spPr>
          <a:xfrm>
            <a:off x="2578608" y="3273552"/>
            <a:ext cx="2103120" cy="422452"/>
          </a:xfrm>
          <a:prstGeom prst="rect">
            <a:avLst/>
          </a:prstGeom>
          <a:noFill/>
        </p:spPr>
        <p:txBody>
          <a:bodyPr wrap="square">
            <a:spAutoFit/>
          </a:bodyPr>
          <a:lstStyle/>
          <a:p>
            <a:pPr algn="ctr"/>
            <a:r>
              <a:rPr sz="850" b="0" i="0">
                <a:solidFill>
                  <a:srgbClr val="C8DEF5"/>
                </a:solidFill>
              </a:rPr>
              <a:t>2026 Jan–Sep (US)</a:t>
            </a:r>
          </a:p>
        </p:txBody>
      </p:sp>
      <p:sp>
        <p:nvSpPr>
          <p:cNvPr id="14" name="Rectangle 13">
            <a:extLst>
              <a:ext uri="{FF2B5EF4-FFF2-40B4-BE49-F238E27FC236}">
                <a16:creationId xmlns:a16="http://schemas.microsoft.com/office/drawing/2014/main" id="{27DDADAA-4201-7B7C-C930-93ADD38AD846}"/>
              </a:ext>
            </a:extLst>
          </p:cNvPr>
          <p:cNvSpPr/>
          <p:nvPr/>
        </p:nvSpPr>
        <p:spPr>
          <a:xfrm>
            <a:off x="4828032" y="2834640"/>
            <a:ext cx="21031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39F577CF-4FEC-4F65-0F14-F9A0B5BE026E}"/>
              </a:ext>
            </a:extLst>
          </p:cNvPr>
          <p:cNvSpPr txBox="1"/>
          <p:nvPr/>
        </p:nvSpPr>
        <p:spPr>
          <a:xfrm>
            <a:off x="4828032" y="2898648"/>
            <a:ext cx="2103120" cy="553212"/>
          </a:xfrm>
          <a:prstGeom prst="rect">
            <a:avLst/>
          </a:prstGeom>
          <a:noFill/>
        </p:spPr>
        <p:txBody>
          <a:bodyPr wrap="square">
            <a:spAutoFit/>
          </a:bodyPr>
          <a:lstStyle/>
          <a:p>
            <a:pPr algn="ctr"/>
            <a:r>
              <a:rPr sz="2100" b="1" i="0">
                <a:solidFill>
                  <a:srgbClr val="FFFFFF"/>
                </a:solidFill>
              </a:rPr>
              <a:t>31</a:t>
            </a:r>
          </a:p>
        </p:txBody>
      </p:sp>
      <p:sp>
        <p:nvSpPr>
          <p:cNvPr id="16" name="TextBox 15">
            <a:extLst>
              <a:ext uri="{FF2B5EF4-FFF2-40B4-BE49-F238E27FC236}">
                <a16:creationId xmlns:a16="http://schemas.microsoft.com/office/drawing/2014/main" id="{5BFF1872-FCEC-E1F2-08C6-A1887798B06E}"/>
              </a:ext>
            </a:extLst>
          </p:cNvPr>
          <p:cNvSpPr txBox="1"/>
          <p:nvPr/>
        </p:nvSpPr>
        <p:spPr>
          <a:xfrm>
            <a:off x="4828032" y="3273552"/>
            <a:ext cx="2103120" cy="422452"/>
          </a:xfrm>
          <a:prstGeom prst="rect">
            <a:avLst/>
          </a:prstGeom>
          <a:noFill/>
        </p:spPr>
        <p:txBody>
          <a:bodyPr wrap="square">
            <a:spAutoFit/>
          </a:bodyPr>
          <a:lstStyle/>
          <a:p>
            <a:pPr algn="ctr"/>
            <a:r>
              <a:rPr sz="850" b="0" i="0">
                <a:solidFill>
                  <a:srgbClr val="C8DEF5"/>
                </a:solidFill>
              </a:rPr>
              <a:t>ALUA 2025 Volume</a:t>
            </a:r>
          </a:p>
        </p:txBody>
      </p:sp>
      <p:sp>
        <p:nvSpPr>
          <p:cNvPr id="17" name="Rectangle 16">
            <a:extLst>
              <a:ext uri="{FF2B5EF4-FFF2-40B4-BE49-F238E27FC236}">
                <a16:creationId xmlns:a16="http://schemas.microsoft.com/office/drawing/2014/main" id="{D6CFBA4C-5C19-1D51-0ED8-3A777D9F8F7C}"/>
              </a:ext>
            </a:extLst>
          </p:cNvPr>
          <p:cNvSpPr/>
          <p:nvPr/>
        </p:nvSpPr>
        <p:spPr>
          <a:xfrm>
            <a:off x="7086600" y="2834640"/>
            <a:ext cx="21031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28B13628-B73F-C2BF-23FE-AE3DB9A0AA51}"/>
              </a:ext>
            </a:extLst>
          </p:cNvPr>
          <p:cNvSpPr txBox="1"/>
          <p:nvPr/>
        </p:nvSpPr>
        <p:spPr>
          <a:xfrm>
            <a:off x="7086600" y="2898648"/>
            <a:ext cx="2103120" cy="553212"/>
          </a:xfrm>
          <a:prstGeom prst="rect">
            <a:avLst/>
          </a:prstGeom>
          <a:noFill/>
        </p:spPr>
        <p:txBody>
          <a:bodyPr wrap="square">
            <a:spAutoFit/>
          </a:bodyPr>
          <a:lstStyle/>
          <a:p>
            <a:pPr algn="ctr"/>
            <a:r>
              <a:rPr sz="2100" b="1" i="0">
                <a:solidFill>
                  <a:srgbClr val="FFFFFF"/>
                </a:solidFill>
              </a:rPr>
              <a:t>23</a:t>
            </a:r>
          </a:p>
        </p:txBody>
      </p:sp>
      <p:sp>
        <p:nvSpPr>
          <p:cNvPr id="19" name="TextBox 18">
            <a:extLst>
              <a:ext uri="{FF2B5EF4-FFF2-40B4-BE49-F238E27FC236}">
                <a16:creationId xmlns:a16="http://schemas.microsoft.com/office/drawing/2014/main" id="{150A7A3F-B6A8-873A-3F11-9EE8AB30C8BC}"/>
              </a:ext>
            </a:extLst>
          </p:cNvPr>
          <p:cNvSpPr txBox="1"/>
          <p:nvPr/>
        </p:nvSpPr>
        <p:spPr>
          <a:xfrm>
            <a:off x="7086600" y="3273552"/>
            <a:ext cx="2103120" cy="422452"/>
          </a:xfrm>
          <a:prstGeom prst="rect">
            <a:avLst/>
          </a:prstGeom>
          <a:noFill/>
        </p:spPr>
        <p:txBody>
          <a:bodyPr wrap="square">
            <a:spAutoFit/>
          </a:bodyPr>
          <a:lstStyle/>
          <a:p>
            <a:pPr algn="ctr"/>
            <a:r>
              <a:rPr sz="850" b="0" i="0">
                <a:solidFill>
                  <a:srgbClr val="C8DEF5"/>
                </a:solidFill>
              </a:rPr>
              <a:t>ALUA 2026 Jan–Sep</a:t>
            </a:r>
          </a:p>
        </p:txBody>
      </p:sp>
      <p:sp>
        <p:nvSpPr>
          <p:cNvPr id="20" name="Rectangle 19">
            <a:extLst>
              <a:ext uri="{FF2B5EF4-FFF2-40B4-BE49-F238E27FC236}">
                <a16:creationId xmlns:a16="http://schemas.microsoft.com/office/drawing/2014/main" id="{FD6339B6-D33C-A4AA-C061-3C9AA4FA3FDE}"/>
              </a:ext>
            </a:extLst>
          </p:cNvPr>
          <p:cNvSpPr/>
          <p:nvPr/>
        </p:nvSpPr>
        <p:spPr>
          <a:xfrm>
            <a:off x="9326880" y="2834640"/>
            <a:ext cx="25603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A396DF2F-D67D-DD6D-7909-94C50EDA2B1C}"/>
              </a:ext>
            </a:extLst>
          </p:cNvPr>
          <p:cNvSpPr txBox="1"/>
          <p:nvPr/>
        </p:nvSpPr>
        <p:spPr>
          <a:xfrm>
            <a:off x="9326880" y="2898648"/>
            <a:ext cx="2560320" cy="553212"/>
          </a:xfrm>
          <a:prstGeom prst="rect">
            <a:avLst/>
          </a:prstGeom>
          <a:noFill/>
        </p:spPr>
        <p:txBody>
          <a:bodyPr wrap="square">
            <a:spAutoFit/>
          </a:bodyPr>
          <a:lstStyle/>
          <a:p>
            <a:pPr algn="ctr"/>
            <a:r>
              <a:rPr sz="2100" b="1" i="0">
                <a:solidFill>
                  <a:srgbClr val="FFFFFF"/>
                </a:solidFill>
              </a:rPr>
              <a:t>90.5%</a:t>
            </a:r>
          </a:p>
        </p:txBody>
      </p:sp>
      <p:sp>
        <p:nvSpPr>
          <p:cNvPr id="22" name="TextBox 21">
            <a:extLst>
              <a:ext uri="{FF2B5EF4-FFF2-40B4-BE49-F238E27FC236}">
                <a16:creationId xmlns:a16="http://schemas.microsoft.com/office/drawing/2014/main" id="{02070199-6E60-920A-CE7B-F58307ADF0FC}"/>
              </a:ext>
            </a:extLst>
          </p:cNvPr>
          <p:cNvSpPr txBox="1"/>
          <p:nvPr/>
        </p:nvSpPr>
        <p:spPr>
          <a:xfrm>
            <a:off x="9326880" y="3273552"/>
            <a:ext cx="2560320" cy="422452"/>
          </a:xfrm>
          <a:prstGeom prst="rect">
            <a:avLst/>
          </a:prstGeom>
          <a:noFill/>
        </p:spPr>
        <p:txBody>
          <a:bodyPr wrap="square">
            <a:spAutoFit/>
          </a:bodyPr>
          <a:lstStyle/>
          <a:p>
            <a:pPr algn="ctr"/>
            <a:r>
              <a:rPr sz="850" b="0" i="0">
                <a:solidFill>
                  <a:srgbClr val="C8DEF5"/>
                </a:solidFill>
              </a:rPr>
              <a:t>ALUA 1-yr Survival (PSR Jul '26)</a:t>
            </a:r>
          </a:p>
        </p:txBody>
      </p:sp>
      <p:sp>
        <p:nvSpPr>
          <p:cNvPr id="33" name="TextBox 32">
            <a:extLst>
              <a:ext uri="{FF2B5EF4-FFF2-40B4-BE49-F238E27FC236}">
                <a16:creationId xmlns:a16="http://schemas.microsoft.com/office/drawing/2014/main" id="{A0F34B0B-43E2-31C8-B1D3-8F986A373FEA}"/>
              </a:ext>
            </a:extLst>
          </p:cNvPr>
          <p:cNvSpPr txBox="1"/>
          <p:nvPr/>
        </p:nvSpPr>
        <p:spPr>
          <a:xfrm>
            <a:off x="457200" y="6473952"/>
            <a:ext cx="11247120" cy="320040"/>
          </a:xfrm>
          <a:prstGeom prst="rect">
            <a:avLst/>
          </a:prstGeom>
          <a:noFill/>
        </p:spPr>
        <p:txBody>
          <a:bodyPr wrap="square">
            <a:spAutoFit/>
          </a:bodyPr>
          <a:lstStyle/>
          <a:p>
            <a:pPr algn="ctr"/>
            <a:r>
              <a:rPr sz="800" b="0" i="0">
                <a:solidFill>
                  <a:srgbClr val="7090B0"/>
                </a:solidFill>
              </a:rPr>
              <a:t>OPTN 2005–Sep 30, 2026 (as of Oct 25, 2026) · SRTR PSR July 7, 2026 · Rolling reports Oct 4, 2026 · Offer acceptance Jan–Aug 2026</a:t>
            </a:r>
          </a:p>
        </p:txBody>
      </p:sp>
    </p:spTree>
    <p:extLst>
      <p:ext uri="{BB962C8B-B14F-4D97-AF65-F5344CB8AC3E}">
        <p14:creationId xmlns:p14="http://schemas.microsoft.com/office/powerpoint/2010/main" val="82975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Part 1 — National Market</a:t>
            </a:r>
          </a:p>
        </p:txBody>
      </p:sp>
      <p:sp>
        <p:nvSpPr>
          <p:cNvPr id="4" name="TextBox 3"/>
          <p:cNvSpPr txBox="1"/>
          <p:nvPr/>
        </p:nvSpPr>
        <p:spPr>
          <a:xfrm>
            <a:off x="228600" y="289342"/>
            <a:ext cx="11430000" cy="274320"/>
          </a:xfrm>
          <a:prstGeom prst="rect">
            <a:avLst/>
          </a:prstGeom>
          <a:noFill/>
        </p:spPr>
        <p:txBody>
          <a:bodyPr wrap="square">
            <a:spAutoFit/>
          </a:bodyPr>
          <a:lstStyle/>
          <a:p>
            <a:pPr algn="l"/>
            <a:r>
              <a:rPr sz="950" b="0" i="0" dirty="0">
                <a:solidFill>
                  <a:srgbClr val="C8DEF5"/>
                </a:solidFill>
              </a:rPr>
              <a:t>US Lung Transplant Volume 2005–2026 (Jan–Sep) with Policy Inflection Points</a:t>
            </a:r>
          </a:p>
        </p:txBody>
      </p:sp>
      <p:pic>
        <p:nvPicPr>
          <p:cNvPr id="5" name="Picture 4" descr="nat_volume.png"/>
          <p:cNvPicPr>
            <a:picLocks noChangeAspect="1"/>
          </p:cNvPicPr>
          <p:nvPr/>
        </p:nvPicPr>
        <p:blipFill>
          <a:blip r:embed="rId3"/>
          <a:stretch>
            <a:fillRect/>
          </a:stretch>
        </p:blipFill>
        <p:spPr>
          <a:xfrm>
            <a:off x="182880" y="1106424"/>
            <a:ext cx="8229600" cy="4114800"/>
          </a:xfrm>
          <a:prstGeom prst="rect">
            <a:avLst/>
          </a:prstGeom>
        </p:spPr>
      </p:pic>
      <p:sp>
        <p:nvSpPr>
          <p:cNvPr id="6" name="Rectangle 5"/>
          <p:cNvSpPr/>
          <p:nvPr/>
        </p:nvSpPr>
        <p:spPr>
          <a:xfrm>
            <a:off x="8549640" y="507641"/>
            <a:ext cx="3383280" cy="1923880"/>
          </a:xfrm>
          <a:prstGeom prst="rect">
            <a:avLst/>
          </a:prstGeom>
          <a:solidFill>
            <a:srgbClr val="E8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32520" y="658368"/>
            <a:ext cx="3154680" cy="347472"/>
          </a:xfrm>
          <a:prstGeom prst="rect">
            <a:avLst/>
          </a:prstGeom>
          <a:noFill/>
        </p:spPr>
        <p:txBody>
          <a:bodyPr wrap="square">
            <a:spAutoFit/>
          </a:bodyPr>
          <a:lstStyle/>
          <a:p>
            <a:pPr algn="l"/>
            <a:r>
              <a:rPr sz="1100" b="1" i="0">
                <a:solidFill>
                  <a:srgbClr val="1E3A5F"/>
                </a:solidFill>
              </a:rPr>
              <a:t>Era Averages</a:t>
            </a:r>
          </a:p>
        </p:txBody>
      </p:sp>
      <p:sp>
        <p:nvSpPr>
          <p:cNvPr id="8" name="TextBox 7"/>
          <p:cNvSpPr txBox="1"/>
          <p:nvPr/>
        </p:nvSpPr>
        <p:spPr>
          <a:xfrm>
            <a:off x="8732520" y="978408"/>
            <a:ext cx="3200400" cy="256032"/>
          </a:xfrm>
          <a:prstGeom prst="rect">
            <a:avLst/>
          </a:prstGeom>
          <a:noFill/>
        </p:spPr>
        <p:txBody>
          <a:bodyPr wrap="square">
            <a:spAutoFit/>
          </a:bodyPr>
          <a:lstStyle/>
          <a:p>
            <a:pPr algn="l"/>
            <a:r>
              <a:rPr sz="950" b="0" i="0">
                <a:solidFill>
                  <a:srgbClr val="1E3A5F"/>
                </a:solidFill>
              </a:rPr>
              <a:t>Pre-DSA (2015–17):   2,006/yr</a:t>
            </a:r>
          </a:p>
        </p:txBody>
      </p:sp>
      <p:sp>
        <p:nvSpPr>
          <p:cNvPr id="9" name="TextBox 8"/>
          <p:cNvSpPr txBox="1"/>
          <p:nvPr/>
        </p:nvSpPr>
        <p:spPr>
          <a:xfrm>
            <a:off x="8732520" y="1188720"/>
            <a:ext cx="3200400" cy="238527"/>
          </a:xfrm>
          <a:prstGeom prst="rect">
            <a:avLst/>
          </a:prstGeom>
          <a:noFill/>
        </p:spPr>
        <p:txBody>
          <a:bodyPr wrap="square">
            <a:spAutoFit/>
          </a:bodyPr>
          <a:lstStyle/>
          <a:p>
            <a:pPr algn="l"/>
            <a:r>
              <a:rPr sz="950" b="0" i="0" dirty="0">
                <a:solidFill>
                  <a:srgbClr val="C47A00"/>
                </a:solidFill>
              </a:rPr>
              <a:t>250 NM Era (2018–22): 2,332/yr (+16%)</a:t>
            </a:r>
          </a:p>
        </p:txBody>
      </p:sp>
      <p:sp>
        <p:nvSpPr>
          <p:cNvPr id="10" name="TextBox 9"/>
          <p:cNvSpPr txBox="1"/>
          <p:nvPr/>
        </p:nvSpPr>
        <p:spPr>
          <a:xfrm>
            <a:off x="8732520" y="1399032"/>
            <a:ext cx="3200400" cy="256032"/>
          </a:xfrm>
          <a:prstGeom prst="rect">
            <a:avLst/>
          </a:prstGeom>
          <a:noFill/>
        </p:spPr>
        <p:txBody>
          <a:bodyPr wrap="square">
            <a:spAutoFit/>
          </a:bodyPr>
          <a:lstStyle/>
          <a:p>
            <a:pPr algn="l"/>
            <a:r>
              <a:rPr sz="950" b="0" i="0" dirty="0">
                <a:solidFill>
                  <a:srgbClr val="1A7A4A"/>
                </a:solidFill>
              </a:rPr>
              <a:t>CAS Era (2023–25):   2,888/yr (+24%)</a:t>
            </a:r>
          </a:p>
        </p:txBody>
      </p:sp>
      <p:sp>
        <p:nvSpPr>
          <p:cNvPr id="11" name="TextBox 10"/>
          <p:cNvSpPr txBox="1"/>
          <p:nvPr/>
        </p:nvSpPr>
        <p:spPr>
          <a:xfrm>
            <a:off x="8531352" y="3429000"/>
            <a:ext cx="3401568" cy="1723549"/>
          </a:xfrm>
          <a:prstGeom prst="rect">
            <a:avLst/>
          </a:prstGeom>
          <a:noFill/>
        </p:spPr>
        <p:txBody>
          <a:bodyPr wrap="square">
            <a:spAutoFit/>
          </a:bodyPr>
          <a:lstStyle/>
          <a:p>
            <a:pPr algn="l">
              <a:spcBef>
                <a:spcPts val="300"/>
              </a:spcBef>
            </a:pPr>
            <a:r>
              <a:rPr sz="1200" b="1" dirty="0">
                <a:solidFill>
                  <a:srgbClr val="2D3A4A"/>
                </a:solidFill>
              </a:rPr>
              <a:t>▸  158% growth: 1,196 → 3,083 transplants over 20 years</a:t>
            </a:r>
          </a:p>
          <a:p>
            <a:pPr algn="l">
              <a:spcBef>
                <a:spcPts val="300"/>
              </a:spcBef>
            </a:pPr>
            <a:r>
              <a:rPr sz="1200" b="0" dirty="0">
                <a:solidFill>
                  <a:srgbClr val="2D3A4A"/>
                </a:solidFill>
              </a:rPr>
              <a:t>▸  2023: largest single-year jump (+10.9%) — CAS effect</a:t>
            </a:r>
          </a:p>
          <a:p>
            <a:pPr algn="l">
              <a:spcBef>
                <a:spcPts val="300"/>
              </a:spcBef>
            </a:pPr>
            <a:r>
              <a:rPr sz="1200" b="0" dirty="0">
                <a:solidFill>
                  <a:srgbClr val="2D3A4A"/>
                </a:solidFill>
              </a:rPr>
              <a:t>▸  COVID 2020 dip (−6.5%) recovered fully by 2022</a:t>
            </a:r>
          </a:p>
          <a:p>
            <a:pPr algn="l">
              <a:spcBef>
                <a:spcPts val="300"/>
              </a:spcBef>
            </a:pPr>
            <a:r>
              <a:rPr sz="1200" b="0" dirty="0">
                <a:solidFill>
                  <a:srgbClr val="2D3A4A"/>
                </a:solidFill>
              </a:rPr>
              <a:t>▸  Post-CAS slope: +216/yr vs long-run +89/yr</a:t>
            </a:r>
          </a:p>
          <a:p>
            <a:pPr algn="l">
              <a:spcBef>
                <a:spcPts val="300"/>
              </a:spcBef>
            </a:pPr>
            <a:r>
              <a:rPr sz="1200" b="0" dirty="0">
                <a:solidFill>
                  <a:srgbClr val="2D3A4A"/>
                </a:solidFill>
              </a:rPr>
              <a:t>▸  2026 Jan–Sep: 2,397 → ~3,196/yr pace (+4% vs 2025) — growth slowing after post-CAS surge</a:t>
            </a:r>
          </a:p>
        </p:txBody>
      </p:sp>
      <p:sp>
        <p:nvSpPr>
          <p:cNvPr id="12" name="Rectangle 11"/>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National Volume Trend</a:t>
            </a:r>
          </a:p>
        </p:txBody>
      </p:sp>
      <p:sp>
        <p:nvSpPr>
          <p:cNvPr id="14" name="TextBox 13"/>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4</a:t>
            </a:r>
          </a:p>
        </p:txBody>
      </p:sp>
    </p:spTree>
    <p:extLst>
      <p:ext uri="{BB962C8B-B14F-4D97-AF65-F5344CB8AC3E}">
        <p14:creationId xmlns:p14="http://schemas.microsoft.com/office/powerpoint/2010/main" val="220566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93"/>
            <a:ext cx="12188520" cy="566780"/>
          </a:xfrm>
          <a:prstGeom prst="rect">
            <a:avLst/>
          </a:prstGeom>
          <a:solidFill>
            <a:srgbClr val="153B5C"/>
          </a:solidFill>
          <a:ln w="12700">
            <a:solidFill>
              <a:srgbClr val="153B5C"/>
            </a:solidFill>
            <a:prstDash val="solid"/>
          </a:ln>
        </p:spPr>
        <p:txBody>
          <a:bodyPr/>
          <a:lstStyle/>
          <a:p>
            <a:endParaRPr lang="en-US" sz="1799"/>
          </a:p>
        </p:txBody>
      </p:sp>
      <p:sp>
        <p:nvSpPr>
          <p:cNvPr id="3" name="Text 1"/>
          <p:cNvSpPr/>
          <p:nvPr/>
        </p:nvSpPr>
        <p:spPr>
          <a:xfrm>
            <a:off x="319956" y="119734"/>
            <a:ext cx="8867370" cy="329098"/>
          </a:xfrm>
          <a:prstGeom prst="rect">
            <a:avLst/>
          </a:prstGeom>
          <a:noFill/>
          <a:ln/>
        </p:spPr>
        <p:txBody>
          <a:bodyPr wrap="square" lIns="0" tIns="0" rIns="0" bIns="0" rtlCol="0" anchor="ctr">
            <a:normAutofit/>
          </a:bodyPr>
          <a:lstStyle/>
          <a:p>
            <a:r>
              <a:rPr lang="en-US" sz="2099" b="1" dirty="0">
                <a:solidFill>
                  <a:srgbClr val="FFFFFF"/>
                </a:solidFill>
                <a:latin typeface="Aptos Display" pitchFamily="34" charset="0"/>
                <a:ea typeface="Aptos Display" pitchFamily="34" charset="-122"/>
                <a:cs typeface="Aptos Display" pitchFamily="34" charset="-120"/>
              </a:rPr>
              <a:t>Competitive landscape: concentration is moderate, but leaders matter</a:t>
            </a:r>
            <a:endParaRPr lang="en-US" sz="2099" dirty="0"/>
          </a:p>
        </p:txBody>
      </p:sp>
      <p:sp>
        <p:nvSpPr>
          <p:cNvPr id="4" name="Text 2"/>
          <p:cNvSpPr/>
          <p:nvPr/>
        </p:nvSpPr>
        <p:spPr>
          <a:xfrm>
            <a:off x="9690115" y="165442"/>
            <a:ext cx="1874032" cy="228540"/>
          </a:xfrm>
          <a:prstGeom prst="rect">
            <a:avLst/>
          </a:prstGeom>
          <a:noFill/>
          <a:ln/>
        </p:spPr>
        <p:txBody>
          <a:bodyPr wrap="square" lIns="0" tIns="0" rIns="0" bIns="0" rtlCol="0" anchor="ctr"/>
          <a:lstStyle/>
          <a:p>
            <a:pPr algn="r"/>
            <a:r>
              <a:rPr lang="en-US" sz="950" dirty="0">
                <a:solidFill>
                  <a:srgbClr val="CFE3F5"/>
                </a:solidFill>
              </a:rPr>
              <a:t>National market</a:t>
            </a:r>
            <a:endParaRPr lang="en-US" sz="950" dirty="0"/>
          </a:p>
        </p:txBody>
      </p:sp>
      <p:sp>
        <p:nvSpPr>
          <p:cNvPr id="5" name="Shape 3"/>
          <p:cNvSpPr/>
          <p:nvPr/>
        </p:nvSpPr>
        <p:spPr>
          <a:xfrm>
            <a:off x="0" y="6564575"/>
            <a:ext cx="12188520" cy="292532"/>
          </a:xfrm>
          <a:prstGeom prst="rect">
            <a:avLst/>
          </a:prstGeom>
          <a:solidFill>
            <a:srgbClr val="153B5C"/>
          </a:solidFill>
          <a:ln w="12700">
            <a:solidFill>
              <a:srgbClr val="153B5C"/>
            </a:solidFill>
            <a:prstDash val="solid"/>
          </a:ln>
        </p:spPr>
        <p:txBody>
          <a:bodyPr/>
          <a:lstStyle/>
          <a:p>
            <a:endParaRPr lang="en-US" sz="1799"/>
          </a:p>
        </p:txBody>
      </p:sp>
      <p:sp>
        <p:nvSpPr>
          <p:cNvPr id="6" name="Text 4"/>
          <p:cNvSpPr/>
          <p:nvPr/>
        </p:nvSpPr>
        <p:spPr>
          <a:xfrm>
            <a:off x="319956" y="6646850"/>
            <a:ext cx="3656648" cy="137124"/>
          </a:xfrm>
          <a:prstGeom prst="rect">
            <a:avLst/>
          </a:prstGeom>
          <a:noFill/>
          <a:ln/>
        </p:spPr>
        <p:txBody>
          <a:bodyPr wrap="square" lIns="0" tIns="0" rIns="0" bIns="0" rtlCol="0" anchor="ctr"/>
          <a:lstStyle/>
          <a:p>
            <a:r>
              <a:rPr lang="en-US" sz="680" dirty="0">
                <a:solidFill>
                  <a:srgbClr val="CFE3F5"/>
                </a:solidFill>
              </a:rPr>
              <a:t>US Lung Transplant Analytics | ALUA Program Assessment</a:t>
            </a:r>
            <a:endParaRPr lang="en-US" sz="680" dirty="0"/>
          </a:p>
        </p:txBody>
      </p:sp>
      <p:sp>
        <p:nvSpPr>
          <p:cNvPr id="7" name="Text 5"/>
          <p:cNvSpPr/>
          <p:nvPr/>
        </p:nvSpPr>
        <p:spPr>
          <a:xfrm>
            <a:off x="4250852" y="6646850"/>
            <a:ext cx="7039046" cy="137124"/>
          </a:xfrm>
          <a:prstGeom prst="rect">
            <a:avLst/>
          </a:prstGeom>
          <a:noFill/>
          <a:ln/>
        </p:spPr>
        <p:txBody>
          <a:bodyPr wrap="square" lIns="0" tIns="0" rIns="0" bIns="0" rtlCol="0" anchor="ctr"/>
          <a:lstStyle/>
          <a:p>
            <a:pPr algn="r"/>
            <a:r>
              <a:rPr lang="en-US" sz="660" dirty="0">
                <a:solidFill>
                  <a:srgbClr val="CFE3F5"/>
                </a:solidFill>
              </a:rPr>
              <a:t>Sources: OPTN/HRSA center data (scraped Oct 26, 2026), SRTR PSR Jan 2026, Rolling SRTR Apr 2026, project analysis.</a:t>
            </a:r>
            <a:endParaRPr lang="en-US" sz="660" dirty="0"/>
          </a:p>
        </p:txBody>
      </p:sp>
      <p:sp>
        <p:nvSpPr>
          <p:cNvPr id="8" name="Text 6"/>
          <p:cNvSpPr/>
          <p:nvPr/>
        </p:nvSpPr>
        <p:spPr>
          <a:xfrm>
            <a:off x="11564147" y="6637708"/>
            <a:ext cx="274249" cy="137124"/>
          </a:xfrm>
          <a:prstGeom prst="rect">
            <a:avLst/>
          </a:prstGeom>
          <a:noFill/>
          <a:ln/>
        </p:spPr>
        <p:txBody>
          <a:bodyPr wrap="square" lIns="0" tIns="0" rIns="0" bIns="0" rtlCol="0" anchor="ctr"/>
          <a:lstStyle/>
          <a:p>
            <a:pPr algn="r"/>
            <a:r>
              <a:rPr lang="en-US" sz="680" dirty="0">
                <a:solidFill>
                  <a:srgbClr val="FFFFFF"/>
                </a:solidFill>
              </a:rPr>
              <a:t>5</a:t>
            </a:r>
            <a:endParaRPr lang="en-US" sz="680" dirty="0"/>
          </a:p>
        </p:txBody>
      </p:sp>
      <p:graphicFrame>
        <p:nvGraphicFramePr>
          <p:cNvPr id="9" name="Chart 0"/>
          <p:cNvGraphicFramePr/>
          <p:nvPr/>
        </p:nvGraphicFramePr>
        <p:xfrm>
          <a:off x="594205" y="915055"/>
          <a:ext cx="6673382" cy="4387977"/>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8090332" y="1006471"/>
            <a:ext cx="2833902" cy="868454"/>
          </a:xfrm>
          <a:prstGeom prst="rect">
            <a:avLst/>
          </a:prstGeom>
          <a:solidFill>
            <a:srgbClr val="F3F6F8"/>
          </a:solidFill>
          <a:ln>
            <a:solidFill>
              <a:srgbClr val="D8E0E8">
                <a:alpha val="90000"/>
              </a:srgbClr>
            </a:solidFill>
          </a:ln>
        </p:spPr>
        <p:txBody>
          <a:bodyPr wrap="square" lIns="508" tIns="508" rIns="508" bIns="508" rtlCol="0" anchor="ctr">
            <a:normAutofit/>
          </a:bodyPr>
          <a:lstStyle/>
          <a:p>
            <a:pPr algn="ctr"/>
            <a:r>
              <a:rPr lang="en-US" sz="2399" b="1" dirty="0">
                <a:solidFill>
                  <a:srgbClr val="0F766E"/>
                </a:solidFill>
                <a:latin typeface="Aptos" pitchFamily="34" charset="0"/>
                <a:ea typeface="Aptos" pitchFamily="34" charset="-122"/>
                <a:cs typeface="Aptos" pitchFamily="34" charset="-120"/>
              </a:rPr>
              <a:t>36.6%</a:t>
            </a:r>
            <a:endParaRPr lang="en-US" sz="1799" dirty="0"/>
          </a:p>
        </p:txBody>
      </p:sp>
      <p:sp>
        <p:nvSpPr>
          <p:cNvPr id="11" name="Text 8"/>
          <p:cNvSpPr/>
          <p:nvPr/>
        </p:nvSpPr>
        <p:spPr>
          <a:xfrm>
            <a:off x="8136040" y="1070462"/>
            <a:ext cx="2742486" cy="146266"/>
          </a:xfrm>
          <a:prstGeom prst="rect">
            <a:avLst/>
          </a:prstGeom>
          <a:noFill/>
          <a:ln/>
        </p:spPr>
        <p:txBody>
          <a:bodyPr wrap="square" lIns="0" tIns="0" rIns="0" bIns="0" rtlCol="0" anchor="ctr">
            <a:normAutofit/>
          </a:bodyPr>
          <a:lstStyle/>
          <a:p>
            <a:pPr algn="ctr"/>
            <a:r>
              <a:rPr lang="en-US" sz="750" dirty="0">
                <a:solidFill>
                  <a:srgbClr val="5D6D7E"/>
                </a:solidFill>
              </a:rPr>
              <a:t>Top 10 share of 2025 national volume</a:t>
            </a:r>
            <a:endParaRPr lang="en-US" sz="750" dirty="0"/>
          </a:p>
        </p:txBody>
      </p:sp>
      <p:sp>
        <p:nvSpPr>
          <p:cNvPr id="12" name="Text 9"/>
          <p:cNvSpPr/>
          <p:nvPr/>
        </p:nvSpPr>
        <p:spPr>
          <a:xfrm>
            <a:off x="8090332" y="2313723"/>
            <a:ext cx="1325535" cy="914162"/>
          </a:xfrm>
          <a:prstGeom prst="rect">
            <a:avLst/>
          </a:prstGeom>
          <a:solidFill>
            <a:srgbClr val="F3F6F8"/>
          </a:solidFill>
          <a:ln>
            <a:solidFill>
              <a:srgbClr val="D8E0E8">
                <a:alpha val="90000"/>
              </a:srgbClr>
            </a:solidFill>
          </a:ln>
        </p:spPr>
        <p:txBody>
          <a:bodyPr wrap="square" lIns="508" tIns="508" rIns="508" bIns="508" rtlCol="0" anchor="ctr">
            <a:normAutofit/>
          </a:bodyPr>
          <a:lstStyle/>
          <a:p>
            <a:pPr algn="ctr"/>
            <a:r>
              <a:rPr lang="en-US" sz="2399" b="1" dirty="0">
                <a:solidFill>
                  <a:srgbClr val="2F5597"/>
                </a:solidFill>
                <a:latin typeface="Aptos" pitchFamily="34" charset="0"/>
                <a:ea typeface="Aptos" pitchFamily="34" charset="-122"/>
                <a:cs typeface="Aptos" pitchFamily="34" charset="-120"/>
              </a:rPr>
              <a:t>Temple</a:t>
            </a:r>
            <a:endParaRPr lang="en-US" sz="1799" dirty="0"/>
          </a:p>
          <a:p>
            <a:pPr algn="ctr"/>
            <a:r>
              <a:rPr lang="en-US" sz="2399" b="1" dirty="0">
                <a:solidFill>
                  <a:srgbClr val="2F5597"/>
                </a:solidFill>
                <a:latin typeface="Aptos" pitchFamily="34" charset="0"/>
                <a:ea typeface="Aptos" pitchFamily="34" charset="-122"/>
                <a:cs typeface="Aptos" pitchFamily="34" charset="-120"/>
              </a:rPr>
              <a:t>178</a:t>
            </a:r>
            <a:endParaRPr lang="en-US" sz="1799" dirty="0"/>
          </a:p>
          <a:p>
            <a:pPr algn="ctr"/>
            <a:endParaRPr lang="en-US" sz="1799" dirty="0"/>
          </a:p>
        </p:txBody>
      </p:sp>
      <p:sp>
        <p:nvSpPr>
          <p:cNvPr id="13" name="Text 10"/>
          <p:cNvSpPr/>
          <p:nvPr/>
        </p:nvSpPr>
        <p:spPr>
          <a:xfrm>
            <a:off x="8090332" y="1996400"/>
            <a:ext cx="1234119" cy="146266"/>
          </a:xfrm>
          <a:prstGeom prst="rect">
            <a:avLst/>
          </a:prstGeom>
          <a:noFill/>
          <a:ln/>
        </p:spPr>
        <p:txBody>
          <a:bodyPr wrap="square" lIns="0" tIns="0" rIns="0" bIns="0" rtlCol="0" anchor="ctr">
            <a:noAutofit/>
          </a:bodyPr>
          <a:lstStyle/>
          <a:p>
            <a:pPr algn="ctr"/>
            <a:r>
              <a:rPr lang="en-US" sz="1200" dirty="0">
                <a:solidFill>
                  <a:srgbClr val="5D6D7E"/>
                </a:solidFill>
              </a:rPr>
              <a:t>Largest center</a:t>
            </a:r>
            <a:endParaRPr lang="en-US" sz="1200" dirty="0"/>
          </a:p>
        </p:txBody>
      </p:sp>
      <p:sp>
        <p:nvSpPr>
          <p:cNvPr id="14" name="Text 11"/>
          <p:cNvSpPr/>
          <p:nvPr/>
        </p:nvSpPr>
        <p:spPr>
          <a:xfrm>
            <a:off x="9598699" y="2343792"/>
            <a:ext cx="1325535" cy="914162"/>
          </a:xfrm>
          <a:prstGeom prst="rect">
            <a:avLst/>
          </a:prstGeom>
          <a:solidFill>
            <a:srgbClr val="F3F6F8"/>
          </a:solidFill>
          <a:ln>
            <a:solidFill>
              <a:srgbClr val="D8E0E8">
                <a:alpha val="90000"/>
              </a:srgbClr>
            </a:solidFill>
          </a:ln>
        </p:spPr>
        <p:txBody>
          <a:bodyPr wrap="square" lIns="508" tIns="508" rIns="508" bIns="508" rtlCol="0" anchor="ctr">
            <a:normAutofit/>
          </a:bodyPr>
          <a:lstStyle/>
          <a:p>
            <a:pPr algn="ctr"/>
            <a:r>
              <a:rPr lang="en-US" sz="2399" b="1" dirty="0">
                <a:solidFill>
                  <a:srgbClr val="198754"/>
                </a:solidFill>
                <a:latin typeface="Aptos" pitchFamily="34" charset="0"/>
                <a:ea typeface="Aptos" pitchFamily="34" charset="-122"/>
                <a:cs typeface="Aptos" pitchFamily="34" charset="-120"/>
              </a:rPr>
              <a:t>470</a:t>
            </a:r>
            <a:endParaRPr lang="en-US" sz="1799" dirty="0"/>
          </a:p>
        </p:txBody>
      </p:sp>
      <p:sp>
        <p:nvSpPr>
          <p:cNvPr id="15" name="Text 12"/>
          <p:cNvSpPr/>
          <p:nvPr/>
        </p:nvSpPr>
        <p:spPr>
          <a:xfrm>
            <a:off x="9644407" y="1996399"/>
            <a:ext cx="1325535" cy="274259"/>
          </a:xfrm>
          <a:prstGeom prst="rect">
            <a:avLst/>
          </a:prstGeom>
          <a:noFill/>
          <a:ln/>
        </p:spPr>
        <p:txBody>
          <a:bodyPr wrap="square" lIns="0" tIns="0" rIns="0" bIns="0" rtlCol="0" anchor="ctr">
            <a:noAutofit/>
          </a:bodyPr>
          <a:lstStyle/>
          <a:p>
            <a:pPr algn="ctr"/>
            <a:r>
              <a:rPr lang="en-US" sz="1200" dirty="0">
                <a:solidFill>
                  <a:srgbClr val="5D6D7E"/>
                </a:solidFill>
              </a:rPr>
              <a:t>Top three combined</a:t>
            </a:r>
            <a:endParaRPr lang="en-US" sz="1200" dirty="0"/>
          </a:p>
        </p:txBody>
      </p:sp>
      <p:sp>
        <p:nvSpPr>
          <p:cNvPr id="16" name="Text 13"/>
          <p:cNvSpPr/>
          <p:nvPr/>
        </p:nvSpPr>
        <p:spPr>
          <a:xfrm>
            <a:off x="7816083" y="3429000"/>
            <a:ext cx="3656648" cy="1371243"/>
          </a:xfrm>
          <a:prstGeom prst="rect">
            <a:avLst/>
          </a:prstGeom>
          <a:noFill/>
          <a:ln/>
        </p:spPr>
        <p:txBody>
          <a:bodyPr wrap="square" lIns="635" tIns="635" rIns="635" bIns="635" rtlCol="0" anchor="ctr">
            <a:normAutofit/>
          </a:bodyPr>
          <a:lstStyle/>
          <a:p>
            <a:r>
              <a:rPr lang="en-US" sz="1250" dirty="0">
                <a:solidFill>
                  <a:srgbClr val="263238"/>
                </a:solidFill>
                <a:latin typeface="Aptos" pitchFamily="34" charset="0"/>
                <a:ea typeface="Aptos" pitchFamily="34" charset="-122"/>
                <a:cs typeface="Aptos" pitchFamily="34" charset="-120"/>
              </a:rPr>
              <a:t>Market is not monopolistic, but center-specific capability matters.</a:t>
            </a:r>
            <a:endParaRPr lang="en-US" sz="1250" dirty="0"/>
          </a:p>
          <a:p>
            <a:r>
              <a:rPr lang="en-US" sz="1250" dirty="0">
                <a:solidFill>
                  <a:srgbClr val="263238"/>
                </a:solidFill>
                <a:latin typeface="Aptos" pitchFamily="34" charset="0"/>
                <a:ea typeface="Aptos" pitchFamily="34" charset="-122"/>
                <a:cs typeface="Aptos" pitchFamily="34" charset="-120"/>
              </a:rPr>
              <a:t>Leaders combine referral depth, high-acuity candidate management, donor acceptance, and surgical throughput.</a:t>
            </a:r>
            <a:endParaRPr lang="en-US" sz="1250" dirty="0"/>
          </a:p>
          <a:p>
            <a:r>
              <a:rPr lang="en-US" sz="1250" dirty="0">
                <a:solidFill>
                  <a:srgbClr val="263238"/>
                </a:solidFill>
                <a:latin typeface="Aptos" pitchFamily="34" charset="0"/>
                <a:ea typeface="Aptos" pitchFamily="34" charset="-122"/>
                <a:cs typeface="Aptos" pitchFamily="34" charset="-120"/>
              </a:rPr>
              <a:t>ALUA competes in a system where the benchmark is no longer only local geography.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Policy Era Comparison &amp; Equity Impact</a:t>
            </a:r>
          </a:p>
        </p:txBody>
      </p:sp>
      <p:sp>
        <p:nvSpPr>
          <p:cNvPr id="4" name="TextBox 3"/>
          <p:cNvSpPr txBox="1"/>
          <p:nvPr/>
        </p:nvSpPr>
        <p:spPr>
          <a:xfrm>
            <a:off x="228600" y="310896"/>
            <a:ext cx="11430000" cy="274320"/>
          </a:xfrm>
          <a:prstGeom prst="rect">
            <a:avLst/>
          </a:prstGeom>
          <a:noFill/>
        </p:spPr>
        <p:txBody>
          <a:bodyPr wrap="square">
            <a:spAutoFit/>
          </a:bodyPr>
          <a:lstStyle/>
          <a:p>
            <a:pPr algn="l"/>
            <a:r>
              <a:rPr sz="950" b="0" i="0">
                <a:solidFill>
                  <a:srgbClr val="C8DEF5"/>
                </a:solidFill>
              </a:rPr>
              <a:t>DSA Removal (Nov 2017) · CAS Implementation (Mar 2023)</a:t>
            </a:r>
          </a:p>
        </p:txBody>
      </p:sp>
      <p:pic>
        <p:nvPicPr>
          <p:cNvPr id="5" name="Picture 4" descr="era_comparison.png"/>
          <p:cNvPicPr>
            <a:picLocks noChangeAspect="1"/>
          </p:cNvPicPr>
          <p:nvPr/>
        </p:nvPicPr>
        <p:blipFill>
          <a:blip r:embed="rId3"/>
          <a:stretch>
            <a:fillRect/>
          </a:stretch>
        </p:blipFill>
        <p:spPr>
          <a:xfrm>
            <a:off x="137160" y="566928"/>
            <a:ext cx="6035040" cy="3127248"/>
          </a:xfrm>
          <a:prstGeom prst="rect">
            <a:avLst/>
          </a:prstGeom>
        </p:spPr>
      </p:pic>
      <p:pic>
        <p:nvPicPr>
          <p:cNvPr id="6" name="Picture 5" descr="equity_metrics.png"/>
          <p:cNvPicPr>
            <a:picLocks noChangeAspect="1"/>
          </p:cNvPicPr>
          <p:nvPr/>
        </p:nvPicPr>
        <p:blipFill>
          <a:blip r:embed="rId4"/>
          <a:stretch>
            <a:fillRect/>
          </a:stretch>
        </p:blipFill>
        <p:spPr>
          <a:xfrm>
            <a:off x="6309360" y="566928"/>
            <a:ext cx="5760720" cy="3127248"/>
          </a:xfrm>
          <a:prstGeom prst="rect">
            <a:avLst/>
          </a:prstGeom>
        </p:spPr>
      </p:pic>
      <p:sp>
        <p:nvSpPr>
          <p:cNvPr id="7" name="Rectangle 6"/>
          <p:cNvSpPr/>
          <p:nvPr/>
        </p:nvSpPr>
        <p:spPr>
          <a:xfrm>
            <a:off x="137160" y="3767328"/>
            <a:ext cx="11887200" cy="26060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3840480"/>
            <a:ext cx="11430000" cy="347472"/>
          </a:xfrm>
          <a:prstGeom prst="rect">
            <a:avLst/>
          </a:prstGeom>
          <a:noFill/>
        </p:spPr>
        <p:txBody>
          <a:bodyPr wrap="square">
            <a:spAutoFit/>
          </a:bodyPr>
          <a:lstStyle/>
          <a:p>
            <a:pPr algn="l"/>
            <a:r>
              <a:rPr sz="1100" b="1" i="0">
                <a:solidFill>
                  <a:srgbClr val="1E3A5F"/>
                </a:solidFill>
              </a:rPr>
              <a:t>Key Policy Findings</a:t>
            </a:r>
          </a:p>
        </p:txBody>
      </p:sp>
      <p:sp>
        <p:nvSpPr>
          <p:cNvPr id="9" name="TextBox 8"/>
          <p:cNvSpPr txBox="1"/>
          <p:nvPr/>
        </p:nvSpPr>
        <p:spPr>
          <a:xfrm>
            <a:off x="274320" y="4206240"/>
            <a:ext cx="11704320" cy="2103120"/>
          </a:xfrm>
          <a:prstGeom prst="rect">
            <a:avLst/>
          </a:prstGeom>
          <a:noFill/>
        </p:spPr>
        <p:txBody>
          <a:bodyPr wrap="square">
            <a:spAutoFit/>
          </a:bodyPr>
          <a:lstStyle/>
          <a:p>
            <a:pPr algn="l">
              <a:spcBef>
                <a:spcPts val="300"/>
              </a:spcBef>
            </a:pPr>
            <a:r>
              <a:rPr sz="1050" b="0" dirty="0">
                <a:solidFill>
                  <a:srgbClr val="2D3A4A"/>
                </a:solidFill>
              </a:rPr>
              <a:t>▸  DSA removal: median waitlist time fell 9 days; transplant rate rose nationally; LOS increased 2 days (transport distance)</a:t>
            </a:r>
          </a:p>
          <a:p>
            <a:pPr algn="l">
              <a:spcBef>
                <a:spcPts val="300"/>
              </a:spcBef>
            </a:pPr>
            <a:r>
              <a:rPr sz="1050" b="1" dirty="0">
                <a:solidFill>
                  <a:srgbClr val="2D3A4A"/>
                </a:solidFill>
              </a:rPr>
              <a:t>▸  CAS (Mar 2023): acuity-first composite scoring. Waitlist mortality: 11.2% → 8.4% → 4.1%. Largest YoY volume jump on record.</a:t>
            </a:r>
          </a:p>
          <a:p>
            <a:pPr algn="l">
              <a:spcBef>
                <a:spcPts val="300"/>
              </a:spcBef>
            </a:pPr>
            <a:r>
              <a:rPr sz="1050" b="0" dirty="0">
                <a:solidFill>
                  <a:srgbClr val="2D3A4A"/>
                </a:solidFill>
              </a:rPr>
              <a:t>▸  Gini: 0.386→0.359→0.340. CV: 72.2%→67.5%→61.4%. Centers ≥33/yr: 23→31→35 (recomputed, Oct 2026 data). System measurably more equitable under CAS.</a:t>
            </a:r>
          </a:p>
          <a:p>
            <a:pPr algn="l">
              <a:spcBef>
                <a:spcPts val="300"/>
              </a:spcBef>
            </a:pPr>
            <a:r>
              <a:rPr sz="1050" b="0" dirty="0">
                <a:solidFill>
                  <a:srgbClr val="2D3A4A"/>
                </a:solidFill>
              </a:rPr>
              <a:t>▸  Both reforms market-expanding: only 4 of 51 centers declined under BOTH policies (the Double Losers).</a:t>
            </a:r>
          </a:p>
        </p:txBody>
      </p:sp>
      <p:sp>
        <p:nvSpPr>
          <p:cNvPr id="10" name="Rectangle 9"/>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Policy Era Analysis</a:t>
            </a:r>
          </a:p>
        </p:txBody>
      </p:sp>
      <p:sp>
        <p:nvSpPr>
          <p:cNvPr id="12" name="TextBox 11"/>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6</a:t>
            </a:r>
          </a:p>
        </p:txBody>
      </p:sp>
    </p:spTree>
    <p:extLst>
      <p:ext uri="{BB962C8B-B14F-4D97-AF65-F5344CB8AC3E}">
        <p14:creationId xmlns:p14="http://schemas.microsoft.com/office/powerpoint/2010/main" val="1016240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Policy Quadrant — All 51 Centers</a:t>
            </a:r>
          </a:p>
        </p:txBody>
      </p:sp>
      <p:sp>
        <p:nvSpPr>
          <p:cNvPr id="4" name="TextBox 3"/>
          <p:cNvSpPr txBox="1"/>
          <p:nvPr/>
        </p:nvSpPr>
        <p:spPr>
          <a:xfrm>
            <a:off x="228600" y="294811"/>
            <a:ext cx="11430000" cy="274320"/>
          </a:xfrm>
          <a:prstGeom prst="rect">
            <a:avLst/>
          </a:prstGeom>
          <a:noFill/>
        </p:spPr>
        <p:txBody>
          <a:bodyPr wrap="square">
            <a:spAutoFit/>
          </a:bodyPr>
          <a:lstStyle/>
          <a:p>
            <a:pPr algn="l"/>
            <a:r>
              <a:rPr sz="950" b="0" i="0" dirty="0">
                <a:solidFill>
                  <a:srgbClr val="C8DEF5"/>
                </a:solidFill>
              </a:rPr>
              <a:t>Which programs won or lost under each allocation reform?</a:t>
            </a:r>
          </a:p>
        </p:txBody>
      </p:sp>
      <p:pic>
        <p:nvPicPr>
          <p:cNvPr id="5" name="Picture 4" descr="policy_quadrant.png"/>
          <p:cNvPicPr>
            <a:picLocks noChangeAspect="1"/>
          </p:cNvPicPr>
          <p:nvPr/>
        </p:nvPicPr>
        <p:blipFill>
          <a:blip r:embed="rId3"/>
          <a:stretch>
            <a:fillRect/>
          </a:stretch>
        </p:blipFill>
        <p:spPr>
          <a:xfrm>
            <a:off x="137160" y="566928"/>
            <a:ext cx="7269480" cy="4645152"/>
          </a:xfrm>
          <a:prstGeom prst="rect">
            <a:avLst/>
          </a:prstGeom>
        </p:spPr>
      </p:pic>
      <p:sp>
        <p:nvSpPr>
          <p:cNvPr id="6" name="Rectangle 5"/>
          <p:cNvSpPr/>
          <p:nvPr/>
        </p:nvSpPr>
        <p:spPr>
          <a:xfrm>
            <a:off x="7589520" y="594360"/>
            <a:ext cx="4434840" cy="13075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54112" y="658368"/>
            <a:ext cx="4206240" cy="384048"/>
          </a:xfrm>
          <a:prstGeom prst="rect">
            <a:avLst/>
          </a:prstGeom>
          <a:noFill/>
        </p:spPr>
        <p:txBody>
          <a:bodyPr wrap="square">
            <a:spAutoFit/>
          </a:bodyPr>
          <a:lstStyle/>
          <a:p>
            <a:pPr algn="l"/>
            <a:r>
              <a:rPr sz="1000" b="1" i="0">
                <a:solidFill>
                  <a:srgbClr val="FFFFFF"/>
                </a:solidFill>
              </a:rPr>
              <a:t>Double Winner (20)</a:t>
            </a:r>
          </a:p>
        </p:txBody>
      </p:sp>
      <p:sp>
        <p:nvSpPr>
          <p:cNvPr id="8" name="TextBox 7"/>
          <p:cNvSpPr txBox="1"/>
          <p:nvPr/>
        </p:nvSpPr>
        <p:spPr>
          <a:xfrm>
            <a:off x="7754112" y="1005840"/>
            <a:ext cx="4206240" cy="841248"/>
          </a:xfrm>
          <a:prstGeom prst="rect">
            <a:avLst/>
          </a:prstGeom>
          <a:noFill/>
        </p:spPr>
        <p:txBody>
          <a:bodyPr wrap="square">
            <a:spAutoFit/>
          </a:bodyPr>
          <a:lstStyle/>
          <a:p>
            <a:pPr algn="l"/>
            <a:r>
              <a:rPr sz="950" b="0" i="0">
                <a:solidFill>
                  <a:srgbClr val="FFFFFF"/>
                </a:solidFill>
              </a:rPr>
              <a:t>Benefited from both reforms
Ex: Vanderbilt +384%, Cedars-Sinai +461%</a:t>
            </a:r>
          </a:p>
        </p:txBody>
      </p:sp>
      <p:sp>
        <p:nvSpPr>
          <p:cNvPr id="9" name="Rectangle 8"/>
          <p:cNvSpPr/>
          <p:nvPr/>
        </p:nvSpPr>
        <p:spPr>
          <a:xfrm>
            <a:off x="7589520" y="1993392"/>
            <a:ext cx="4434840" cy="1307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54112" y="2057400"/>
            <a:ext cx="4206240" cy="384048"/>
          </a:xfrm>
          <a:prstGeom prst="rect">
            <a:avLst/>
          </a:prstGeom>
          <a:noFill/>
        </p:spPr>
        <p:txBody>
          <a:bodyPr wrap="square">
            <a:spAutoFit/>
          </a:bodyPr>
          <a:lstStyle/>
          <a:p>
            <a:pPr algn="l"/>
            <a:r>
              <a:rPr sz="1000" b="1" i="0">
                <a:solidFill>
                  <a:srgbClr val="FFFFFF"/>
                </a:solidFill>
              </a:rPr>
              <a:t>DSA Win / CAS Loss (16)</a:t>
            </a:r>
          </a:p>
        </p:txBody>
      </p:sp>
      <p:sp>
        <p:nvSpPr>
          <p:cNvPr id="11" name="TextBox 10"/>
          <p:cNvSpPr txBox="1"/>
          <p:nvPr/>
        </p:nvSpPr>
        <p:spPr>
          <a:xfrm>
            <a:off x="7754112" y="2404872"/>
            <a:ext cx="4206240" cy="841248"/>
          </a:xfrm>
          <a:prstGeom prst="rect">
            <a:avLst/>
          </a:prstGeom>
          <a:noFill/>
        </p:spPr>
        <p:txBody>
          <a:bodyPr wrap="square">
            <a:spAutoFit/>
          </a:bodyPr>
          <a:lstStyle/>
          <a:p>
            <a:pPr algn="l"/>
            <a:r>
              <a:rPr sz="950" b="0" i="0">
                <a:solidFill>
                  <a:srgbClr val="FFFFFF"/>
                </a:solidFill>
              </a:rPr>
              <a:t>Geographic expansion; lost on acuity
Ex: Duke −11% net, Pittsburgh −14%</a:t>
            </a:r>
          </a:p>
        </p:txBody>
      </p:sp>
      <p:sp>
        <p:nvSpPr>
          <p:cNvPr id="12" name="Rectangle 11"/>
          <p:cNvSpPr/>
          <p:nvPr/>
        </p:nvSpPr>
        <p:spPr>
          <a:xfrm>
            <a:off x="7589520" y="3392424"/>
            <a:ext cx="4434840" cy="1307592"/>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54112" y="3456432"/>
            <a:ext cx="4206240" cy="384048"/>
          </a:xfrm>
          <a:prstGeom prst="rect">
            <a:avLst/>
          </a:prstGeom>
          <a:noFill/>
        </p:spPr>
        <p:txBody>
          <a:bodyPr wrap="square">
            <a:spAutoFit/>
          </a:bodyPr>
          <a:lstStyle/>
          <a:p>
            <a:pPr algn="l"/>
            <a:r>
              <a:rPr sz="1000" b="1" i="0">
                <a:solidFill>
                  <a:srgbClr val="FFFFFF"/>
                </a:solidFill>
              </a:rPr>
              <a:t>DSA Loss / CAS Win (11)</a:t>
            </a:r>
          </a:p>
        </p:txBody>
      </p:sp>
      <p:sp>
        <p:nvSpPr>
          <p:cNvPr id="14" name="TextBox 13"/>
          <p:cNvSpPr txBox="1"/>
          <p:nvPr/>
        </p:nvSpPr>
        <p:spPr>
          <a:xfrm>
            <a:off x="7754112" y="3803904"/>
            <a:ext cx="4206240" cy="841248"/>
          </a:xfrm>
          <a:prstGeom prst="rect">
            <a:avLst/>
          </a:prstGeom>
          <a:noFill/>
        </p:spPr>
        <p:txBody>
          <a:bodyPr wrap="square">
            <a:spAutoFit/>
          </a:bodyPr>
          <a:lstStyle/>
          <a:p>
            <a:pPr algn="l"/>
            <a:r>
              <a:rPr sz="950" b="0" i="0">
                <a:solidFill>
                  <a:srgbClr val="FFFFFF"/>
                </a:solidFill>
              </a:rPr>
              <a:t>Recovered under acuity scoring
Ex: Mayo MN +509%, Utah +125%</a:t>
            </a:r>
          </a:p>
        </p:txBody>
      </p:sp>
      <p:sp>
        <p:nvSpPr>
          <p:cNvPr id="15" name="Rectangle 14"/>
          <p:cNvSpPr/>
          <p:nvPr/>
        </p:nvSpPr>
        <p:spPr>
          <a:xfrm>
            <a:off x="7589520" y="4791456"/>
            <a:ext cx="4434840" cy="1307592"/>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54112" y="4855464"/>
            <a:ext cx="4206240" cy="384048"/>
          </a:xfrm>
          <a:prstGeom prst="rect">
            <a:avLst/>
          </a:prstGeom>
          <a:noFill/>
        </p:spPr>
        <p:txBody>
          <a:bodyPr wrap="square">
            <a:spAutoFit/>
          </a:bodyPr>
          <a:lstStyle/>
          <a:p>
            <a:pPr algn="l"/>
            <a:r>
              <a:rPr sz="1000" b="1" i="0">
                <a:solidFill>
                  <a:srgbClr val="FFFFFF"/>
                </a:solidFill>
              </a:rPr>
              <a:t>Double Loser (4)</a:t>
            </a:r>
          </a:p>
        </p:txBody>
      </p:sp>
      <p:sp>
        <p:nvSpPr>
          <p:cNvPr id="17" name="TextBox 16"/>
          <p:cNvSpPr txBox="1"/>
          <p:nvPr/>
        </p:nvSpPr>
        <p:spPr>
          <a:xfrm>
            <a:off x="7754112" y="5202936"/>
            <a:ext cx="4206240" cy="841248"/>
          </a:xfrm>
          <a:prstGeom prst="rect">
            <a:avLst/>
          </a:prstGeom>
          <a:noFill/>
        </p:spPr>
        <p:txBody>
          <a:bodyPr wrap="square">
            <a:spAutoFit/>
          </a:bodyPr>
          <a:lstStyle/>
          <a:p>
            <a:pPr algn="l"/>
            <a:r>
              <a:rPr sz="950" b="0" i="0">
                <a:solidFill>
                  <a:srgbClr val="FFFFFF"/>
                </a:solidFill>
              </a:rPr>
              <a:t>Both reforms hurt — structural risk</a:t>
            </a:r>
            <a:br>
              <a:rPr sz="950" b="0" i="0">
                <a:solidFill>
                  <a:srgbClr val="FFFFFF"/>
                </a:solidFill>
              </a:rPr>
            </a:br>
            <a:r>
              <a:rPr sz="950" b="0" i="0">
                <a:solidFill>
                  <a:srgbClr val="FFFFFF"/>
                </a:solidFill>
              </a:rPr>
              <a:t>Ex: Ochsner −69%*, Penn −31%</a:t>
            </a:r>
            <a:br>
              <a:rPr sz="950" b="0" i="0">
                <a:solidFill>
                  <a:srgbClr val="FFFFFF"/>
                </a:solidFill>
              </a:rPr>
            </a:br>
            <a:r>
              <a:rPr sz="950" b="0" i="0">
                <a:solidFill>
                  <a:srgbClr val="FFFFFF"/>
                </a:solidFill>
              </a:rPr>
              <a:t>*Ochsner rebounding: 2026 pace ~23</a:t>
            </a:r>
          </a:p>
        </p:txBody>
      </p:sp>
      <p:sp>
        <p:nvSpPr>
          <p:cNvPr id="18" name="Rectangle 17"/>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Policy Quadrant Analysis</a:t>
            </a:r>
          </a:p>
        </p:txBody>
      </p:sp>
      <p:sp>
        <p:nvSpPr>
          <p:cNvPr id="20" name="TextBox 19"/>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7</a:t>
            </a:r>
          </a:p>
        </p:txBody>
      </p:sp>
    </p:spTree>
    <p:extLst>
      <p:ext uri="{BB962C8B-B14F-4D97-AF65-F5344CB8AC3E}">
        <p14:creationId xmlns:p14="http://schemas.microsoft.com/office/powerpoint/2010/main" val="1910115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Top Centers &amp; Double Loser Profile</a:t>
            </a:r>
          </a:p>
        </p:txBody>
      </p:sp>
      <p:sp>
        <p:nvSpPr>
          <p:cNvPr id="4" name="Rectangle 3"/>
          <p:cNvSpPr/>
          <p:nvPr/>
        </p:nvSpPr>
        <p:spPr>
          <a:xfrm>
            <a:off x="182880" y="566928"/>
            <a:ext cx="548640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612648"/>
            <a:ext cx="868680" cy="274320"/>
          </a:xfrm>
          <a:prstGeom prst="rect">
            <a:avLst/>
          </a:prstGeom>
          <a:noFill/>
        </p:spPr>
        <p:txBody>
          <a:bodyPr wrap="square">
            <a:spAutoFit/>
          </a:bodyPr>
          <a:lstStyle/>
          <a:p>
            <a:pPr algn="l"/>
            <a:r>
              <a:rPr sz="850" b="1" i="0">
                <a:solidFill>
                  <a:srgbClr val="FFFFFF"/>
                </a:solidFill>
              </a:rPr>
              <a:t>Center</a:t>
            </a:r>
          </a:p>
        </p:txBody>
      </p:sp>
      <p:sp>
        <p:nvSpPr>
          <p:cNvPr id="6" name="TextBox 5"/>
          <p:cNvSpPr txBox="1"/>
          <p:nvPr/>
        </p:nvSpPr>
        <p:spPr>
          <a:xfrm>
            <a:off x="3017520" y="612648"/>
            <a:ext cx="868680" cy="274320"/>
          </a:xfrm>
          <a:prstGeom prst="rect">
            <a:avLst/>
          </a:prstGeom>
          <a:noFill/>
        </p:spPr>
        <p:txBody>
          <a:bodyPr wrap="square">
            <a:spAutoFit/>
          </a:bodyPr>
          <a:lstStyle/>
          <a:p>
            <a:pPr algn="ctr"/>
            <a:r>
              <a:rPr sz="850" b="1" i="0">
                <a:solidFill>
                  <a:srgbClr val="FFFFFF"/>
                </a:solidFill>
              </a:rPr>
              <a:t>2025 Vol</a:t>
            </a:r>
          </a:p>
        </p:txBody>
      </p:sp>
      <p:sp>
        <p:nvSpPr>
          <p:cNvPr id="7" name="TextBox 6"/>
          <p:cNvSpPr txBox="1"/>
          <p:nvPr/>
        </p:nvSpPr>
        <p:spPr>
          <a:xfrm>
            <a:off x="3950208" y="612648"/>
            <a:ext cx="868680" cy="274320"/>
          </a:xfrm>
          <a:prstGeom prst="rect">
            <a:avLst/>
          </a:prstGeom>
          <a:noFill/>
        </p:spPr>
        <p:txBody>
          <a:bodyPr wrap="square">
            <a:spAutoFit/>
          </a:bodyPr>
          <a:lstStyle/>
          <a:p>
            <a:pPr algn="ctr"/>
            <a:r>
              <a:rPr sz="850" b="1" i="0">
                <a:solidFill>
                  <a:srgbClr val="FFFFFF"/>
                </a:solidFill>
              </a:rPr>
              <a:t>CAS Avg</a:t>
            </a:r>
          </a:p>
        </p:txBody>
      </p:sp>
      <p:sp>
        <p:nvSpPr>
          <p:cNvPr id="8" name="TextBox 7"/>
          <p:cNvSpPr txBox="1"/>
          <p:nvPr/>
        </p:nvSpPr>
        <p:spPr>
          <a:xfrm>
            <a:off x="4892040" y="612648"/>
            <a:ext cx="868680" cy="274320"/>
          </a:xfrm>
          <a:prstGeom prst="rect">
            <a:avLst/>
          </a:prstGeom>
          <a:noFill/>
        </p:spPr>
        <p:txBody>
          <a:bodyPr wrap="square">
            <a:spAutoFit/>
          </a:bodyPr>
          <a:lstStyle/>
          <a:p>
            <a:pPr algn="ctr"/>
            <a:r>
              <a:rPr sz="850" b="1" i="0">
                <a:solidFill>
                  <a:srgbClr val="FFFFFF"/>
                </a:solidFill>
              </a:rPr>
              <a:t>Net Δ</a:t>
            </a:r>
          </a:p>
        </p:txBody>
      </p:sp>
      <p:sp>
        <p:nvSpPr>
          <p:cNvPr id="9" name="Rectangle 8"/>
          <p:cNvSpPr/>
          <p:nvPr/>
        </p:nvSpPr>
        <p:spPr>
          <a:xfrm>
            <a:off x="182880" y="932688"/>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960120"/>
            <a:ext cx="2514600" cy="274320"/>
          </a:xfrm>
          <a:prstGeom prst="rect">
            <a:avLst/>
          </a:prstGeom>
          <a:noFill/>
        </p:spPr>
        <p:txBody>
          <a:bodyPr wrap="square">
            <a:spAutoFit/>
          </a:bodyPr>
          <a:lstStyle/>
          <a:p>
            <a:pPr algn="l"/>
            <a:r>
              <a:rPr sz="850" b="0" i="0">
                <a:solidFill>
                  <a:srgbClr val="2D3A4A"/>
                </a:solidFill>
              </a:rPr>
              <a:t>Temple University</a:t>
            </a:r>
          </a:p>
        </p:txBody>
      </p:sp>
      <p:sp>
        <p:nvSpPr>
          <p:cNvPr id="11" name="TextBox 10"/>
          <p:cNvSpPr txBox="1"/>
          <p:nvPr/>
        </p:nvSpPr>
        <p:spPr>
          <a:xfrm>
            <a:off x="2999232" y="960120"/>
            <a:ext cx="713232" cy="274320"/>
          </a:xfrm>
          <a:prstGeom prst="rect">
            <a:avLst/>
          </a:prstGeom>
          <a:noFill/>
        </p:spPr>
        <p:txBody>
          <a:bodyPr wrap="square">
            <a:spAutoFit/>
          </a:bodyPr>
          <a:lstStyle/>
          <a:p>
            <a:pPr algn="ctr"/>
            <a:r>
              <a:rPr sz="900" b="1" i="0">
                <a:solidFill>
                  <a:srgbClr val="1E3A5F"/>
                </a:solidFill>
              </a:rPr>
              <a:t>178</a:t>
            </a:r>
          </a:p>
        </p:txBody>
      </p:sp>
      <p:sp>
        <p:nvSpPr>
          <p:cNvPr id="12" name="TextBox 11"/>
          <p:cNvSpPr txBox="1"/>
          <p:nvPr/>
        </p:nvSpPr>
        <p:spPr>
          <a:xfrm>
            <a:off x="3931920" y="960120"/>
            <a:ext cx="713232" cy="274320"/>
          </a:xfrm>
          <a:prstGeom prst="rect">
            <a:avLst/>
          </a:prstGeom>
          <a:noFill/>
        </p:spPr>
        <p:txBody>
          <a:bodyPr wrap="square">
            <a:spAutoFit/>
          </a:bodyPr>
          <a:lstStyle/>
          <a:p>
            <a:pPr algn="ctr"/>
            <a:r>
              <a:rPr sz="850" b="0" i="0">
                <a:solidFill>
                  <a:srgbClr val="6B7280"/>
                </a:solidFill>
              </a:rPr>
              <a:t>140</a:t>
            </a:r>
          </a:p>
        </p:txBody>
      </p:sp>
      <p:sp>
        <p:nvSpPr>
          <p:cNvPr id="13" name="TextBox 12"/>
          <p:cNvSpPr txBox="1"/>
          <p:nvPr/>
        </p:nvSpPr>
        <p:spPr>
          <a:xfrm>
            <a:off x="4846320" y="960120"/>
            <a:ext cx="713232" cy="274320"/>
          </a:xfrm>
          <a:prstGeom prst="rect">
            <a:avLst/>
          </a:prstGeom>
          <a:noFill/>
        </p:spPr>
        <p:txBody>
          <a:bodyPr wrap="square">
            <a:spAutoFit/>
          </a:bodyPr>
          <a:lstStyle/>
          <a:p>
            <a:pPr algn="ctr"/>
            <a:r>
              <a:rPr sz="900" b="1" i="0">
                <a:solidFill>
                  <a:srgbClr val="1A7A4A"/>
                </a:solidFill>
              </a:rPr>
              <a:t>+39%</a:t>
            </a:r>
          </a:p>
        </p:txBody>
      </p:sp>
      <p:sp>
        <p:nvSpPr>
          <p:cNvPr id="14" name="Rectangle 13"/>
          <p:cNvSpPr/>
          <p:nvPr/>
        </p:nvSpPr>
        <p:spPr>
          <a:xfrm>
            <a:off x="182880" y="1280160"/>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1307592"/>
            <a:ext cx="2514600" cy="274320"/>
          </a:xfrm>
          <a:prstGeom prst="rect">
            <a:avLst/>
          </a:prstGeom>
          <a:noFill/>
        </p:spPr>
        <p:txBody>
          <a:bodyPr wrap="square">
            <a:spAutoFit/>
          </a:bodyPr>
          <a:lstStyle/>
          <a:p>
            <a:pPr algn="l"/>
            <a:r>
              <a:rPr sz="850" b="0" i="0">
                <a:solidFill>
                  <a:srgbClr val="2D3A4A"/>
                </a:solidFill>
              </a:rPr>
              <a:t>Vanderbilt</a:t>
            </a:r>
          </a:p>
        </p:txBody>
      </p:sp>
      <p:sp>
        <p:nvSpPr>
          <p:cNvPr id="16" name="TextBox 15"/>
          <p:cNvSpPr txBox="1"/>
          <p:nvPr/>
        </p:nvSpPr>
        <p:spPr>
          <a:xfrm>
            <a:off x="2999232" y="1307592"/>
            <a:ext cx="713232" cy="274320"/>
          </a:xfrm>
          <a:prstGeom prst="rect">
            <a:avLst/>
          </a:prstGeom>
          <a:noFill/>
        </p:spPr>
        <p:txBody>
          <a:bodyPr wrap="square">
            <a:spAutoFit/>
          </a:bodyPr>
          <a:lstStyle/>
          <a:p>
            <a:pPr algn="ctr"/>
            <a:r>
              <a:rPr sz="900" b="1" i="0">
                <a:solidFill>
                  <a:srgbClr val="1E3A5F"/>
                </a:solidFill>
              </a:rPr>
              <a:t>149</a:t>
            </a:r>
          </a:p>
        </p:txBody>
      </p:sp>
      <p:sp>
        <p:nvSpPr>
          <p:cNvPr id="17" name="TextBox 16"/>
          <p:cNvSpPr txBox="1"/>
          <p:nvPr/>
        </p:nvSpPr>
        <p:spPr>
          <a:xfrm>
            <a:off x="3931920" y="1307592"/>
            <a:ext cx="713232" cy="274320"/>
          </a:xfrm>
          <a:prstGeom prst="rect">
            <a:avLst/>
          </a:prstGeom>
          <a:noFill/>
        </p:spPr>
        <p:txBody>
          <a:bodyPr wrap="square">
            <a:spAutoFit/>
          </a:bodyPr>
          <a:lstStyle/>
          <a:p>
            <a:pPr algn="ctr"/>
            <a:r>
              <a:rPr sz="850" b="0" i="0">
                <a:solidFill>
                  <a:srgbClr val="6B7280"/>
                </a:solidFill>
              </a:rPr>
              <a:t>113</a:t>
            </a:r>
          </a:p>
        </p:txBody>
      </p:sp>
      <p:sp>
        <p:nvSpPr>
          <p:cNvPr id="18" name="TextBox 17"/>
          <p:cNvSpPr txBox="1"/>
          <p:nvPr/>
        </p:nvSpPr>
        <p:spPr>
          <a:xfrm>
            <a:off x="4846320" y="1307592"/>
            <a:ext cx="713232" cy="274320"/>
          </a:xfrm>
          <a:prstGeom prst="rect">
            <a:avLst/>
          </a:prstGeom>
          <a:noFill/>
        </p:spPr>
        <p:txBody>
          <a:bodyPr wrap="square">
            <a:spAutoFit/>
          </a:bodyPr>
          <a:lstStyle/>
          <a:p>
            <a:pPr algn="ctr"/>
            <a:r>
              <a:rPr sz="900" b="1" i="0">
                <a:solidFill>
                  <a:srgbClr val="1A7A4A"/>
                </a:solidFill>
              </a:rPr>
              <a:t>+384%</a:t>
            </a:r>
          </a:p>
        </p:txBody>
      </p:sp>
      <p:sp>
        <p:nvSpPr>
          <p:cNvPr id="19" name="Rectangle 18"/>
          <p:cNvSpPr/>
          <p:nvPr/>
        </p:nvSpPr>
        <p:spPr>
          <a:xfrm>
            <a:off x="182880" y="1627632"/>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4320" y="1655064"/>
            <a:ext cx="2514600" cy="274320"/>
          </a:xfrm>
          <a:prstGeom prst="rect">
            <a:avLst/>
          </a:prstGeom>
          <a:noFill/>
        </p:spPr>
        <p:txBody>
          <a:bodyPr wrap="square">
            <a:spAutoFit/>
          </a:bodyPr>
          <a:lstStyle/>
          <a:p>
            <a:pPr algn="l"/>
            <a:r>
              <a:rPr sz="850" b="0" i="0">
                <a:solidFill>
                  <a:srgbClr val="2D3A4A"/>
                </a:solidFill>
              </a:rPr>
              <a:t>Cleveland Clinic</a:t>
            </a:r>
          </a:p>
        </p:txBody>
      </p:sp>
      <p:sp>
        <p:nvSpPr>
          <p:cNvPr id="21" name="TextBox 20"/>
          <p:cNvSpPr txBox="1"/>
          <p:nvPr/>
        </p:nvSpPr>
        <p:spPr>
          <a:xfrm>
            <a:off x="2999232" y="1655064"/>
            <a:ext cx="713232" cy="274320"/>
          </a:xfrm>
          <a:prstGeom prst="rect">
            <a:avLst/>
          </a:prstGeom>
          <a:noFill/>
        </p:spPr>
        <p:txBody>
          <a:bodyPr wrap="square">
            <a:spAutoFit/>
          </a:bodyPr>
          <a:lstStyle/>
          <a:p>
            <a:pPr algn="ctr"/>
            <a:r>
              <a:rPr sz="900" b="1" i="0">
                <a:solidFill>
                  <a:srgbClr val="1E3A5F"/>
                </a:solidFill>
              </a:rPr>
              <a:t>143</a:t>
            </a:r>
          </a:p>
        </p:txBody>
      </p:sp>
      <p:sp>
        <p:nvSpPr>
          <p:cNvPr id="22" name="TextBox 21"/>
          <p:cNvSpPr txBox="1"/>
          <p:nvPr/>
        </p:nvSpPr>
        <p:spPr>
          <a:xfrm>
            <a:off x="3931920" y="1655064"/>
            <a:ext cx="713232" cy="274320"/>
          </a:xfrm>
          <a:prstGeom prst="rect">
            <a:avLst/>
          </a:prstGeom>
          <a:noFill/>
        </p:spPr>
        <p:txBody>
          <a:bodyPr wrap="square">
            <a:spAutoFit/>
          </a:bodyPr>
          <a:lstStyle/>
          <a:p>
            <a:pPr algn="ctr"/>
            <a:r>
              <a:rPr sz="850" b="0" i="0">
                <a:solidFill>
                  <a:srgbClr val="6B7280"/>
                </a:solidFill>
              </a:rPr>
              <a:t>137</a:t>
            </a:r>
          </a:p>
        </p:txBody>
      </p:sp>
      <p:sp>
        <p:nvSpPr>
          <p:cNvPr id="23" name="TextBox 22"/>
          <p:cNvSpPr txBox="1"/>
          <p:nvPr/>
        </p:nvSpPr>
        <p:spPr>
          <a:xfrm>
            <a:off x="4846320" y="1655064"/>
            <a:ext cx="713232" cy="274320"/>
          </a:xfrm>
          <a:prstGeom prst="rect">
            <a:avLst/>
          </a:prstGeom>
          <a:noFill/>
        </p:spPr>
        <p:txBody>
          <a:bodyPr wrap="square">
            <a:spAutoFit/>
          </a:bodyPr>
          <a:lstStyle/>
          <a:p>
            <a:pPr algn="ctr"/>
            <a:r>
              <a:rPr sz="900" b="1" i="0">
                <a:solidFill>
                  <a:srgbClr val="1A7A4A"/>
                </a:solidFill>
              </a:rPr>
              <a:t>+24%</a:t>
            </a:r>
          </a:p>
        </p:txBody>
      </p:sp>
      <p:sp>
        <p:nvSpPr>
          <p:cNvPr id="24" name="Rectangle 23"/>
          <p:cNvSpPr/>
          <p:nvPr/>
        </p:nvSpPr>
        <p:spPr>
          <a:xfrm>
            <a:off x="182880" y="1975104"/>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2002536"/>
            <a:ext cx="2514600" cy="274320"/>
          </a:xfrm>
          <a:prstGeom prst="rect">
            <a:avLst/>
          </a:prstGeom>
          <a:noFill/>
        </p:spPr>
        <p:txBody>
          <a:bodyPr wrap="square">
            <a:spAutoFit/>
          </a:bodyPr>
          <a:lstStyle/>
          <a:p>
            <a:pPr algn="l"/>
            <a:r>
              <a:rPr sz="850" b="0" i="0">
                <a:solidFill>
                  <a:srgbClr val="2D3A4A"/>
                </a:solidFill>
              </a:rPr>
              <a:t>Duke</a:t>
            </a:r>
          </a:p>
        </p:txBody>
      </p:sp>
      <p:sp>
        <p:nvSpPr>
          <p:cNvPr id="26" name="TextBox 25"/>
          <p:cNvSpPr txBox="1"/>
          <p:nvPr/>
        </p:nvSpPr>
        <p:spPr>
          <a:xfrm>
            <a:off x="2999232" y="2002536"/>
            <a:ext cx="713232" cy="274320"/>
          </a:xfrm>
          <a:prstGeom prst="rect">
            <a:avLst/>
          </a:prstGeom>
          <a:noFill/>
        </p:spPr>
        <p:txBody>
          <a:bodyPr wrap="square">
            <a:spAutoFit/>
          </a:bodyPr>
          <a:lstStyle/>
          <a:p>
            <a:pPr algn="ctr"/>
            <a:r>
              <a:rPr sz="900" b="1" i="0">
                <a:solidFill>
                  <a:srgbClr val="1E3A5F"/>
                </a:solidFill>
              </a:rPr>
              <a:t>104</a:t>
            </a:r>
          </a:p>
        </p:txBody>
      </p:sp>
      <p:sp>
        <p:nvSpPr>
          <p:cNvPr id="27" name="TextBox 26"/>
          <p:cNvSpPr txBox="1"/>
          <p:nvPr/>
        </p:nvSpPr>
        <p:spPr>
          <a:xfrm>
            <a:off x="3931920" y="2002536"/>
            <a:ext cx="713232" cy="274320"/>
          </a:xfrm>
          <a:prstGeom prst="rect">
            <a:avLst/>
          </a:prstGeom>
          <a:noFill/>
        </p:spPr>
        <p:txBody>
          <a:bodyPr wrap="square">
            <a:spAutoFit/>
          </a:bodyPr>
          <a:lstStyle/>
          <a:p>
            <a:pPr algn="ctr"/>
            <a:r>
              <a:rPr sz="850" b="0" i="0">
                <a:solidFill>
                  <a:srgbClr val="6B7280"/>
                </a:solidFill>
              </a:rPr>
              <a:t>91</a:t>
            </a:r>
          </a:p>
        </p:txBody>
      </p:sp>
      <p:sp>
        <p:nvSpPr>
          <p:cNvPr id="28" name="TextBox 27"/>
          <p:cNvSpPr txBox="1"/>
          <p:nvPr/>
        </p:nvSpPr>
        <p:spPr>
          <a:xfrm>
            <a:off x="4846320" y="2002536"/>
            <a:ext cx="713232" cy="274320"/>
          </a:xfrm>
          <a:prstGeom prst="rect">
            <a:avLst/>
          </a:prstGeom>
          <a:noFill/>
        </p:spPr>
        <p:txBody>
          <a:bodyPr wrap="square">
            <a:spAutoFit/>
          </a:bodyPr>
          <a:lstStyle/>
          <a:p>
            <a:pPr algn="ctr"/>
            <a:r>
              <a:rPr sz="900" b="1" i="0">
                <a:solidFill>
                  <a:srgbClr val="B83232"/>
                </a:solidFill>
              </a:rPr>
              <a:t>−11%</a:t>
            </a:r>
          </a:p>
        </p:txBody>
      </p:sp>
      <p:sp>
        <p:nvSpPr>
          <p:cNvPr id="29" name="Rectangle 28"/>
          <p:cNvSpPr/>
          <p:nvPr/>
        </p:nvSpPr>
        <p:spPr>
          <a:xfrm>
            <a:off x="182880" y="2322576"/>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4320" y="2350008"/>
            <a:ext cx="2514600" cy="274320"/>
          </a:xfrm>
          <a:prstGeom prst="rect">
            <a:avLst/>
          </a:prstGeom>
          <a:noFill/>
        </p:spPr>
        <p:txBody>
          <a:bodyPr wrap="square">
            <a:spAutoFit/>
          </a:bodyPr>
          <a:lstStyle/>
          <a:p>
            <a:pPr algn="l"/>
            <a:r>
              <a:rPr sz="850" b="0" i="0">
                <a:solidFill>
                  <a:srgbClr val="2D3A4A"/>
                </a:solidFill>
              </a:rPr>
              <a:t>Baylor/St. Luke's</a:t>
            </a:r>
          </a:p>
        </p:txBody>
      </p:sp>
      <p:sp>
        <p:nvSpPr>
          <p:cNvPr id="31" name="TextBox 30"/>
          <p:cNvSpPr txBox="1"/>
          <p:nvPr/>
        </p:nvSpPr>
        <p:spPr>
          <a:xfrm>
            <a:off x="2999232" y="2350008"/>
            <a:ext cx="713232" cy="274320"/>
          </a:xfrm>
          <a:prstGeom prst="rect">
            <a:avLst/>
          </a:prstGeom>
          <a:noFill/>
        </p:spPr>
        <p:txBody>
          <a:bodyPr wrap="square">
            <a:spAutoFit/>
          </a:bodyPr>
          <a:lstStyle/>
          <a:p>
            <a:pPr algn="ctr"/>
            <a:r>
              <a:rPr sz="900" b="1" i="0">
                <a:solidFill>
                  <a:srgbClr val="1E3A5F"/>
                </a:solidFill>
              </a:rPr>
              <a:t>102</a:t>
            </a:r>
          </a:p>
        </p:txBody>
      </p:sp>
      <p:sp>
        <p:nvSpPr>
          <p:cNvPr id="32" name="TextBox 31"/>
          <p:cNvSpPr txBox="1"/>
          <p:nvPr/>
        </p:nvSpPr>
        <p:spPr>
          <a:xfrm>
            <a:off x="3931920" y="2350008"/>
            <a:ext cx="713232" cy="274320"/>
          </a:xfrm>
          <a:prstGeom prst="rect">
            <a:avLst/>
          </a:prstGeom>
          <a:noFill/>
        </p:spPr>
        <p:txBody>
          <a:bodyPr wrap="square">
            <a:spAutoFit/>
          </a:bodyPr>
          <a:lstStyle/>
          <a:p>
            <a:pPr algn="ctr"/>
            <a:r>
              <a:rPr sz="850" b="0" i="0">
                <a:solidFill>
                  <a:srgbClr val="6B7280"/>
                </a:solidFill>
              </a:rPr>
              <a:t>94</a:t>
            </a:r>
          </a:p>
        </p:txBody>
      </p:sp>
      <p:sp>
        <p:nvSpPr>
          <p:cNvPr id="33" name="TextBox 32"/>
          <p:cNvSpPr txBox="1"/>
          <p:nvPr/>
        </p:nvSpPr>
        <p:spPr>
          <a:xfrm>
            <a:off x="4846320" y="2350008"/>
            <a:ext cx="713232" cy="274320"/>
          </a:xfrm>
          <a:prstGeom prst="rect">
            <a:avLst/>
          </a:prstGeom>
          <a:noFill/>
        </p:spPr>
        <p:txBody>
          <a:bodyPr wrap="square">
            <a:spAutoFit/>
          </a:bodyPr>
          <a:lstStyle/>
          <a:p>
            <a:pPr algn="ctr"/>
            <a:r>
              <a:rPr sz="900" b="1" i="0">
                <a:solidFill>
                  <a:srgbClr val="1A7A4A"/>
                </a:solidFill>
              </a:rPr>
              <a:t>+170%</a:t>
            </a:r>
          </a:p>
        </p:txBody>
      </p:sp>
      <p:sp>
        <p:nvSpPr>
          <p:cNvPr id="34" name="Rectangle 33"/>
          <p:cNvSpPr/>
          <p:nvPr/>
        </p:nvSpPr>
        <p:spPr>
          <a:xfrm>
            <a:off x="182880" y="2670048"/>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4320" y="2697480"/>
            <a:ext cx="2514600" cy="274320"/>
          </a:xfrm>
          <a:prstGeom prst="rect">
            <a:avLst/>
          </a:prstGeom>
          <a:noFill/>
        </p:spPr>
        <p:txBody>
          <a:bodyPr wrap="square">
            <a:spAutoFit/>
          </a:bodyPr>
          <a:lstStyle/>
          <a:p>
            <a:pPr algn="l"/>
            <a:r>
              <a:rPr sz="850" b="0" i="0">
                <a:solidFill>
                  <a:srgbClr val="2D3A4A"/>
                </a:solidFill>
              </a:rPr>
              <a:t>NY Presbyterian</a:t>
            </a:r>
          </a:p>
        </p:txBody>
      </p:sp>
      <p:sp>
        <p:nvSpPr>
          <p:cNvPr id="36" name="TextBox 35"/>
          <p:cNvSpPr txBox="1"/>
          <p:nvPr/>
        </p:nvSpPr>
        <p:spPr>
          <a:xfrm>
            <a:off x="2999232" y="2697480"/>
            <a:ext cx="713232" cy="274320"/>
          </a:xfrm>
          <a:prstGeom prst="rect">
            <a:avLst/>
          </a:prstGeom>
          <a:noFill/>
        </p:spPr>
        <p:txBody>
          <a:bodyPr wrap="square">
            <a:spAutoFit/>
          </a:bodyPr>
          <a:lstStyle/>
          <a:p>
            <a:pPr algn="ctr"/>
            <a:r>
              <a:rPr sz="900" b="1" i="0">
                <a:solidFill>
                  <a:srgbClr val="1E3A5F"/>
                </a:solidFill>
              </a:rPr>
              <a:t>101</a:t>
            </a:r>
          </a:p>
        </p:txBody>
      </p:sp>
      <p:sp>
        <p:nvSpPr>
          <p:cNvPr id="37" name="TextBox 36"/>
          <p:cNvSpPr txBox="1"/>
          <p:nvPr/>
        </p:nvSpPr>
        <p:spPr>
          <a:xfrm>
            <a:off x="3931920" y="2697480"/>
            <a:ext cx="713232" cy="274320"/>
          </a:xfrm>
          <a:prstGeom prst="rect">
            <a:avLst/>
          </a:prstGeom>
          <a:noFill/>
        </p:spPr>
        <p:txBody>
          <a:bodyPr wrap="square">
            <a:spAutoFit/>
          </a:bodyPr>
          <a:lstStyle/>
          <a:p>
            <a:pPr algn="ctr"/>
            <a:r>
              <a:rPr sz="850" b="0" i="0">
                <a:solidFill>
                  <a:srgbClr val="6B7280"/>
                </a:solidFill>
              </a:rPr>
              <a:t>109</a:t>
            </a:r>
          </a:p>
        </p:txBody>
      </p:sp>
      <p:sp>
        <p:nvSpPr>
          <p:cNvPr id="38" name="TextBox 37"/>
          <p:cNvSpPr txBox="1"/>
          <p:nvPr/>
        </p:nvSpPr>
        <p:spPr>
          <a:xfrm>
            <a:off x="4846320" y="2697480"/>
            <a:ext cx="713232" cy="274320"/>
          </a:xfrm>
          <a:prstGeom prst="rect">
            <a:avLst/>
          </a:prstGeom>
          <a:noFill/>
        </p:spPr>
        <p:txBody>
          <a:bodyPr wrap="square">
            <a:spAutoFit/>
          </a:bodyPr>
          <a:lstStyle/>
          <a:p>
            <a:pPr algn="ctr"/>
            <a:r>
              <a:rPr sz="900" b="1" i="0">
                <a:solidFill>
                  <a:srgbClr val="1A7A4A"/>
                </a:solidFill>
              </a:rPr>
              <a:t>+62%</a:t>
            </a:r>
          </a:p>
        </p:txBody>
      </p:sp>
      <p:sp>
        <p:nvSpPr>
          <p:cNvPr id="39" name="Rectangle 38"/>
          <p:cNvSpPr/>
          <p:nvPr/>
        </p:nvSpPr>
        <p:spPr>
          <a:xfrm>
            <a:off x="182880" y="3017520"/>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4320" y="3044952"/>
            <a:ext cx="2514600" cy="274320"/>
          </a:xfrm>
          <a:prstGeom prst="rect">
            <a:avLst/>
          </a:prstGeom>
          <a:noFill/>
        </p:spPr>
        <p:txBody>
          <a:bodyPr wrap="square">
            <a:spAutoFit/>
          </a:bodyPr>
          <a:lstStyle/>
          <a:p>
            <a:pPr algn="l"/>
            <a:r>
              <a:rPr sz="850" b="0" i="0">
                <a:solidFill>
                  <a:srgbClr val="2D3A4A"/>
                </a:solidFill>
              </a:rPr>
              <a:t>Cedars-Sinai</a:t>
            </a:r>
          </a:p>
        </p:txBody>
      </p:sp>
      <p:sp>
        <p:nvSpPr>
          <p:cNvPr id="41" name="TextBox 40"/>
          <p:cNvSpPr txBox="1"/>
          <p:nvPr/>
        </p:nvSpPr>
        <p:spPr>
          <a:xfrm>
            <a:off x="2999232" y="3044952"/>
            <a:ext cx="713232" cy="274320"/>
          </a:xfrm>
          <a:prstGeom prst="rect">
            <a:avLst/>
          </a:prstGeom>
          <a:noFill/>
        </p:spPr>
        <p:txBody>
          <a:bodyPr wrap="square">
            <a:spAutoFit/>
          </a:bodyPr>
          <a:lstStyle/>
          <a:p>
            <a:pPr algn="ctr"/>
            <a:r>
              <a:rPr sz="900" b="1" i="0">
                <a:solidFill>
                  <a:srgbClr val="1E3A5F"/>
                </a:solidFill>
              </a:rPr>
              <a:t>93</a:t>
            </a:r>
          </a:p>
        </p:txBody>
      </p:sp>
      <p:sp>
        <p:nvSpPr>
          <p:cNvPr id="42" name="TextBox 41"/>
          <p:cNvSpPr txBox="1"/>
          <p:nvPr/>
        </p:nvSpPr>
        <p:spPr>
          <a:xfrm>
            <a:off x="3931920" y="3044952"/>
            <a:ext cx="713232" cy="274320"/>
          </a:xfrm>
          <a:prstGeom prst="rect">
            <a:avLst/>
          </a:prstGeom>
          <a:noFill/>
        </p:spPr>
        <p:txBody>
          <a:bodyPr wrap="square">
            <a:spAutoFit/>
          </a:bodyPr>
          <a:lstStyle/>
          <a:p>
            <a:pPr algn="ctr"/>
            <a:r>
              <a:rPr sz="850" b="0" i="0">
                <a:solidFill>
                  <a:srgbClr val="6B7280"/>
                </a:solidFill>
              </a:rPr>
              <a:t>86</a:t>
            </a:r>
          </a:p>
        </p:txBody>
      </p:sp>
      <p:sp>
        <p:nvSpPr>
          <p:cNvPr id="43" name="TextBox 42"/>
          <p:cNvSpPr txBox="1"/>
          <p:nvPr/>
        </p:nvSpPr>
        <p:spPr>
          <a:xfrm>
            <a:off x="4846320" y="3044952"/>
            <a:ext cx="713232" cy="274320"/>
          </a:xfrm>
          <a:prstGeom prst="rect">
            <a:avLst/>
          </a:prstGeom>
          <a:noFill/>
        </p:spPr>
        <p:txBody>
          <a:bodyPr wrap="square">
            <a:spAutoFit/>
          </a:bodyPr>
          <a:lstStyle/>
          <a:p>
            <a:pPr algn="ctr"/>
            <a:r>
              <a:rPr sz="900" b="1" i="0">
                <a:solidFill>
                  <a:srgbClr val="1A7A4A"/>
                </a:solidFill>
              </a:rPr>
              <a:t>+461%</a:t>
            </a:r>
          </a:p>
        </p:txBody>
      </p:sp>
      <p:sp>
        <p:nvSpPr>
          <p:cNvPr id="44" name="Rectangle 43"/>
          <p:cNvSpPr/>
          <p:nvPr/>
        </p:nvSpPr>
        <p:spPr>
          <a:xfrm>
            <a:off x="182880" y="3364992"/>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74320" y="3392424"/>
            <a:ext cx="2514600" cy="274320"/>
          </a:xfrm>
          <a:prstGeom prst="rect">
            <a:avLst/>
          </a:prstGeom>
          <a:noFill/>
        </p:spPr>
        <p:txBody>
          <a:bodyPr wrap="square">
            <a:spAutoFit/>
          </a:bodyPr>
          <a:lstStyle/>
          <a:p>
            <a:pPr algn="l"/>
            <a:r>
              <a:rPr sz="850" b="0" i="0">
                <a:solidFill>
                  <a:srgbClr val="2D3A4A"/>
                </a:solidFill>
              </a:rPr>
              <a:t>UCSF</a:t>
            </a:r>
          </a:p>
        </p:txBody>
      </p:sp>
      <p:sp>
        <p:nvSpPr>
          <p:cNvPr id="46" name="TextBox 45"/>
          <p:cNvSpPr txBox="1"/>
          <p:nvPr/>
        </p:nvSpPr>
        <p:spPr>
          <a:xfrm>
            <a:off x="2999232" y="3392424"/>
            <a:ext cx="713232" cy="274320"/>
          </a:xfrm>
          <a:prstGeom prst="rect">
            <a:avLst/>
          </a:prstGeom>
          <a:noFill/>
        </p:spPr>
        <p:txBody>
          <a:bodyPr wrap="square">
            <a:spAutoFit/>
          </a:bodyPr>
          <a:lstStyle/>
          <a:p>
            <a:pPr algn="ctr"/>
            <a:r>
              <a:rPr sz="900" b="1" i="0">
                <a:solidFill>
                  <a:srgbClr val="1E3A5F"/>
                </a:solidFill>
              </a:rPr>
              <a:t>89</a:t>
            </a:r>
          </a:p>
        </p:txBody>
      </p:sp>
      <p:sp>
        <p:nvSpPr>
          <p:cNvPr id="47" name="TextBox 46"/>
          <p:cNvSpPr txBox="1"/>
          <p:nvPr/>
        </p:nvSpPr>
        <p:spPr>
          <a:xfrm>
            <a:off x="3931920" y="3392424"/>
            <a:ext cx="713232" cy="274320"/>
          </a:xfrm>
          <a:prstGeom prst="rect">
            <a:avLst/>
          </a:prstGeom>
          <a:noFill/>
        </p:spPr>
        <p:txBody>
          <a:bodyPr wrap="square">
            <a:spAutoFit/>
          </a:bodyPr>
          <a:lstStyle/>
          <a:p>
            <a:pPr algn="ctr"/>
            <a:r>
              <a:rPr sz="850" b="0" i="0">
                <a:solidFill>
                  <a:srgbClr val="6B7280"/>
                </a:solidFill>
              </a:rPr>
              <a:t>95</a:t>
            </a:r>
          </a:p>
        </p:txBody>
      </p:sp>
      <p:sp>
        <p:nvSpPr>
          <p:cNvPr id="48" name="TextBox 47"/>
          <p:cNvSpPr txBox="1"/>
          <p:nvPr/>
        </p:nvSpPr>
        <p:spPr>
          <a:xfrm>
            <a:off x="4846320" y="3392424"/>
            <a:ext cx="713232" cy="274320"/>
          </a:xfrm>
          <a:prstGeom prst="rect">
            <a:avLst/>
          </a:prstGeom>
          <a:noFill/>
        </p:spPr>
        <p:txBody>
          <a:bodyPr wrap="square">
            <a:spAutoFit/>
          </a:bodyPr>
          <a:lstStyle/>
          <a:p>
            <a:pPr algn="ctr"/>
            <a:r>
              <a:rPr sz="900" b="1" i="0">
                <a:solidFill>
                  <a:srgbClr val="1A7A4A"/>
                </a:solidFill>
              </a:rPr>
              <a:t>+82%</a:t>
            </a:r>
          </a:p>
        </p:txBody>
      </p:sp>
      <p:sp>
        <p:nvSpPr>
          <p:cNvPr id="49" name="Rectangle 48"/>
          <p:cNvSpPr/>
          <p:nvPr/>
        </p:nvSpPr>
        <p:spPr>
          <a:xfrm>
            <a:off x="182880" y="3712464"/>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74320" y="3739896"/>
            <a:ext cx="2514600" cy="274320"/>
          </a:xfrm>
          <a:prstGeom prst="rect">
            <a:avLst/>
          </a:prstGeom>
          <a:noFill/>
        </p:spPr>
        <p:txBody>
          <a:bodyPr wrap="square">
            <a:spAutoFit/>
          </a:bodyPr>
          <a:lstStyle/>
          <a:p>
            <a:pPr algn="l"/>
            <a:r>
              <a:rPr sz="850" b="0" i="0">
                <a:solidFill>
                  <a:srgbClr val="2D3A4A"/>
                </a:solidFill>
              </a:rPr>
              <a:t>Jackson Miami</a:t>
            </a:r>
          </a:p>
        </p:txBody>
      </p:sp>
      <p:sp>
        <p:nvSpPr>
          <p:cNvPr id="51" name="TextBox 50"/>
          <p:cNvSpPr txBox="1"/>
          <p:nvPr/>
        </p:nvSpPr>
        <p:spPr>
          <a:xfrm>
            <a:off x="2999232" y="3739896"/>
            <a:ext cx="713232" cy="274320"/>
          </a:xfrm>
          <a:prstGeom prst="rect">
            <a:avLst/>
          </a:prstGeom>
          <a:noFill/>
        </p:spPr>
        <p:txBody>
          <a:bodyPr wrap="square">
            <a:spAutoFit/>
          </a:bodyPr>
          <a:lstStyle/>
          <a:p>
            <a:pPr algn="ctr"/>
            <a:r>
              <a:rPr sz="900" b="1" i="0">
                <a:solidFill>
                  <a:srgbClr val="1E3A5F"/>
                </a:solidFill>
              </a:rPr>
              <a:t>85</a:t>
            </a:r>
          </a:p>
        </p:txBody>
      </p:sp>
      <p:sp>
        <p:nvSpPr>
          <p:cNvPr id="52" name="TextBox 51"/>
          <p:cNvSpPr txBox="1"/>
          <p:nvPr/>
        </p:nvSpPr>
        <p:spPr>
          <a:xfrm>
            <a:off x="3931920" y="3739896"/>
            <a:ext cx="713232" cy="274320"/>
          </a:xfrm>
          <a:prstGeom prst="rect">
            <a:avLst/>
          </a:prstGeom>
          <a:noFill/>
        </p:spPr>
        <p:txBody>
          <a:bodyPr wrap="square">
            <a:spAutoFit/>
          </a:bodyPr>
          <a:lstStyle/>
          <a:p>
            <a:pPr algn="ctr"/>
            <a:r>
              <a:rPr sz="850" b="0" i="0">
                <a:solidFill>
                  <a:srgbClr val="6B7280"/>
                </a:solidFill>
              </a:rPr>
              <a:t>75</a:t>
            </a:r>
          </a:p>
        </p:txBody>
      </p:sp>
      <p:sp>
        <p:nvSpPr>
          <p:cNvPr id="53" name="TextBox 52"/>
          <p:cNvSpPr txBox="1"/>
          <p:nvPr/>
        </p:nvSpPr>
        <p:spPr>
          <a:xfrm>
            <a:off x="4846320" y="3739896"/>
            <a:ext cx="713232" cy="274320"/>
          </a:xfrm>
          <a:prstGeom prst="rect">
            <a:avLst/>
          </a:prstGeom>
          <a:noFill/>
        </p:spPr>
        <p:txBody>
          <a:bodyPr wrap="square">
            <a:spAutoFit/>
          </a:bodyPr>
          <a:lstStyle/>
          <a:p>
            <a:pPr algn="ctr"/>
            <a:r>
              <a:rPr sz="900" b="1" i="0">
                <a:solidFill>
                  <a:srgbClr val="1A7A4A"/>
                </a:solidFill>
              </a:rPr>
              <a:t>+433%</a:t>
            </a:r>
          </a:p>
        </p:txBody>
      </p:sp>
      <p:sp>
        <p:nvSpPr>
          <p:cNvPr id="54" name="Rectangle 53"/>
          <p:cNvSpPr/>
          <p:nvPr/>
        </p:nvSpPr>
        <p:spPr>
          <a:xfrm>
            <a:off x="182880" y="4059935"/>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4320" y="4087368"/>
            <a:ext cx="2514600" cy="274320"/>
          </a:xfrm>
          <a:prstGeom prst="rect">
            <a:avLst/>
          </a:prstGeom>
          <a:noFill/>
        </p:spPr>
        <p:txBody>
          <a:bodyPr wrap="square">
            <a:spAutoFit/>
          </a:bodyPr>
          <a:lstStyle/>
          <a:p>
            <a:pPr algn="l"/>
            <a:r>
              <a:rPr sz="850" b="0" i="0">
                <a:solidFill>
                  <a:srgbClr val="2D3A4A"/>
                </a:solidFill>
              </a:rPr>
              <a:t>Mass General</a:t>
            </a:r>
          </a:p>
        </p:txBody>
      </p:sp>
      <p:sp>
        <p:nvSpPr>
          <p:cNvPr id="56" name="TextBox 55"/>
          <p:cNvSpPr txBox="1"/>
          <p:nvPr/>
        </p:nvSpPr>
        <p:spPr>
          <a:xfrm>
            <a:off x="2999232" y="4087368"/>
            <a:ext cx="713232" cy="274320"/>
          </a:xfrm>
          <a:prstGeom prst="rect">
            <a:avLst/>
          </a:prstGeom>
          <a:noFill/>
        </p:spPr>
        <p:txBody>
          <a:bodyPr wrap="square">
            <a:spAutoFit/>
          </a:bodyPr>
          <a:lstStyle/>
          <a:p>
            <a:pPr algn="ctr"/>
            <a:r>
              <a:rPr sz="900" b="1" i="0">
                <a:solidFill>
                  <a:srgbClr val="1E3A5F"/>
                </a:solidFill>
              </a:rPr>
              <a:t>84</a:t>
            </a:r>
          </a:p>
        </p:txBody>
      </p:sp>
      <p:sp>
        <p:nvSpPr>
          <p:cNvPr id="57" name="TextBox 56"/>
          <p:cNvSpPr txBox="1"/>
          <p:nvPr/>
        </p:nvSpPr>
        <p:spPr>
          <a:xfrm>
            <a:off x="3931920" y="4087368"/>
            <a:ext cx="713232" cy="274320"/>
          </a:xfrm>
          <a:prstGeom prst="rect">
            <a:avLst/>
          </a:prstGeom>
          <a:noFill/>
        </p:spPr>
        <p:txBody>
          <a:bodyPr wrap="square">
            <a:spAutoFit/>
          </a:bodyPr>
          <a:lstStyle/>
          <a:p>
            <a:pPr algn="ctr"/>
            <a:r>
              <a:rPr sz="850" b="0" i="0">
                <a:solidFill>
                  <a:srgbClr val="6B7280"/>
                </a:solidFill>
              </a:rPr>
              <a:t>68</a:t>
            </a:r>
          </a:p>
        </p:txBody>
      </p:sp>
      <p:sp>
        <p:nvSpPr>
          <p:cNvPr id="58" name="TextBox 57"/>
          <p:cNvSpPr txBox="1"/>
          <p:nvPr/>
        </p:nvSpPr>
        <p:spPr>
          <a:xfrm>
            <a:off x="4846320" y="4087368"/>
            <a:ext cx="713232" cy="274320"/>
          </a:xfrm>
          <a:prstGeom prst="rect">
            <a:avLst/>
          </a:prstGeom>
          <a:noFill/>
        </p:spPr>
        <p:txBody>
          <a:bodyPr wrap="square">
            <a:spAutoFit/>
          </a:bodyPr>
          <a:lstStyle/>
          <a:p>
            <a:pPr algn="ctr"/>
            <a:r>
              <a:rPr sz="900" b="1" i="0">
                <a:solidFill>
                  <a:srgbClr val="1A7A4A"/>
                </a:solidFill>
              </a:rPr>
              <a:t>+123%</a:t>
            </a:r>
          </a:p>
        </p:txBody>
      </p:sp>
      <p:sp>
        <p:nvSpPr>
          <p:cNvPr id="59" name="TextBox 58"/>
          <p:cNvSpPr txBox="1"/>
          <p:nvPr/>
        </p:nvSpPr>
        <p:spPr>
          <a:xfrm>
            <a:off x="5852160" y="566928"/>
            <a:ext cx="6126480" cy="347472"/>
          </a:xfrm>
          <a:prstGeom prst="rect">
            <a:avLst/>
          </a:prstGeom>
          <a:noFill/>
        </p:spPr>
        <p:txBody>
          <a:bodyPr wrap="square">
            <a:spAutoFit/>
          </a:bodyPr>
          <a:lstStyle/>
          <a:p>
            <a:pPr algn="l"/>
            <a:r>
              <a:rPr sz="1000" b="1" i="0">
                <a:solidFill>
                  <a:srgbClr val="B83232"/>
                </a:solidFill>
              </a:rPr>
              <a:t>DOUBLE LOSERS</a:t>
            </a:r>
          </a:p>
        </p:txBody>
      </p:sp>
      <p:sp>
        <p:nvSpPr>
          <p:cNvPr id="60" name="Rectangle 59"/>
          <p:cNvSpPr/>
          <p:nvPr/>
        </p:nvSpPr>
        <p:spPr>
          <a:xfrm>
            <a:off x="5852160" y="960120"/>
            <a:ext cx="6144768" cy="1316736"/>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5852160" y="960120"/>
            <a:ext cx="64008" cy="131673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035040" y="1005840"/>
            <a:ext cx="2926080" cy="347472"/>
          </a:xfrm>
          <a:prstGeom prst="rect">
            <a:avLst/>
          </a:prstGeom>
          <a:noFill/>
        </p:spPr>
        <p:txBody>
          <a:bodyPr wrap="square">
            <a:spAutoFit/>
          </a:bodyPr>
          <a:lstStyle/>
          <a:p>
            <a:pPr algn="l"/>
            <a:r>
              <a:rPr sz="950" b="1" i="0">
                <a:solidFill>
                  <a:srgbClr val="B83232"/>
                </a:solidFill>
              </a:rPr>
              <a:t>Ochsner (LA)</a:t>
            </a:r>
          </a:p>
        </p:txBody>
      </p:sp>
      <p:sp>
        <p:nvSpPr>
          <p:cNvPr id="63" name="TextBox 62"/>
          <p:cNvSpPr txBox="1"/>
          <p:nvPr/>
        </p:nvSpPr>
        <p:spPr>
          <a:xfrm>
            <a:off x="9006840" y="1005840"/>
            <a:ext cx="1234440" cy="347472"/>
          </a:xfrm>
          <a:prstGeom prst="rect">
            <a:avLst/>
          </a:prstGeom>
          <a:noFill/>
        </p:spPr>
        <p:txBody>
          <a:bodyPr wrap="square">
            <a:spAutoFit/>
          </a:bodyPr>
          <a:lstStyle/>
          <a:p>
            <a:pPr algn="ctr"/>
            <a:r>
              <a:rPr sz="900" b="0" i="0">
                <a:solidFill>
                  <a:srgbClr val="2D3A4A"/>
                </a:solidFill>
              </a:rPr>
              <a:t>31→10 avg</a:t>
            </a:r>
          </a:p>
        </p:txBody>
      </p:sp>
      <p:sp>
        <p:nvSpPr>
          <p:cNvPr id="64" name="TextBox 63"/>
          <p:cNvSpPr txBox="1"/>
          <p:nvPr/>
        </p:nvSpPr>
        <p:spPr>
          <a:xfrm>
            <a:off x="10314432" y="1005840"/>
            <a:ext cx="640080" cy="347472"/>
          </a:xfrm>
          <a:prstGeom prst="rect">
            <a:avLst/>
          </a:prstGeom>
          <a:noFill/>
        </p:spPr>
        <p:txBody>
          <a:bodyPr wrap="square">
            <a:spAutoFit/>
          </a:bodyPr>
          <a:lstStyle/>
          <a:p>
            <a:pPr algn="ctr"/>
            <a:r>
              <a:rPr sz="1000" b="1" i="0">
                <a:solidFill>
                  <a:srgbClr val="B83232"/>
                </a:solidFill>
              </a:rPr>
              <a:t>−69%</a:t>
            </a:r>
          </a:p>
        </p:txBody>
      </p:sp>
      <p:sp>
        <p:nvSpPr>
          <p:cNvPr id="65" name="TextBox 64"/>
          <p:cNvSpPr txBox="1"/>
          <p:nvPr/>
        </p:nvSpPr>
        <p:spPr>
          <a:xfrm>
            <a:off x="6035040" y="1335024"/>
            <a:ext cx="5833872" cy="822960"/>
          </a:xfrm>
          <a:prstGeom prst="rect">
            <a:avLst/>
          </a:prstGeom>
          <a:noFill/>
        </p:spPr>
        <p:txBody>
          <a:bodyPr wrap="square">
            <a:spAutoFit/>
          </a:bodyPr>
          <a:lstStyle/>
          <a:p>
            <a:pPr algn="l"/>
            <a:r>
              <a:rPr sz="850" b="0" i="0">
                <a:solidFill>
                  <a:srgbClr val="6B7280"/>
                </a:solidFill>
              </a:rPr>
              <a:t>Below quality threshold, but rebounding: 17 in Jan–Sep 2026 (~23/yr pace) vs 14 in 2025.</a:t>
            </a:r>
          </a:p>
        </p:txBody>
      </p:sp>
      <p:sp>
        <p:nvSpPr>
          <p:cNvPr id="66" name="Rectangle 65"/>
          <p:cNvSpPr/>
          <p:nvPr/>
        </p:nvSpPr>
        <p:spPr>
          <a:xfrm>
            <a:off x="5852160" y="2350008"/>
            <a:ext cx="6144768" cy="1316736"/>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852160" y="2350008"/>
            <a:ext cx="64008" cy="131673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035040" y="2395728"/>
            <a:ext cx="2926080" cy="347472"/>
          </a:xfrm>
          <a:prstGeom prst="rect">
            <a:avLst/>
          </a:prstGeom>
          <a:noFill/>
        </p:spPr>
        <p:txBody>
          <a:bodyPr wrap="square">
            <a:spAutoFit/>
          </a:bodyPr>
          <a:lstStyle/>
          <a:p>
            <a:pPr algn="l"/>
            <a:r>
              <a:rPr sz="950" b="1" i="0">
                <a:solidFill>
                  <a:srgbClr val="B83232"/>
                </a:solidFill>
              </a:rPr>
              <a:t>Penn/HUP (PA)</a:t>
            </a:r>
          </a:p>
        </p:txBody>
      </p:sp>
      <p:sp>
        <p:nvSpPr>
          <p:cNvPr id="69" name="TextBox 68"/>
          <p:cNvSpPr txBox="1"/>
          <p:nvPr/>
        </p:nvSpPr>
        <p:spPr>
          <a:xfrm>
            <a:off x="9006840" y="2395728"/>
            <a:ext cx="1234440" cy="347472"/>
          </a:xfrm>
          <a:prstGeom prst="rect">
            <a:avLst/>
          </a:prstGeom>
          <a:noFill/>
        </p:spPr>
        <p:txBody>
          <a:bodyPr wrap="square">
            <a:spAutoFit/>
          </a:bodyPr>
          <a:lstStyle/>
          <a:p>
            <a:pPr algn="ctr"/>
            <a:r>
              <a:rPr sz="900" b="0" i="0">
                <a:solidFill>
                  <a:srgbClr val="2D3A4A"/>
                </a:solidFill>
              </a:rPr>
              <a:t>86→59 avg</a:t>
            </a:r>
          </a:p>
        </p:txBody>
      </p:sp>
      <p:sp>
        <p:nvSpPr>
          <p:cNvPr id="70" name="TextBox 69"/>
          <p:cNvSpPr txBox="1"/>
          <p:nvPr/>
        </p:nvSpPr>
        <p:spPr>
          <a:xfrm>
            <a:off x="10314432" y="2395728"/>
            <a:ext cx="640080" cy="347472"/>
          </a:xfrm>
          <a:prstGeom prst="rect">
            <a:avLst/>
          </a:prstGeom>
          <a:noFill/>
        </p:spPr>
        <p:txBody>
          <a:bodyPr wrap="square">
            <a:spAutoFit/>
          </a:bodyPr>
          <a:lstStyle/>
          <a:p>
            <a:pPr algn="ctr"/>
            <a:r>
              <a:rPr sz="1000" b="1" i="0">
                <a:solidFill>
                  <a:srgbClr val="B83232"/>
                </a:solidFill>
              </a:rPr>
              <a:t>−31%</a:t>
            </a:r>
          </a:p>
        </p:txBody>
      </p:sp>
      <p:sp>
        <p:nvSpPr>
          <p:cNvPr id="71" name="TextBox 70"/>
          <p:cNvSpPr txBox="1"/>
          <p:nvPr/>
        </p:nvSpPr>
        <p:spPr>
          <a:xfrm>
            <a:off x="6035040" y="2724912"/>
            <a:ext cx="5833872" cy="822960"/>
          </a:xfrm>
          <a:prstGeom prst="rect">
            <a:avLst/>
          </a:prstGeom>
          <a:noFill/>
        </p:spPr>
        <p:txBody>
          <a:bodyPr wrap="square">
            <a:spAutoFit/>
          </a:bodyPr>
          <a:lstStyle/>
          <a:p>
            <a:pPr algn="l"/>
            <a:r>
              <a:rPr sz="850" b="0" i="0">
                <a:solidFill>
                  <a:srgbClr val="6B7280"/>
                </a:solidFill>
              </a:rPr>
              <a:t>Temple (same city, #1 national) dominates on CAS urgency score; Penn loses intra-city share.</a:t>
            </a:r>
          </a:p>
        </p:txBody>
      </p:sp>
      <p:sp>
        <p:nvSpPr>
          <p:cNvPr id="72" name="Rectangle 71"/>
          <p:cNvSpPr/>
          <p:nvPr/>
        </p:nvSpPr>
        <p:spPr>
          <a:xfrm>
            <a:off x="5852160" y="3739896"/>
            <a:ext cx="6144768" cy="1316736"/>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852160" y="3739896"/>
            <a:ext cx="64008" cy="131673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035040" y="3785616"/>
            <a:ext cx="2926080" cy="347472"/>
          </a:xfrm>
          <a:prstGeom prst="rect">
            <a:avLst/>
          </a:prstGeom>
          <a:noFill/>
        </p:spPr>
        <p:txBody>
          <a:bodyPr wrap="square">
            <a:spAutoFit/>
          </a:bodyPr>
          <a:lstStyle/>
          <a:p>
            <a:pPr algn="l"/>
            <a:r>
              <a:rPr sz="950" b="1" i="0">
                <a:solidFill>
                  <a:srgbClr val="B83232"/>
                </a:solidFill>
              </a:rPr>
              <a:t>Barnes-Jewish (MO)</a:t>
            </a:r>
          </a:p>
        </p:txBody>
      </p:sp>
      <p:sp>
        <p:nvSpPr>
          <p:cNvPr id="75" name="TextBox 74"/>
          <p:cNvSpPr txBox="1"/>
          <p:nvPr/>
        </p:nvSpPr>
        <p:spPr>
          <a:xfrm>
            <a:off x="9006840" y="3785616"/>
            <a:ext cx="1234440" cy="347472"/>
          </a:xfrm>
          <a:prstGeom prst="rect">
            <a:avLst/>
          </a:prstGeom>
          <a:noFill/>
        </p:spPr>
        <p:txBody>
          <a:bodyPr wrap="square">
            <a:spAutoFit/>
          </a:bodyPr>
          <a:lstStyle/>
          <a:p>
            <a:pPr algn="ctr"/>
            <a:r>
              <a:rPr sz="900" b="0" i="0">
                <a:solidFill>
                  <a:srgbClr val="2D3A4A"/>
                </a:solidFill>
              </a:rPr>
              <a:t>82→63 avg</a:t>
            </a:r>
          </a:p>
        </p:txBody>
      </p:sp>
      <p:sp>
        <p:nvSpPr>
          <p:cNvPr id="76" name="TextBox 75"/>
          <p:cNvSpPr txBox="1"/>
          <p:nvPr/>
        </p:nvSpPr>
        <p:spPr>
          <a:xfrm>
            <a:off x="10314432" y="3785616"/>
            <a:ext cx="640080" cy="347472"/>
          </a:xfrm>
          <a:prstGeom prst="rect">
            <a:avLst/>
          </a:prstGeom>
          <a:noFill/>
        </p:spPr>
        <p:txBody>
          <a:bodyPr wrap="square">
            <a:spAutoFit/>
          </a:bodyPr>
          <a:lstStyle/>
          <a:p>
            <a:pPr algn="ctr"/>
            <a:r>
              <a:rPr sz="1000" b="1" i="0">
                <a:solidFill>
                  <a:srgbClr val="B83232"/>
                </a:solidFill>
              </a:rPr>
              <a:t>−22%</a:t>
            </a:r>
          </a:p>
        </p:txBody>
      </p:sp>
      <p:sp>
        <p:nvSpPr>
          <p:cNvPr id="77" name="TextBox 76"/>
          <p:cNvSpPr txBox="1"/>
          <p:nvPr/>
        </p:nvSpPr>
        <p:spPr>
          <a:xfrm>
            <a:off x="6035040" y="4114800"/>
            <a:ext cx="5833872" cy="822960"/>
          </a:xfrm>
          <a:prstGeom prst="rect">
            <a:avLst/>
          </a:prstGeom>
          <a:noFill/>
        </p:spPr>
        <p:txBody>
          <a:bodyPr wrap="square">
            <a:spAutoFit/>
          </a:bodyPr>
          <a:lstStyle/>
          <a:p>
            <a:pPr algn="l"/>
            <a:r>
              <a:rPr sz="850" b="0" i="0">
                <a:solidFill>
                  <a:srgbClr val="6B7280"/>
                </a:solidFill>
              </a:rPr>
              <a:t>Midwest OPO geographic premium eliminated; acuity scoring doesn't compensate.</a:t>
            </a:r>
          </a:p>
        </p:txBody>
      </p:sp>
      <p:sp>
        <p:nvSpPr>
          <p:cNvPr id="78" name="Rectangle 77"/>
          <p:cNvSpPr/>
          <p:nvPr/>
        </p:nvSpPr>
        <p:spPr>
          <a:xfrm>
            <a:off x="5852160" y="5129784"/>
            <a:ext cx="6144768" cy="1316736"/>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5852160" y="5129784"/>
            <a:ext cx="64008" cy="131673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035040" y="5175504"/>
            <a:ext cx="2926080" cy="347472"/>
          </a:xfrm>
          <a:prstGeom prst="rect">
            <a:avLst/>
          </a:prstGeom>
          <a:noFill/>
        </p:spPr>
        <p:txBody>
          <a:bodyPr wrap="square">
            <a:spAutoFit/>
          </a:bodyPr>
          <a:lstStyle/>
          <a:p>
            <a:pPr algn="l"/>
            <a:r>
              <a:rPr sz="950" b="1" i="0">
                <a:solidFill>
                  <a:srgbClr val="B83232"/>
                </a:solidFill>
              </a:rPr>
              <a:t>Univ. Chicago (IL)</a:t>
            </a:r>
          </a:p>
        </p:txBody>
      </p:sp>
      <p:sp>
        <p:nvSpPr>
          <p:cNvPr id="81" name="TextBox 80"/>
          <p:cNvSpPr txBox="1"/>
          <p:nvPr/>
        </p:nvSpPr>
        <p:spPr>
          <a:xfrm>
            <a:off x="9006840" y="5175504"/>
            <a:ext cx="1234440" cy="347472"/>
          </a:xfrm>
          <a:prstGeom prst="rect">
            <a:avLst/>
          </a:prstGeom>
          <a:noFill/>
        </p:spPr>
        <p:txBody>
          <a:bodyPr wrap="square">
            <a:spAutoFit/>
          </a:bodyPr>
          <a:lstStyle/>
          <a:p>
            <a:pPr algn="ctr"/>
            <a:r>
              <a:rPr sz="900" b="0" i="0">
                <a:solidFill>
                  <a:srgbClr val="2D3A4A"/>
                </a:solidFill>
              </a:rPr>
              <a:t>21→12 avg</a:t>
            </a:r>
          </a:p>
        </p:txBody>
      </p:sp>
      <p:sp>
        <p:nvSpPr>
          <p:cNvPr id="82" name="TextBox 81"/>
          <p:cNvSpPr txBox="1"/>
          <p:nvPr/>
        </p:nvSpPr>
        <p:spPr>
          <a:xfrm>
            <a:off x="10314432" y="5175504"/>
            <a:ext cx="640080" cy="347472"/>
          </a:xfrm>
          <a:prstGeom prst="rect">
            <a:avLst/>
          </a:prstGeom>
          <a:noFill/>
        </p:spPr>
        <p:txBody>
          <a:bodyPr wrap="square">
            <a:spAutoFit/>
          </a:bodyPr>
          <a:lstStyle/>
          <a:p>
            <a:pPr algn="ctr"/>
            <a:r>
              <a:rPr sz="1000" b="1" i="0">
                <a:solidFill>
                  <a:srgbClr val="B83232"/>
                </a:solidFill>
              </a:rPr>
              <a:t>−42%</a:t>
            </a:r>
          </a:p>
        </p:txBody>
      </p:sp>
      <p:sp>
        <p:nvSpPr>
          <p:cNvPr id="83" name="TextBox 82"/>
          <p:cNvSpPr txBox="1"/>
          <p:nvPr/>
        </p:nvSpPr>
        <p:spPr>
          <a:xfrm>
            <a:off x="6035040" y="5504688"/>
            <a:ext cx="5833872" cy="822960"/>
          </a:xfrm>
          <a:prstGeom prst="rect">
            <a:avLst/>
          </a:prstGeom>
          <a:noFill/>
        </p:spPr>
        <p:txBody>
          <a:bodyPr wrap="square">
            <a:spAutoFit/>
          </a:bodyPr>
          <a:lstStyle/>
          <a:p>
            <a:pPr algn="l"/>
            <a:r>
              <a:rPr sz="850" b="0" i="0">
                <a:solidFill>
                  <a:srgbClr val="6B7280"/>
                </a:solidFill>
              </a:rPr>
              <a:t>Loyola in same metro — neither policy rewarded Chicago's geographic position.</a:t>
            </a:r>
          </a:p>
        </p:txBody>
      </p:sp>
      <p:sp>
        <p:nvSpPr>
          <p:cNvPr id="84" name="Rectangle 83"/>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Top Centers &amp; Double Losers</a:t>
            </a:r>
          </a:p>
        </p:txBody>
      </p:sp>
      <p:sp>
        <p:nvSpPr>
          <p:cNvPr id="86" name="TextBox 85"/>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8</a:t>
            </a:r>
          </a:p>
        </p:txBody>
      </p:sp>
    </p:spTree>
    <p:extLst>
      <p:ext uri="{BB962C8B-B14F-4D97-AF65-F5344CB8AC3E}">
        <p14:creationId xmlns:p14="http://schemas.microsoft.com/office/powerpoint/2010/main" val="1528387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880360"/>
            <a:ext cx="12188952" cy="64008"/>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94360"/>
            <a:ext cx="11247120" cy="822960"/>
          </a:xfrm>
          <a:prstGeom prst="rect">
            <a:avLst/>
          </a:prstGeom>
          <a:noFill/>
        </p:spPr>
        <p:txBody>
          <a:bodyPr wrap="square">
            <a:spAutoFit/>
          </a:bodyPr>
          <a:lstStyle/>
          <a:p>
            <a:pPr algn="ctr"/>
            <a:r>
              <a:rPr sz="5000" b="1" i="0" dirty="0">
                <a:solidFill>
                  <a:srgbClr val="9BC4E2"/>
                </a:solidFill>
              </a:rPr>
              <a:t>PART 2</a:t>
            </a:r>
          </a:p>
        </p:txBody>
      </p:sp>
      <p:sp>
        <p:nvSpPr>
          <p:cNvPr id="5" name="TextBox 4"/>
          <p:cNvSpPr txBox="1"/>
          <p:nvPr/>
        </p:nvSpPr>
        <p:spPr>
          <a:xfrm>
            <a:off x="457200" y="1417320"/>
            <a:ext cx="11247120" cy="868680"/>
          </a:xfrm>
          <a:prstGeom prst="rect">
            <a:avLst/>
          </a:prstGeom>
          <a:noFill/>
        </p:spPr>
        <p:txBody>
          <a:bodyPr wrap="square">
            <a:spAutoFit/>
          </a:bodyPr>
          <a:lstStyle/>
          <a:p>
            <a:pPr algn="ctr"/>
            <a:r>
              <a:rPr sz="3400" b="1" i="0">
                <a:solidFill>
                  <a:srgbClr val="FFFFFF"/>
                </a:solidFill>
              </a:rPr>
              <a:t>ALUA Program Analysis</a:t>
            </a:r>
          </a:p>
        </p:txBody>
      </p:sp>
      <p:sp>
        <p:nvSpPr>
          <p:cNvPr id="6" name="TextBox 5"/>
          <p:cNvSpPr txBox="1"/>
          <p:nvPr/>
        </p:nvSpPr>
        <p:spPr>
          <a:xfrm>
            <a:off x="457200" y="2286000"/>
            <a:ext cx="11247120" cy="457200"/>
          </a:xfrm>
          <a:prstGeom prst="rect">
            <a:avLst/>
          </a:prstGeom>
          <a:noFill/>
        </p:spPr>
        <p:txBody>
          <a:bodyPr wrap="square">
            <a:spAutoFit/>
          </a:bodyPr>
          <a:lstStyle/>
          <a:p>
            <a:pPr algn="ctr"/>
            <a:r>
              <a:rPr sz="1300" b="0" i="0">
                <a:solidFill>
                  <a:srgbClr val="9BC4E2"/>
                </a:solidFill>
              </a:rPr>
              <a:t>University of Alabama Hospital  ·  Center Code: ALUA  ·  Birmingham, Alabama</a:t>
            </a:r>
          </a:p>
        </p:txBody>
      </p:sp>
      <p:sp>
        <p:nvSpPr>
          <p:cNvPr id="7" name="Rectangle 6"/>
          <p:cNvSpPr/>
          <p:nvPr/>
        </p:nvSpPr>
        <p:spPr>
          <a:xfrm>
            <a:off x="91440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218688"/>
            <a:ext cx="1920240" cy="553212"/>
          </a:xfrm>
          <a:prstGeom prst="rect">
            <a:avLst/>
          </a:prstGeom>
          <a:noFill/>
        </p:spPr>
        <p:txBody>
          <a:bodyPr wrap="square">
            <a:spAutoFit/>
          </a:bodyPr>
          <a:lstStyle/>
          <a:p>
            <a:pPr algn="ctr"/>
            <a:r>
              <a:rPr sz="2100" b="1" i="0">
                <a:solidFill>
                  <a:srgbClr val="FFFFFF"/>
                </a:solidFill>
              </a:rPr>
              <a:t>31</a:t>
            </a:r>
          </a:p>
        </p:txBody>
      </p:sp>
      <p:sp>
        <p:nvSpPr>
          <p:cNvPr id="9" name="TextBox 8"/>
          <p:cNvSpPr txBox="1"/>
          <p:nvPr/>
        </p:nvSpPr>
        <p:spPr>
          <a:xfrm>
            <a:off x="914400" y="3593592"/>
            <a:ext cx="1920240" cy="422452"/>
          </a:xfrm>
          <a:prstGeom prst="rect">
            <a:avLst/>
          </a:prstGeom>
          <a:noFill/>
        </p:spPr>
        <p:txBody>
          <a:bodyPr wrap="square">
            <a:spAutoFit/>
          </a:bodyPr>
          <a:lstStyle/>
          <a:p>
            <a:pPr algn="ctr"/>
            <a:r>
              <a:rPr sz="850" b="0" i="0">
                <a:solidFill>
                  <a:srgbClr val="C8DEF5"/>
                </a:solidFill>
              </a:rPr>
              <a:t>2025 Volume</a:t>
            </a:r>
          </a:p>
        </p:txBody>
      </p:sp>
      <p:sp>
        <p:nvSpPr>
          <p:cNvPr id="10" name="Rectangle 9"/>
          <p:cNvSpPr/>
          <p:nvPr/>
        </p:nvSpPr>
        <p:spPr>
          <a:xfrm>
            <a:off x="301752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17520" y="3218688"/>
            <a:ext cx="1920240" cy="553212"/>
          </a:xfrm>
          <a:prstGeom prst="rect">
            <a:avLst/>
          </a:prstGeom>
          <a:noFill/>
        </p:spPr>
        <p:txBody>
          <a:bodyPr wrap="square">
            <a:spAutoFit/>
          </a:bodyPr>
          <a:lstStyle/>
          <a:p>
            <a:pPr algn="ctr"/>
            <a:r>
              <a:rPr sz="2100" b="1" i="0">
                <a:solidFill>
                  <a:srgbClr val="FFFFFF"/>
                </a:solidFill>
              </a:rPr>
              <a:t>90.5%</a:t>
            </a:r>
          </a:p>
        </p:txBody>
      </p:sp>
      <p:sp>
        <p:nvSpPr>
          <p:cNvPr id="12" name="TextBox 11"/>
          <p:cNvSpPr txBox="1"/>
          <p:nvPr/>
        </p:nvSpPr>
        <p:spPr>
          <a:xfrm>
            <a:off x="3017520" y="3593592"/>
            <a:ext cx="1920240" cy="422452"/>
          </a:xfrm>
          <a:prstGeom prst="rect">
            <a:avLst/>
          </a:prstGeom>
          <a:noFill/>
        </p:spPr>
        <p:txBody>
          <a:bodyPr wrap="square">
            <a:spAutoFit/>
          </a:bodyPr>
          <a:lstStyle/>
          <a:p>
            <a:pPr algn="ctr"/>
            <a:r>
              <a:rPr sz="850" b="0" i="0">
                <a:solidFill>
                  <a:srgbClr val="C8DEF5"/>
                </a:solidFill>
              </a:rPr>
              <a:t>1-yr Survival (PSR Jul '26)</a:t>
            </a:r>
          </a:p>
        </p:txBody>
      </p:sp>
      <p:sp>
        <p:nvSpPr>
          <p:cNvPr id="13" name="Rectangle 12"/>
          <p:cNvSpPr/>
          <p:nvPr/>
        </p:nvSpPr>
        <p:spPr>
          <a:xfrm>
            <a:off x="512064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20640" y="3218688"/>
            <a:ext cx="1920240" cy="553212"/>
          </a:xfrm>
          <a:prstGeom prst="rect">
            <a:avLst/>
          </a:prstGeom>
          <a:noFill/>
        </p:spPr>
        <p:txBody>
          <a:bodyPr wrap="square">
            <a:spAutoFit/>
          </a:bodyPr>
          <a:lstStyle/>
          <a:p>
            <a:pPr algn="ctr"/>
            <a:r>
              <a:rPr sz="2100" b="1" i="0">
                <a:solidFill>
                  <a:srgbClr val="FFFFFF"/>
                </a:solidFill>
              </a:rPr>
              <a:t>1.13</a:t>
            </a:r>
          </a:p>
        </p:txBody>
      </p:sp>
      <p:sp>
        <p:nvSpPr>
          <p:cNvPr id="15" name="TextBox 14"/>
          <p:cNvSpPr txBox="1"/>
          <p:nvPr/>
        </p:nvSpPr>
        <p:spPr>
          <a:xfrm>
            <a:off x="5120640" y="3593592"/>
            <a:ext cx="1920240" cy="422452"/>
          </a:xfrm>
          <a:prstGeom prst="rect">
            <a:avLst/>
          </a:prstGeom>
          <a:noFill/>
        </p:spPr>
        <p:txBody>
          <a:bodyPr wrap="square">
            <a:spAutoFit/>
          </a:bodyPr>
          <a:lstStyle/>
          <a:p>
            <a:pPr algn="ctr"/>
            <a:r>
              <a:rPr sz="850" b="0" i="0">
                <a:solidFill>
                  <a:srgbClr val="C8DEF5"/>
                </a:solidFill>
              </a:rPr>
              <a:t>PSR Jul 2026 1-yr HR</a:t>
            </a:r>
          </a:p>
        </p:txBody>
      </p:sp>
      <p:sp>
        <p:nvSpPr>
          <p:cNvPr id="16" name="Rectangle 15"/>
          <p:cNvSpPr/>
          <p:nvPr/>
        </p:nvSpPr>
        <p:spPr>
          <a:xfrm>
            <a:off x="722376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60" y="3218688"/>
            <a:ext cx="1920240" cy="553212"/>
          </a:xfrm>
          <a:prstGeom prst="rect">
            <a:avLst/>
          </a:prstGeom>
          <a:noFill/>
        </p:spPr>
        <p:txBody>
          <a:bodyPr wrap="square">
            <a:spAutoFit/>
          </a:bodyPr>
          <a:lstStyle/>
          <a:p>
            <a:pPr algn="ctr"/>
            <a:r>
              <a:rPr sz="2100" b="1" i="0">
                <a:solidFill>
                  <a:srgbClr val="FFFFFF"/>
                </a:solidFill>
              </a:rPr>
              <a:t>1.23</a:t>
            </a:r>
          </a:p>
        </p:txBody>
      </p:sp>
      <p:sp>
        <p:nvSpPr>
          <p:cNvPr id="18" name="TextBox 17"/>
          <p:cNvSpPr txBox="1"/>
          <p:nvPr/>
        </p:nvSpPr>
        <p:spPr>
          <a:xfrm>
            <a:off x="7223760" y="3593592"/>
            <a:ext cx="1920240" cy="422452"/>
          </a:xfrm>
          <a:prstGeom prst="rect">
            <a:avLst/>
          </a:prstGeom>
          <a:noFill/>
        </p:spPr>
        <p:txBody>
          <a:bodyPr wrap="square">
            <a:spAutoFit/>
          </a:bodyPr>
          <a:lstStyle/>
          <a:p>
            <a:pPr algn="ctr"/>
            <a:r>
              <a:rPr sz="850" b="0" i="0">
                <a:solidFill>
                  <a:srgbClr val="C8DEF5"/>
                </a:solidFill>
              </a:rPr>
              <a:t>Offer Accept Ratio (Jan–Aug '26)</a:t>
            </a:r>
          </a:p>
        </p:txBody>
      </p:sp>
      <p:sp>
        <p:nvSpPr>
          <p:cNvPr id="19" name="Rectangle 18"/>
          <p:cNvSpPr/>
          <p:nvPr/>
        </p:nvSpPr>
        <p:spPr>
          <a:xfrm>
            <a:off x="932688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0" y="3218688"/>
            <a:ext cx="1920240" cy="553212"/>
          </a:xfrm>
          <a:prstGeom prst="rect">
            <a:avLst/>
          </a:prstGeom>
          <a:noFill/>
        </p:spPr>
        <p:txBody>
          <a:bodyPr wrap="square">
            <a:spAutoFit/>
          </a:bodyPr>
          <a:lstStyle/>
          <a:p>
            <a:pPr algn="ctr"/>
            <a:r>
              <a:rPr sz="2100" b="1" i="0">
                <a:solidFill>
                  <a:srgbClr val="FFFFFF"/>
                </a:solidFill>
              </a:rPr>
              <a:t>23 cases</a:t>
            </a:r>
          </a:p>
        </p:txBody>
      </p:sp>
      <p:sp>
        <p:nvSpPr>
          <p:cNvPr id="21" name="TextBox 20"/>
          <p:cNvSpPr txBox="1"/>
          <p:nvPr/>
        </p:nvSpPr>
        <p:spPr>
          <a:xfrm>
            <a:off x="9326880" y="3593592"/>
            <a:ext cx="1920240" cy="422452"/>
          </a:xfrm>
          <a:prstGeom prst="rect">
            <a:avLst/>
          </a:prstGeom>
          <a:noFill/>
        </p:spPr>
        <p:txBody>
          <a:bodyPr wrap="square">
            <a:spAutoFit/>
          </a:bodyPr>
          <a:lstStyle/>
          <a:p>
            <a:pPr algn="ctr"/>
            <a:r>
              <a:rPr sz="850" b="0" i="0">
                <a:solidFill>
                  <a:srgbClr val="C8DEF5"/>
                </a:solidFill>
              </a:rPr>
              <a:t>2026 Jan–Sep</a:t>
            </a:r>
          </a:p>
        </p:txBody>
      </p:sp>
      <p:sp>
        <p:nvSpPr>
          <p:cNvPr id="22" name="TextBox 21"/>
          <p:cNvSpPr txBox="1"/>
          <p:nvPr/>
        </p:nvSpPr>
        <p:spPr>
          <a:xfrm>
            <a:off x="457200" y="4315968"/>
            <a:ext cx="11247120" cy="384048"/>
          </a:xfrm>
          <a:prstGeom prst="rect">
            <a:avLst/>
          </a:prstGeom>
          <a:noFill/>
        </p:spPr>
        <p:txBody>
          <a:bodyPr wrap="square">
            <a:spAutoFit/>
          </a:bodyPr>
          <a:lstStyle/>
          <a:p>
            <a:pPr algn="ctr"/>
            <a:r>
              <a:rPr sz="1000" b="0" i="0">
                <a:solidFill>
                  <a:srgbClr val="9BC4E2"/>
                </a:solidFill>
              </a:rPr>
              <a:t>SRTR PSR July 7, 2026 (data through Apr 30, 2026)  ·  Rolling reports Oct 4, 2026  ·  OPTN volume through Sep 30, 2026</a:t>
            </a:r>
          </a:p>
        </p:txBody>
      </p:sp>
      <p:sp>
        <p:nvSpPr>
          <p:cNvPr id="23" name="TextBox 22"/>
          <p:cNvSpPr txBox="1"/>
          <p:nvPr/>
        </p:nvSpPr>
        <p:spPr>
          <a:xfrm>
            <a:off x="731520" y="4846320"/>
            <a:ext cx="5669280" cy="347472"/>
          </a:xfrm>
          <a:prstGeom prst="rect">
            <a:avLst/>
          </a:prstGeom>
          <a:noFill/>
        </p:spPr>
        <p:txBody>
          <a:bodyPr wrap="square">
            <a:spAutoFit/>
          </a:bodyPr>
          <a:lstStyle/>
          <a:p>
            <a:pPr algn="l"/>
            <a:r>
              <a:rPr sz="1050" b="0" i="0">
                <a:solidFill>
                  <a:srgbClr val="FFFFFF"/>
                </a:solidFill>
              </a:rPr>
              <a:t>1. Historical Volume &amp; Southeast Peers</a:t>
            </a:r>
          </a:p>
        </p:txBody>
      </p:sp>
      <p:sp>
        <p:nvSpPr>
          <p:cNvPr id="24" name="TextBox 23"/>
          <p:cNvSpPr txBox="1"/>
          <p:nvPr/>
        </p:nvSpPr>
        <p:spPr>
          <a:xfrm>
            <a:off x="6675120" y="4846320"/>
            <a:ext cx="5669280" cy="347472"/>
          </a:xfrm>
          <a:prstGeom prst="rect">
            <a:avLst/>
          </a:prstGeom>
          <a:noFill/>
        </p:spPr>
        <p:txBody>
          <a:bodyPr wrap="square">
            <a:spAutoFit/>
          </a:bodyPr>
          <a:lstStyle/>
          <a:p>
            <a:pPr algn="l"/>
            <a:r>
              <a:rPr sz="1050" b="0" i="0">
                <a:solidFill>
                  <a:srgbClr val="FFFFFF"/>
                </a:solidFill>
              </a:rPr>
              <a:t>2. SRTR Outcomes (PSR Jul 2026)</a:t>
            </a:r>
          </a:p>
        </p:txBody>
      </p:sp>
      <p:sp>
        <p:nvSpPr>
          <p:cNvPr id="25" name="TextBox 24"/>
          <p:cNvSpPr txBox="1"/>
          <p:nvPr/>
        </p:nvSpPr>
        <p:spPr>
          <a:xfrm>
            <a:off x="731520" y="5230368"/>
            <a:ext cx="5669280" cy="347472"/>
          </a:xfrm>
          <a:prstGeom prst="rect">
            <a:avLst/>
          </a:prstGeom>
          <a:noFill/>
        </p:spPr>
        <p:txBody>
          <a:bodyPr wrap="square">
            <a:spAutoFit/>
          </a:bodyPr>
          <a:lstStyle/>
          <a:p>
            <a:pPr algn="l"/>
            <a:r>
              <a:rPr sz="1050" b="0" i="0">
                <a:solidFill>
                  <a:srgbClr val="FFFFFF"/>
                </a:solidFill>
              </a:rPr>
              <a:t>3. Rolling HR Surveillance</a:t>
            </a:r>
          </a:p>
        </p:txBody>
      </p:sp>
      <p:sp>
        <p:nvSpPr>
          <p:cNvPr id="26" name="TextBox 25"/>
          <p:cNvSpPr txBox="1"/>
          <p:nvPr/>
        </p:nvSpPr>
        <p:spPr>
          <a:xfrm>
            <a:off x="6675120" y="5230368"/>
            <a:ext cx="5669280" cy="347472"/>
          </a:xfrm>
          <a:prstGeom prst="rect">
            <a:avLst/>
          </a:prstGeom>
          <a:noFill/>
        </p:spPr>
        <p:txBody>
          <a:bodyPr wrap="square">
            <a:spAutoFit/>
          </a:bodyPr>
          <a:lstStyle/>
          <a:p>
            <a:pPr algn="l"/>
            <a:r>
              <a:rPr sz="1050" b="0" i="0">
                <a:solidFill>
                  <a:srgbClr val="FFFFFF"/>
                </a:solidFill>
              </a:rPr>
              <a:t>4. Offer Acceptance Analysis</a:t>
            </a:r>
          </a:p>
        </p:txBody>
      </p:sp>
      <p:sp>
        <p:nvSpPr>
          <p:cNvPr id="27" name="TextBox 26"/>
          <p:cNvSpPr txBox="1"/>
          <p:nvPr/>
        </p:nvSpPr>
        <p:spPr>
          <a:xfrm>
            <a:off x="731520" y="5614416"/>
            <a:ext cx="5669280" cy="347472"/>
          </a:xfrm>
          <a:prstGeom prst="rect">
            <a:avLst/>
          </a:prstGeom>
          <a:noFill/>
        </p:spPr>
        <p:txBody>
          <a:bodyPr wrap="square">
            <a:spAutoFit/>
          </a:bodyPr>
          <a:lstStyle/>
          <a:p>
            <a:pPr algn="l"/>
            <a:r>
              <a:rPr sz="1050" b="0" i="0">
                <a:solidFill>
                  <a:srgbClr val="FFFFFF"/>
                </a:solidFill>
              </a:rPr>
              <a:t>5. Regression Forecast 2026–30</a:t>
            </a:r>
          </a:p>
        </p:txBody>
      </p:sp>
      <p:sp>
        <p:nvSpPr>
          <p:cNvPr id="28" name="TextBox 27"/>
          <p:cNvSpPr txBox="1"/>
          <p:nvPr/>
        </p:nvSpPr>
        <p:spPr>
          <a:xfrm>
            <a:off x="6675120" y="5614416"/>
            <a:ext cx="5669280" cy="347472"/>
          </a:xfrm>
          <a:prstGeom prst="rect">
            <a:avLst/>
          </a:prstGeom>
          <a:noFill/>
        </p:spPr>
        <p:txBody>
          <a:bodyPr wrap="square">
            <a:spAutoFit/>
          </a:bodyPr>
          <a:lstStyle/>
          <a:p>
            <a:pPr algn="l"/>
            <a:r>
              <a:rPr sz="1050" b="0" i="0">
                <a:solidFill>
                  <a:srgbClr val="FFFFFF"/>
                </a:solidFill>
              </a:rPr>
              <a:t>6. Monte Carlo Probability</a:t>
            </a:r>
          </a:p>
        </p:txBody>
      </p:sp>
      <p:sp>
        <p:nvSpPr>
          <p:cNvPr id="29" name="TextBox 28"/>
          <p:cNvSpPr txBox="1"/>
          <p:nvPr/>
        </p:nvSpPr>
        <p:spPr>
          <a:xfrm>
            <a:off x="731520" y="5998464"/>
            <a:ext cx="5669280" cy="347472"/>
          </a:xfrm>
          <a:prstGeom prst="rect">
            <a:avLst/>
          </a:prstGeom>
          <a:noFill/>
        </p:spPr>
        <p:txBody>
          <a:bodyPr wrap="square">
            <a:spAutoFit/>
          </a:bodyPr>
          <a:lstStyle/>
          <a:p>
            <a:pPr algn="l"/>
            <a:r>
              <a:rPr sz="1050" b="0" i="0">
                <a:solidFill>
                  <a:srgbClr val="FFFFFF"/>
                </a:solidFill>
              </a:rPr>
              <a:t>7. Clinical Profile, UNOS Benchmarks &amp; Recommendations</a:t>
            </a:r>
          </a:p>
        </p:txBody>
      </p:sp>
    </p:spTree>
    <p:extLst>
      <p:ext uri="{BB962C8B-B14F-4D97-AF65-F5344CB8AC3E}">
        <p14:creationId xmlns:p14="http://schemas.microsoft.com/office/powerpoint/2010/main" val="1277537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ALUA — Historical Volume 2005–2026 (Jan–Sep)</a:t>
            </a:r>
          </a:p>
        </p:txBody>
      </p:sp>
      <p:sp>
        <p:nvSpPr>
          <p:cNvPr id="4" name="TextBox 3"/>
          <p:cNvSpPr txBox="1"/>
          <p:nvPr/>
        </p:nvSpPr>
        <p:spPr>
          <a:xfrm>
            <a:off x="228600" y="384048"/>
            <a:ext cx="11430000" cy="274320"/>
          </a:xfrm>
          <a:prstGeom prst="rect">
            <a:avLst/>
          </a:prstGeom>
          <a:noFill/>
        </p:spPr>
        <p:txBody>
          <a:bodyPr wrap="square">
            <a:spAutoFit/>
          </a:bodyPr>
          <a:lstStyle/>
          <a:p>
            <a:pPr algn="l"/>
            <a:r>
              <a:rPr sz="950" b="0" i="0">
                <a:solidFill>
                  <a:srgbClr val="C8DEF5"/>
                </a:solidFill>
              </a:rPr>
              <a:t>Structural event analysis across leadership transitions and policy changes</a:t>
            </a:r>
          </a:p>
        </p:txBody>
      </p:sp>
      <p:pic>
        <p:nvPicPr>
          <p:cNvPr id="5" name="Picture 4" descr="alua_volume.png"/>
          <p:cNvPicPr>
            <a:picLocks noChangeAspect="1"/>
          </p:cNvPicPr>
          <p:nvPr/>
        </p:nvPicPr>
        <p:blipFill>
          <a:blip r:embed="rId3"/>
          <a:stretch>
            <a:fillRect/>
          </a:stretch>
        </p:blipFill>
        <p:spPr>
          <a:xfrm>
            <a:off x="182880" y="566928"/>
            <a:ext cx="7680960" cy="4434840"/>
          </a:xfrm>
          <a:prstGeom prst="rect">
            <a:avLst/>
          </a:prstGeom>
        </p:spPr>
      </p:pic>
      <p:sp>
        <p:nvSpPr>
          <p:cNvPr id="6" name="TextBox 5"/>
          <p:cNvSpPr txBox="1"/>
          <p:nvPr/>
        </p:nvSpPr>
        <p:spPr>
          <a:xfrm>
            <a:off x="8229600" y="621792"/>
            <a:ext cx="3749039" cy="347472"/>
          </a:xfrm>
          <a:prstGeom prst="rect">
            <a:avLst/>
          </a:prstGeom>
          <a:noFill/>
        </p:spPr>
        <p:txBody>
          <a:bodyPr wrap="square">
            <a:spAutoFit/>
          </a:bodyPr>
          <a:lstStyle/>
          <a:p>
            <a:pPr algn="l"/>
            <a:r>
              <a:rPr sz="1100" b="1" i="0">
                <a:solidFill>
                  <a:srgbClr val="1E3A5F"/>
                </a:solidFill>
              </a:rPr>
              <a:t>Structural Events</a:t>
            </a:r>
          </a:p>
        </p:txBody>
      </p:sp>
      <p:sp>
        <p:nvSpPr>
          <p:cNvPr id="7" name="Rectangle 6"/>
          <p:cNvSpPr/>
          <p:nvPr/>
        </p:nvSpPr>
        <p:spPr>
          <a:xfrm>
            <a:off x="8229600" y="1024128"/>
            <a:ext cx="64008" cy="3657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39327" y="1042415"/>
            <a:ext cx="777240" cy="274320"/>
          </a:xfrm>
          <a:prstGeom prst="rect">
            <a:avLst/>
          </a:prstGeom>
          <a:noFill/>
        </p:spPr>
        <p:txBody>
          <a:bodyPr wrap="square">
            <a:spAutoFit/>
          </a:bodyPr>
          <a:lstStyle/>
          <a:p>
            <a:pPr algn="l"/>
            <a:r>
              <a:rPr sz="800" b="1" i="0">
                <a:solidFill>
                  <a:srgbClr val="6B7280"/>
                </a:solidFill>
              </a:rPr>
              <a:t>2006</a:t>
            </a:r>
          </a:p>
        </p:txBody>
      </p:sp>
      <p:sp>
        <p:nvSpPr>
          <p:cNvPr id="9" name="TextBox 8"/>
          <p:cNvSpPr txBox="1"/>
          <p:nvPr/>
        </p:nvSpPr>
        <p:spPr>
          <a:xfrm>
            <a:off x="9162288" y="1042415"/>
            <a:ext cx="1417320" cy="274320"/>
          </a:xfrm>
          <a:prstGeom prst="rect">
            <a:avLst/>
          </a:prstGeom>
          <a:noFill/>
        </p:spPr>
        <p:txBody>
          <a:bodyPr wrap="square">
            <a:spAutoFit/>
          </a:bodyPr>
          <a:lstStyle/>
          <a:p>
            <a:pPr algn="l"/>
            <a:r>
              <a:rPr sz="850" b="1" i="0">
                <a:solidFill>
                  <a:srgbClr val="2D3A4A"/>
                </a:solidFill>
              </a:rPr>
              <a:t>Peak: 34 cases</a:t>
            </a:r>
          </a:p>
        </p:txBody>
      </p:sp>
      <p:sp>
        <p:nvSpPr>
          <p:cNvPr id="10" name="TextBox 9"/>
          <p:cNvSpPr txBox="1"/>
          <p:nvPr/>
        </p:nvSpPr>
        <p:spPr>
          <a:xfrm>
            <a:off x="10625328" y="1042415"/>
            <a:ext cx="1444752" cy="274320"/>
          </a:xfrm>
          <a:prstGeom prst="rect">
            <a:avLst/>
          </a:prstGeom>
          <a:noFill/>
        </p:spPr>
        <p:txBody>
          <a:bodyPr wrap="square">
            <a:spAutoFit/>
          </a:bodyPr>
          <a:lstStyle/>
          <a:p>
            <a:pPr algn="l"/>
            <a:r>
              <a:rPr sz="800" b="0" i="0">
                <a:solidFill>
                  <a:srgbClr val="6B7280"/>
                </a:solidFill>
              </a:rPr>
              <a:t>All-time high</a:t>
            </a:r>
          </a:p>
        </p:txBody>
      </p:sp>
      <p:sp>
        <p:nvSpPr>
          <p:cNvPr id="11" name="Rectangle 10"/>
          <p:cNvSpPr/>
          <p:nvPr/>
        </p:nvSpPr>
        <p:spPr>
          <a:xfrm>
            <a:off x="8229600" y="1444752"/>
            <a:ext cx="64008"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9327" y="1463039"/>
            <a:ext cx="777240" cy="274320"/>
          </a:xfrm>
          <a:prstGeom prst="rect">
            <a:avLst/>
          </a:prstGeom>
          <a:noFill/>
        </p:spPr>
        <p:txBody>
          <a:bodyPr wrap="square">
            <a:spAutoFit/>
          </a:bodyPr>
          <a:lstStyle/>
          <a:p>
            <a:pPr algn="l"/>
            <a:r>
              <a:rPr sz="800" b="1" i="0">
                <a:solidFill>
                  <a:srgbClr val="1E3A5F"/>
                </a:solidFill>
              </a:rPr>
              <a:t>2017</a:t>
            </a:r>
          </a:p>
        </p:txBody>
      </p:sp>
      <p:sp>
        <p:nvSpPr>
          <p:cNvPr id="13" name="TextBox 12"/>
          <p:cNvSpPr txBox="1"/>
          <p:nvPr/>
        </p:nvSpPr>
        <p:spPr>
          <a:xfrm>
            <a:off x="9162288" y="1463039"/>
            <a:ext cx="1417320" cy="274320"/>
          </a:xfrm>
          <a:prstGeom prst="rect">
            <a:avLst/>
          </a:prstGeom>
          <a:noFill/>
        </p:spPr>
        <p:txBody>
          <a:bodyPr wrap="square">
            <a:spAutoFit/>
          </a:bodyPr>
          <a:lstStyle/>
          <a:p>
            <a:pPr algn="l"/>
            <a:r>
              <a:rPr sz="850" b="1" i="0">
                <a:solidFill>
                  <a:srgbClr val="2D3A4A"/>
                </a:solidFill>
              </a:rPr>
              <a:t>DSA removed</a:t>
            </a:r>
          </a:p>
        </p:txBody>
      </p:sp>
      <p:sp>
        <p:nvSpPr>
          <p:cNvPr id="14" name="TextBox 13"/>
          <p:cNvSpPr txBox="1"/>
          <p:nvPr/>
        </p:nvSpPr>
        <p:spPr>
          <a:xfrm>
            <a:off x="10625328" y="1463039"/>
            <a:ext cx="1444752" cy="274320"/>
          </a:xfrm>
          <a:prstGeom prst="rect">
            <a:avLst/>
          </a:prstGeom>
          <a:noFill/>
        </p:spPr>
        <p:txBody>
          <a:bodyPr wrap="square">
            <a:spAutoFit/>
          </a:bodyPr>
          <a:lstStyle/>
          <a:p>
            <a:pPr algn="l"/>
            <a:r>
              <a:rPr sz="800" b="0" i="0">
                <a:solidFill>
                  <a:srgbClr val="6B7280"/>
                </a:solidFill>
              </a:rPr>
              <a:t>−20% vs peer +10.5%</a:t>
            </a:r>
          </a:p>
        </p:txBody>
      </p:sp>
      <p:sp>
        <p:nvSpPr>
          <p:cNvPr id="15" name="Rectangle 14"/>
          <p:cNvSpPr/>
          <p:nvPr/>
        </p:nvSpPr>
        <p:spPr>
          <a:xfrm>
            <a:off x="8229600" y="1865376"/>
            <a:ext cx="64008" cy="365760"/>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7" y="1883664"/>
            <a:ext cx="777240" cy="274320"/>
          </a:xfrm>
          <a:prstGeom prst="rect">
            <a:avLst/>
          </a:prstGeom>
          <a:noFill/>
        </p:spPr>
        <p:txBody>
          <a:bodyPr wrap="square">
            <a:spAutoFit/>
          </a:bodyPr>
          <a:lstStyle/>
          <a:p>
            <a:pPr algn="l"/>
            <a:r>
              <a:rPr sz="800" b="1" i="0">
                <a:solidFill>
                  <a:srgbClr val="B83232"/>
                </a:solidFill>
              </a:rPr>
              <a:t>2019</a:t>
            </a:r>
          </a:p>
        </p:txBody>
      </p:sp>
      <p:sp>
        <p:nvSpPr>
          <p:cNvPr id="17" name="TextBox 16"/>
          <p:cNvSpPr txBox="1"/>
          <p:nvPr/>
        </p:nvSpPr>
        <p:spPr>
          <a:xfrm>
            <a:off x="9162288" y="1883664"/>
            <a:ext cx="1417320" cy="274320"/>
          </a:xfrm>
          <a:prstGeom prst="rect">
            <a:avLst/>
          </a:prstGeom>
          <a:noFill/>
        </p:spPr>
        <p:txBody>
          <a:bodyPr wrap="square">
            <a:spAutoFit/>
          </a:bodyPr>
          <a:lstStyle/>
          <a:p>
            <a:pPr algn="l"/>
            <a:r>
              <a:rPr sz="850" b="1" i="0">
                <a:solidFill>
                  <a:srgbClr val="2D3A4A"/>
                </a:solidFill>
              </a:rPr>
              <a:t>Leadership crisis</a:t>
            </a:r>
          </a:p>
        </p:txBody>
      </p:sp>
      <p:sp>
        <p:nvSpPr>
          <p:cNvPr id="18" name="TextBox 17"/>
          <p:cNvSpPr txBox="1"/>
          <p:nvPr/>
        </p:nvSpPr>
        <p:spPr>
          <a:xfrm>
            <a:off x="10625328" y="1883664"/>
            <a:ext cx="1444752" cy="274320"/>
          </a:xfrm>
          <a:prstGeom prst="rect">
            <a:avLst/>
          </a:prstGeom>
          <a:noFill/>
        </p:spPr>
        <p:txBody>
          <a:bodyPr wrap="square">
            <a:spAutoFit/>
          </a:bodyPr>
          <a:lstStyle/>
          <a:p>
            <a:pPr algn="l"/>
            <a:r>
              <a:rPr sz="800" b="0" i="0">
                <a:solidFill>
                  <a:srgbClr val="6B7280"/>
                </a:solidFill>
              </a:rPr>
              <a:t>Trough 8 cases (−58%)</a:t>
            </a:r>
          </a:p>
        </p:txBody>
      </p:sp>
      <p:sp>
        <p:nvSpPr>
          <p:cNvPr id="19" name="Rectangle 18"/>
          <p:cNvSpPr/>
          <p:nvPr/>
        </p:nvSpPr>
        <p:spPr>
          <a:xfrm>
            <a:off x="8229600" y="2286000"/>
            <a:ext cx="64008" cy="36576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9327" y="2304288"/>
            <a:ext cx="777240" cy="274320"/>
          </a:xfrm>
          <a:prstGeom prst="rect">
            <a:avLst/>
          </a:prstGeom>
          <a:noFill/>
        </p:spPr>
        <p:txBody>
          <a:bodyPr wrap="square">
            <a:spAutoFit/>
          </a:bodyPr>
          <a:lstStyle/>
          <a:p>
            <a:pPr algn="l"/>
            <a:r>
              <a:rPr sz="800" b="1" i="0">
                <a:solidFill>
                  <a:srgbClr val="1A7A4A"/>
                </a:solidFill>
              </a:rPr>
              <a:t>Dec 2020</a:t>
            </a:r>
          </a:p>
        </p:txBody>
      </p:sp>
      <p:sp>
        <p:nvSpPr>
          <p:cNvPr id="21" name="TextBox 20"/>
          <p:cNvSpPr txBox="1"/>
          <p:nvPr/>
        </p:nvSpPr>
        <p:spPr>
          <a:xfrm>
            <a:off x="9162288" y="2304288"/>
            <a:ext cx="1417320" cy="274320"/>
          </a:xfrm>
          <a:prstGeom prst="rect">
            <a:avLst/>
          </a:prstGeom>
          <a:noFill/>
        </p:spPr>
        <p:txBody>
          <a:bodyPr wrap="square">
            <a:spAutoFit/>
          </a:bodyPr>
          <a:lstStyle/>
          <a:p>
            <a:pPr algn="l"/>
            <a:r>
              <a:rPr sz="850" b="1" i="0">
                <a:solidFill>
                  <a:srgbClr val="2D3A4A"/>
                </a:solidFill>
              </a:rPr>
              <a:t>New MD joins</a:t>
            </a:r>
          </a:p>
        </p:txBody>
      </p:sp>
      <p:sp>
        <p:nvSpPr>
          <p:cNvPr id="22" name="TextBox 21"/>
          <p:cNvSpPr txBox="1"/>
          <p:nvPr/>
        </p:nvSpPr>
        <p:spPr>
          <a:xfrm>
            <a:off x="10625328" y="2304288"/>
            <a:ext cx="1444752" cy="274320"/>
          </a:xfrm>
          <a:prstGeom prst="rect">
            <a:avLst/>
          </a:prstGeom>
          <a:noFill/>
        </p:spPr>
        <p:txBody>
          <a:bodyPr wrap="square">
            <a:spAutoFit/>
          </a:bodyPr>
          <a:lstStyle/>
          <a:p>
            <a:pPr algn="l"/>
            <a:r>
              <a:rPr sz="800" b="0" i="0">
                <a:solidFill>
                  <a:srgbClr val="6B7280"/>
                </a:solidFill>
              </a:rPr>
              <a:t>+11.2/yr effect (p=0.024)</a:t>
            </a:r>
          </a:p>
        </p:txBody>
      </p:sp>
      <p:sp>
        <p:nvSpPr>
          <p:cNvPr id="23" name="Rectangle 22"/>
          <p:cNvSpPr/>
          <p:nvPr/>
        </p:nvSpPr>
        <p:spPr>
          <a:xfrm>
            <a:off x="8229600" y="2706624"/>
            <a:ext cx="64008" cy="36576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39327" y="2724912"/>
            <a:ext cx="777240" cy="274320"/>
          </a:xfrm>
          <a:prstGeom prst="rect">
            <a:avLst/>
          </a:prstGeom>
          <a:noFill/>
        </p:spPr>
        <p:txBody>
          <a:bodyPr wrap="square">
            <a:spAutoFit/>
          </a:bodyPr>
          <a:lstStyle/>
          <a:p>
            <a:pPr algn="l"/>
            <a:r>
              <a:rPr sz="800" b="1" i="0">
                <a:solidFill>
                  <a:srgbClr val="1A7A4A"/>
                </a:solidFill>
              </a:rPr>
              <a:t>2021–23</a:t>
            </a:r>
          </a:p>
        </p:txBody>
      </p:sp>
      <p:sp>
        <p:nvSpPr>
          <p:cNvPr id="25" name="TextBox 24"/>
          <p:cNvSpPr txBox="1"/>
          <p:nvPr/>
        </p:nvSpPr>
        <p:spPr>
          <a:xfrm>
            <a:off x="9162288" y="2724912"/>
            <a:ext cx="1417320" cy="274320"/>
          </a:xfrm>
          <a:prstGeom prst="rect">
            <a:avLst/>
          </a:prstGeom>
          <a:noFill/>
        </p:spPr>
        <p:txBody>
          <a:bodyPr wrap="square">
            <a:spAutoFit/>
          </a:bodyPr>
          <a:lstStyle/>
          <a:p>
            <a:pPr algn="l"/>
            <a:r>
              <a:rPr sz="850" b="1" i="0">
                <a:solidFill>
                  <a:srgbClr val="2D3A4A"/>
                </a:solidFill>
              </a:rPr>
              <a:t>Recovery era</a:t>
            </a:r>
          </a:p>
        </p:txBody>
      </p:sp>
      <p:sp>
        <p:nvSpPr>
          <p:cNvPr id="26" name="TextBox 25"/>
          <p:cNvSpPr txBox="1"/>
          <p:nvPr/>
        </p:nvSpPr>
        <p:spPr>
          <a:xfrm>
            <a:off x="10625328" y="2724912"/>
            <a:ext cx="1444752" cy="274320"/>
          </a:xfrm>
          <a:prstGeom prst="rect">
            <a:avLst/>
          </a:prstGeom>
          <a:noFill/>
        </p:spPr>
        <p:txBody>
          <a:bodyPr wrap="square">
            <a:spAutoFit/>
          </a:bodyPr>
          <a:lstStyle/>
          <a:p>
            <a:pPr algn="l"/>
            <a:r>
              <a:rPr sz="800" b="0" i="0">
                <a:solidFill>
                  <a:srgbClr val="6B7280"/>
                </a:solidFill>
              </a:rPr>
              <a:t>27→25→23 cases/yr</a:t>
            </a:r>
          </a:p>
        </p:txBody>
      </p:sp>
      <p:sp>
        <p:nvSpPr>
          <p:cNvPr id="27" name="Rectangle 26"/>
          <p:cNvSpPr/>
          <p:nvPr/>
        </p:nvSpPr>
        <p:spPr>
          <a:xfrm>
            <a:off x="8229600" y="3127248"/>
            <a:ext cx="64008" cy="36576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9327" y="3145536"/>
            <a:ext cx="777240" cy="274320"/>
          </a:xfrm>
          <a:prstGeom prst="rect">
            <a:avLst/>
          </a:prstGeom>
          <a:noFill/>
        </p:spPr>
        <p:txBody>
          <a:bodyPr wrap="square">
            <a:spAutoFit/>
          </a:bodyPr>
          <a:lstStyle/>
          <a:p>
            <a:pPr algn="l"/>
            <a:r>
              <a:rPr sz="800" b="1" i="0">
                <a:solidFill>
                  <a:srgbClr val="C47A00"/>
                </a:solidFill>
              </a:rPr>
              <a:t>Oct 2024</a:t>
            </a:r>
          </a:p>
        </p:txBody>
      </p:sp>
      <p:sp>
        <p:nvSpPr>
          <p:cNvPr id="29" name="TextBox 28"/>
          <p:cNvSpPr txBox="1"/>
          <p:nvPr/>
        </p:nvSpPr>
        <p:spPr>
          <a:xfrm>
            <a:off x="9162288" y="3145536"/>
            <a:ext cx="1417320" cy="274320"/>
          </a:xfrm>
          <a:prstGeom prst="rect">
            <a:avLst/>
          </a:prstGeom>
          <a:noFill/>
        </p:spPr>
        <p:txBody>
          <a:bodyPr wrap="square">
            <a:spAutoFit/>
          </a:bodyPr>
          <a:lstStyle/>
          <a:p>
            <a:pPr algn="l"/>
            <a:r>
              <a:rPr sz="850" b="1" i="0">
                <a:solidFill>
                  <a:srgbClr val="2D3A4A"/>
                </a:solidFill>
              </a:rPr>
              <a:t>Surgeon departs</a:t>
            </a:r>
          </a:p>
        </p:txBody>
      </p:sp>
      <p:sp>
        <p:nvSpPr>
          <p:cNvPr id="30" name="TextBox 29"/>
          <p:cNvSpPr txBox="1"/>
          <p:nvPr/>
        </p:nvSpPr>
        <p:spPr>
          <a:xfrm>
            <a:off x="10625328" y="3145536"/>
            <a:ext cx="1444752" cy="274320"/>
          </a:xfrm>
          <a:prstGeom prst="rect">
            <a:avLst/>
          </a:prstGeom>
          <a:noFill/>
        </p:spPr>
        <p:txBody>
          <a:bodyPr wrap="square">
            <a:spAutoFit/>
          </a:bodyPr>
          <a:lstStyle/>
          <a:p>
            <a:pPr algn="l"/>
            <a:r>
              <a:rPr sz="800" b="0" i="0">
                <a:solidFill>
                  <a:srgbClr val="6B7280"/>
                </a:solidFill>
              </a:rPr>
              <a:t>−22% dip → 18 cases</a:t>
            </a:r>
          </a:p>
        </p:txBody>
      </p:sp>
      <p:sp>
        <p:nvSpPr>
          <p:cNvPr id="31" name="Rectangle 30"/>
          <p:cNvSpPr/>
          <p:nvPr/>
        </p:nvSpPr>
        <p:spPr>
          <a:xfrm>
            <a:off x="8229600" y="3547872"/>
            <a:ext cx="64008" cy="36576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39327" y="3566160"/>
            <a:ext cx="777240" cy="274320"/>
          </a:xfrm>
          <a:prstGeom prst="rect">
            <a:avLst/>
          </a:prstGeom>
          <a:noFill/>
        </p:spPr>
        <p:txBody>
          <a:bodyPr wrap="square">
            <a:spAutoFit/>
          </a:bodyPr>
          <a:lstStyle/>
          <a:p>
            <a:pPr algn="l"/>
            <a:r>
              <a:rPr sz="800" b="1" i="0">
                <a:solidFill>
                  <a:srgbClr val="1A7A4A"/>
                </a:solidFill>
              </a:rPr>
              <a:t>Apr 2025</a:t>
            </a:r>
          </a:p>
        </p:txBody>
      </p:sp>
      <p:sp>
        <p:nvSpPr>
          <p:cNvPr id="33" name="TextBox 32"/>
          <p:cNvSpPr txBox="1"/>
          <p:nvPr/>
        </p:nvSpPr>
        <p:spPr>
          <a:xfrm>
            <a:off x="9162288" y="3566160"/>
            <a:ext cx="1417320" cy="274320"/>
          </a:xfrm>
          <a:prstGeom prst="rect">
            <a:avLst/>
          </a:prstGeom>
          <a:noFill/>
        </p:spPr>
        <p:txBody>
          <a:bodyPr wrap="square">
            <a:spAutoFit/>
          </a:bodyPr>
          <a:lstStyle/>
          <a:p>
            <a:pPr algn="l"/>
            <a:r>
              <a:rPr sz="850" b="1" i="0">
                <a:solidFill>
                  <a:srgbClr val="2D3A4A"/>
                </a:solidFill>
              </a:rPr>
              <a:t>New surgeon</a:t>
            </a:r>
          </a:p>
        </p:txBody>
      </p:sp>
      <p:sp>
        <p:nvSpPr>
          <p:cNvPr id="34" name="TextBox 33"/>
          <p:cNvSpPr txBox="1"/>
          <p:nvPr/>
        </p:nvSpPr>
        <p:spPr>
          <a:xfrm>
            <a:off x="10625328" y="3566160"/>
            <a:ext cx="1444752" cy="274320"/>
          </a:xfrm>
          <a:prstGeom prst="rect">
            <a:avLst/>
          </a:prstGeom>
          <a:noFill/>
        </p:spPr>
        <p:txBody>
          <a:bodyPr wrap="square">
            <a:spAutoFit/>
          </a:bodyPr>
          <a:lstStyle/>
          <a:p>
            <a:pPr algn="l"/>
            <a:r>
              <a:rPr sz="800" b="0" i="0">
                <a:solidFill>
                  <a:srgbClr val="6B7280"/>
                </a:solidFill>
              </a:rPr>
              <a:t>31 cases — best since 2007</a:t>
            </a:r>
          </a:p>
        </p:txBody>
      </p:sp>
      <p:sp>
        <p:nvSpPr>
          <p:cNvPr id="35" name="Rectangle 34"/>
          <p:cNvSpPr/>
          <p:nvPr/>
        </p:nvSpPr>
        <p:spPr>
          <a:xfrm>
            <a:off x="8229600" y="3968496"/>
            <a:ext cx="64008" cy="365760"/>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39327" y="3986784"/>
            <a:ext cx="777240" cy="274320"/>
          </a:xfrm>
          <a:prstGeom prst="rect">
            <a:avLst/>
          </a:prstGeom>
          <a:noFill/>
        </p:spPr>
        <p:txBody>
          <a:bodyPr wrap="square">
            <a:spAutoFit/>
          </a:bodyPr>
          <a:lstStyle/>
          <a:p>
            <a:pPr algn="l"/>
            <a:r>
              <a:rPr sz="800" b="1" i="0">
                <a:solidFill>
                  <a:srgbClr val="1A7A8A"/>
                </a:solidFill>
              </a:rPr>
              <a:t>2026 YTD</a:t>
            </a:r>
          </a:p>
        </p:txBody>
      </p:sp>
      <p:sp>
        <p:nvSpPr>
          <p:cNvPr id="37" name="TextBox 36"/>
          <p:cNvSpPr txBox="1"/>
          <p:nvPr/>
        </p:nvSpPr>
        <p:spPr>
          <a:xfrm>
            <a:off x="9162288" y="3986784"/>
            <a:ext cx="1417320" cy="274320"/>
          </a:xfrm>
          <a:prstGeom prst="rect">
            <a:avLst/>
          </a:prstGeom>
          <a:noFill/>
        </p:spPr>
        <p:txBody>
          <a:bodyPr wrap="square">
            <a:spAutoFit/>
          </a:bodyPr>
          <a:lstStyle/>
          <a:p>
            <a:pPr algn="l"/>
            <a:r>
              <a:rPr sz="850" b="1" i="0">
                <a:solidFill>
                  <a:srgbClr val="2D3A4A"/>
                </a:solidFill>
              </a:rPr>
              <a:t>23 cases (Q1: 9)</a:t>
            </a:r>
          </a:p>
        </p:txBody>
      </p:sp>
      <p:sp>
        <p:nvSpPr>
          <p:cNvPr id="38" name="TextBox 37"/>
          <p:cNvSpPr txBox="1"/>
          <p:nvPr/>
        </p:nvSpPr>
        <p:spPr>
          <a:xfrm>
            <a:off x="10625328" y="3986784"/>
            <a:ext cx="1444752" cy="274320"/>
          </a:xfrm>
          <a:prstGeom prst="rect">
            <a:avLst/>
          </a:prstGeom>
          <a:noFill/>
        </p:spPr>
        <p:txBody>
          <a:bodyPr wrap="square">
            <a:spAutoFit/>
          </a:bodyPr>
          <a:lstStyle/>
          <a:p>
            <a:pPr algn="l"/>
            <a:r>
              <a:rPr sz="800" b="0" i="0">
                <a:solidFill>
                  <a:srgbClr val="6B7280"/>
                </a:solidFill>
              </a:rPr>
              <a:t>Pace ~31/yr = 2025 level</a:t>
            </a:r>
          </a:p>
        </p:txBody>
      </p:sp>
      <p:sp>
        <p:nvSpPr>
          <p:cNvPr id="39" name="Rectangle 38"/>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ALUA Historical Volume</a:t>
            </a:r>
          </a:p>
        </p:txBody>
      </p:sp>
      <p:sp>
        <p:nvSpPr>
          <p:cNvPr id="41" name="TextBox 40"/>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10</a:t>
            </a:r>
          </a:p>
        </p:txBody>
      </p:sp>
    </p:spTree>
    <p:extLst>
      <p:ext uri="{BB962C8B-B14F-4D97-AF65-F5344CB8AC3E}">
        <p14:creationId xmlns:p14="http://schemas.microsoft.com/office/powerpoint/2010/main" val="4023696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p:cNvSpPr txBox="1"/>
          <p:nvPr/>
        </p:nvSpPr>
        <p:spPr>
          <a:xfrm>
            <a:off x="228600" y="-22860"/>
            <a:ext cx="10972800" cy="384048"/>
          </a:xfrm>
          <a:prstGeom prst="rect">
            <a:avLst/>
          </a:prstGeom>
          <a:noFill/>
        </p:spPr>
        <p:txBody>
          <a:bodyPr wrap="square">
            <a:spAutoFit/>
          </a:bodyPr>
          <a:lstStyle/>
          <a:p>
            <a:pPr algn="l"/>
            <a:r>
              <a:rPr sz="1800" b="1" i="0" dirty="0">
                <a:solidFill>
                  <a:srgbClr val="FFFFFF"/>
                </a:solidFill>
              </a:rPr>
              <a:t>ALUA vs Southeast Peers — 2026 Volume</a:t>
            </a:r>
          </a:p>
        </p:txBody>
      </p:sp>
      <p:sp>
        <p:nvSpPr>
          <p:cNvPr id="5" name="TextBox 3"/>
          <p:cNvSpPr txBox="1"/>
          <p:nvPr/>
        </p:nvSpPr>
        <p:spPr>
          <a:xfrm>
            <a:off x="228600" y="281178"/>
            <a:ext cx="11430000" cy="274320"/>
          </a:xfrm>
          <a:prstGeom prst="rect">
            <a:avLst/>
          </a:prstGeom>
          <a:noFill/>
        </p:spPr>
        <p:txBody>
          <a:bodyPr wrap="square">
            <a:spAutoFit/>
          </a:bodyPr>
          <a:lstStyle/>
          <a:p>
            <a:pPr algn="l"/>
            <a:r>
              <a:rPr sz="950" b="0" i="0">
                <a:solidFill>
                  <a:srgbClr val="C8DEF5"/>
                </a:solidFill>
              </a:rPr>
              <a:t>Jan–Sep 2026 annualized (×12/9) vs 2025 · 10 Southeast programs in the 54-center dataset</a:t>
            </a:r>
          </a:p>
        </p:txBody>
      </p:sp>
      <p:sp>
        <p:nvSpPr>
          <p:cNvPr id="6" name="Rectangle 5"/>
          <p:cNvSpPr/>
          <p:nvPr/>
        </p:nvSpPr>
        <p:spPr>
          <a:xfrm>
            <a:off x="137160" y="4160520"/>
            <a:ext cx="11887200" cy="2578608"/>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233672"/>
            <a:ext cx="11521440" cy="347472"/>
          </a:xfrm>
          <a:prstGeom prst="rect">
            <a:avLst/>
          </a:prstGeom>
          <a:noFill/>
        </p:spPr>
        <p:txBody>
          <a:bodyPr wrap="square">
            <a:spAutoFit/>
          </a:bodyPr>
          <a:lstStyle/>
          <a:p>
            <a:pPr algn="l"/>
            <a:r>
              <a:rPr sz="1100" b="1" i="0">
                <a:solidFill>
                  <a:srgbClr val="1E3A5F"/>
                </a:solidFill>
              </a:rPr>
              <a:t>Regional Insights</a:t>
            </a:r>
          </a:p>
        </p:txBody>
      </p:sp>
      <p:sp>
        <p:nvSpPr>
          <p:cNvPr id="8" name="TextBox 7"/>
          <p:cNvSpPr txBox="1"/>
          <p:nvPr/>
        </p:nvSpPr>
        <p:spPr>
          <a:xfrm>
            <a:off x="274320" y="4617720"/>
            <a:ext cx="11704320" cy="2029968"/>
          </a:xfrm>
          <a:prstGeom prst="rect">
            <a:avLst/>
          </a:prstGeom>
          <a:noFill/>
        </p:spPr>
        <p:txBody>
          <a:bodyPr wrap="square">
            <a:spAutoFit/>
          </a:bodyPr>
          <a:lstStyle/>
          <a:p>
            <a:pPr algn="l">
              <a:spcBef>
                <a:spcPts val="300"/>
              </a:spcBef>
            </a:pPr>
            <a:r>
              <a:rPr sz="1050" b="1">
                <a:solidFill>
                  <a:srgbClr val="2D3A4A"/>
                </a:solidFill>
              </a:rPr>
              <a:t>▸  Region growing fast: the 10 programs are on pace for ~621 in 2026 (+14% vs 544 in 2025), vs +4% nationally.</a:t>
            </a:r>
          </a:p>
          <a:p>
            <a:pPr algn="l">
              <a:spcBef>
                <a:spcPts val="300"/>
              </a:spcBef>
            </a:pPr>
            <a:r>
              <a:rPr sz="1050" b="0">
                <a:solidFill>
                  <a:srgbClr val="2D3A4A"/>
                </a:solidFill>
              </a:rPr>
              <a:t>▸  ALUA flat at ~31 (2025: 31) → regional share 5.7% → 4.9%; national rank 37th → 43rd of 54.</a:t>
            </a:r>
          </a:p>
          <a:p>
            <a:pPr algn="l">
              <a:spcBef>
                <a:spcPts val="300"/>
              </a:spcBef>
            </a:pPr>
            <a:r>
              <a:rPr sz="1050" b="0">
                <a:solidFill>
                  <a:srgbClr val="2D3A4A"/>
                </a:solidFill>
              </a:rPr>
              <a:t>▸  Emory (Atlanta, ~150 mi): 52 by Sep is already a program record; pace ~69, more than 2× ALUA after matching it in 2020–24 (~21/yr each).</a:t>
            </a:r>
          </a:p>
          <a:p>
            <a:pPr algn="l">
              <a:spcBef>
                <a:spcPts val="300"/>
              </a:spcBef>
            </a:pPr>
            <a:r>
              <a:rPr sz="1050" b="0">
                <a:solidFill>
                  <a:srgbClr val="2D3A4A"/>
                </a:solidFill>
              </a:rPr>
              <a:t>▸  Vanderbilt (Nashville, ~190 mi) is levelling off at ~144 but is still ~4.7× ALUA. Growth is now led by Tampa, Emory and Shands.</a:t>
            </a:r>
          </a:p>
        </p:txBody>
      </p:sp>
      <p:sp>
        <p:nvSpPr>
          <p:cNvPr id="9" name="Rectangle 8"/>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Southeast Peer Comparison</a:t>
            </a:r>
          </a:p>
        </p:txBody>
      </p:sp>
      <p:sp>
        <p:nvSpPr>
          <p:cNvPr id="11" name="TextBox 10"/>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11</a:t>
            </a:r>
          </a:p>
        </p:txBody>
      </p:sp>
      <p:graphicFrame>
        <p:nvGraphicFramePr>
          <p:cNvPr id="12" name="Southeast peer chart"/>
          <p:cNvGraphicFramePr>
            <a:graphicFrameLocks noGrp="1"/>
          </p:cNvGraphicFramePr>
          <p:nvPr/>
        </p:nvGraphicFramePr>
        <p:xfrm>
          <a:off x="137160" y="603504"/>
          <a:ext cx="7726679"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3" name="KPI 1 Rectangle"/>
          <p:cNvSpPr/>
          <p:nvPr/>
        </p:nvSpPr>
        <p:spPr>
          <a:xfrm>
            <a:off x="8046720" y="594360"/>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KPI 1 TextBox"/>
          <p:cNvSpPr txBox="1"/>
          <p:nvPr/>
        </p:nvSpPr>
        <p:spPr>
          <a:xfrm>
            <a:off x="8046720" y="658368"/>
            <a:ext cx="1874519" cy="477773"/>
          </a:xfrm>
          <a:prstGeom prst="rect">
            <a:avLst/>
          </a:prstGeom>
          <a:noFill/>
        </p:spPr>
        <p:txBody>
          <a:bodyPr wrap="square">
            <a:spAutoFit/>
          </a:bodyPr>
          <a:lstStyle/>
          <a:p>
            <a:pPr algn="ctr"/>
            <a:r>
              <a:rPr sz="2100" b="1" i="0">
                <a:solidFill>
                  <a:srgbClr val="FFFFFF"/>
                </a:solidFill>
              </a:rPr>
              <a:t>~31</a:t>
            </a:r>
          </a:p>
        </p:txBody>
      </p:sp>
      <p:sp>
        <p:nvSpPr>
          <p:cNvPr id="15" name="KPI 1 TextBox"/>
          <p:cNvSpPr txBox="1"/>
          <p:nvPr/>
        </p:nvSpPr>
        <p:spPr>
          <a:xfrm>
            <a:off x="8046720" y="1033271"/>
            <a:ext cx="1874519" cy="364845"/>
          </a:xfrm>
          <a:prstGeom prst="rect">
            <a:avLst/>
          </a:prstGeom>
          <a:noFill/>
        </p:spPr>
        <p:txBody>
          <a:bodyPr wrap="square">
            <a:spAutoFit/>
          </a:bodyPr>
          <a:lstStyle/>
          <a:p>
            <a:pPr algn="ctr"/>
            <a:r>
              <a:rPr sz="850" b="0" i="0">
                <a:solidFill>
                  <a:srgbClr val="C8DEF5"/>
                </a:solidFill>
              </a:rPr>
              <a:t>ALUA 2026 pace</a:t>
            </a:r>
          </a:p>
        </p:txBody>
      </p:sp>
      <p:sp>
        <p:nvSpPr>
          <p:cNvPr id="16" name="KPI 2 Rectangle"/>
          <p:cNvSpPr/>
          <p:nvPr/>
        </p:nvSpPr>
        <p:spPr>
          <a:xfrm>
            <a:off x="10058400" y="594360"/>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KPI 2 TextBox"/>
          <p:cNvSpPr txBox="1"/>
          <p:nvPr/>
        </p:nvSpPr>
        <p:spPr>
          <a:xfrm>
            <a:off x="10058400" y="658368"/>
            <a:ext cx="1874519" cy="477773"/>
          </a:xfrm>
          <a:prstGeom prst="rect">
            <a:avLst/>
          </a:prstGeom>
          <a:noFill/>
        </p:spPr>
        <p:txBody>
          <a:bodyPr wrap="square">
            <a:spAutoFit/>
          </a:bodyPr>
          <a:lstStyle/>
          <a:p>
            <a:pPr algn="ctr"/>
            <a:r>
              <a:rPr sz="2100" b="1" i="0">
                <a:solidFill>
                  <a:srgbClr val="FFFFFF"/>
                </a:solidFill>
              </a:rPr>
              <a:t>4.9%</a:t>
            </a:r>
          </a:p>
        </p:txBody>
      </p:sp>
      <p:sp>
        <p:nvSpPr>
          <p:cNvPr id="18" name="KPI 2 TextBox"/>
          <p:cNvSpPr txBox="1"/>
          <p:nvPr/>
        </p:nvSpPr>
        <p:spPr>
          <a:xfrm>
            <a:off x="10058400" y="1033271"/>
            <a:ext cx="1874519" cy="364845"/>
          </a:xfrm>
          <a:prstGeom prst="rect">
            <a:avLst/>
          </a:prstGeom>
          <a:noFill/>
        </p:spPr>
        <p:txBody>
          <a:bodyPr wrap="square">
            <a:spAutoFit/>
          </a:bodyPr>
          <a:lstStyle/>
          <a:p>
            <a:pPr algn="ctr"/>
            <a:r>
              <a:rPr sz="850" b="0" i="0">
                <a:solidFill>
                  <a:srgbClr val="C8DEF5"/>
                </a:solidFill>
              </a:rPr>
              <a:t>ALUA SE share (5.7% '25)</a:t>
            </a:r>
          </a:p>
        </p:txBody>
      </p:sp>
      <p:sp>
        <p:nvSpPr>
          <p:cNvPr id="19" name="KPI 3 Rectangle"/>
          <p:cNvSpPr/>
          <p:nvPr/>
        </p:nvSpPr>
        <p:spPr>
          <a:xfrm>
            <a:off x="8046720" y="1572768"/>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KPI 3 TextBox"/>
          <p:cNvSpPr txBox="1"/>
          <p:nvPr/>
        </p:nvSpPr>
        <p:spPr>
          <a:xfrm>
            <a:off x="8046720" y="1636776"/>
            <a:ext cx="1874519" cy="477773"/>
          </a:xfrm>
          <a:prstGeom prst="rect">
            <a:avLst/>
          </a:prstGeom>
          <a:noFill/>
        </p:spPr>
        <p:txBody>
          <a:bodyPr wrap="square">
            <a:spAutoFit/>
          </a:bodyPr>
          <a:lstStyle/>
          <a:p>
            <a:pPr algn="ctr"/>
            <a:r>
              <a:rPr sz="2100" b="1" i="0">
                <a:solidFill>
                  <a:srgbClr val="FFFFFF"/>
                </a:solidFill>
              </a:rPr>
              <a:t>+14%</a:t>
            </a:r>
          </a:p>
        </p:txBody>
      </p:sp>
      <p:sp>
        <p:nvSpPr>
          <p:cNvPr id="21" name="KPI 3 TextBox"/>
          <p:cNvSpPr txBox="1"/>
          <p:nvPr/>
        </p:nvSpPr>
        <p:spPr>
          <a:xfrm>
            <a:off x="8046720" y="2011679"/>
            <a:ext cx="1874519" cy="364845"/>
          </a:xfrm>
          <a:prstGeom prst="rect">
            <a:avLst/>
          </a:prstGeom>
          <a:noFill/>
        </p:spPr>
        <p:txBody>
          <a:bodyPr wrap="square">
            <a:spAutoFit/>
          </a:bodyPr>
          <a:lstStyle/>
          <a:p>
            <a:pPr algn="ctr"/>
            <a:r>
              <a:rPr sz="850" b="0" i="0">
                <a:solidFill>
                  <a:srgbClr val="C8DEF5"/>
                </a:solidFill>
              </a:rPr>
              <a:t>Southeast 2026 pace</a:t>
            </a:r>
          </a:p>
        </p:txBody>
      </p:sp>
      <p:sp>
        <p:nvSpPr>
          <p:cNvPr id="22" name="KPI 4 Rectangle"/>
          <p:cNvSpPr/>
          <p:nvPr/>
        </p:nvSpPr>
        <p:spPr>
          <a:xfrm>
            <a:off x="10058400" y="1572768"/>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KPI 4 TextBox"/>
          <p:cNvSpPr txBox="1"/>
          <p:nvPr/>
        </p:nvSpPr>
        <p:spPr>
          <a:xfrm>
            <a:off x="10058400" y="1636776"/>
            <a:ext cx="1874519" cy="477773"/>
          </a:xfrm>
          <a:prstGeom prst="rect">
            <a:avLst/>
          </a:prstGeom>
          <a:noFill/>
        </p:spPr>
        <p:txBody>
          <a:bodyPr wrap="square">
            <a:spAutoFit/>
          </a:bodyPr>
          <a:lstStyle/>
          <a:p>
            <a:pPr algn="ctr"/>
            <a:r>
              <a:rPr sz="2100" b="1" i="0">
                <a:solidFill>
                  <a:srgbClr val="FFFFFF"/>
                </a:solidFill>
              </a:rPr>
              <a:t>+4%</a:t>
            </a:r>
          </a:p>
        </p:txBody>
      </p:sp>
      <p:sp>
        <p:nvSpPr>
          <p:cNvPr id="24" name="KPI 4 TextBox"/>
          <p:cNvSpPr txBox="1"/>
          <p:nvPr/>
        </p:nvSpPr>
        <p:spPr>
          <a:xfrm>
            <a:off x="10058400" y="2011679"/>
            <a:ext cx="1874519" cy="364845"/>
          </a:xfrm>
          <a:prstGeom prst="rect">
            <a:avLst/>
          </a:prstGeom>
          <a:noFill/>
        </p:spPr>
        <p:txBody>
          <a:bodyPr wrap="square">
            <a:spAutoFit/>
          </a:bodyPr>
          <a:lstStyle/>
          <a:p>
            <a:pPr algn="ctr"/>
            <a:r>
              <a:rPr sz="850" b="0" i="0">
                <a:solidFill>
                  <a:srgbClr val="C8DEF5"/>
                </a:solidFill>
              </a:rPr>
              <a:t>US 2026 pace</a:t>
            </a:r>
          </a:p>
        </p:txBody>
      </p:sp>
      <p:sp>
        <p:nvSpPr>
          <p:cNvPr id="25" name="KPI 5 Rectangle"/>
          <p:cNvSpPr/>
          <p:nvPr/>
        </p:nvSpPr>
        <p:spPr>
          <a:xfrm>
            <a:off x="8046720" y="2551176"/>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KPI 5 TextBox"/>
          <p:cNvSpPr txBox="1"/>
          <p:nvPr/>
        </p:nvSpPr>
        <p:spPr>
          <a:xfrm>
            <a:off x="8046720" y="2615184"/>
            <a:ext cx="1874519" cy="477773"/>
          </a:xfrm>
          <a:prstGeom prst="rect">
            <a:avLst/>
          </a:prstGeom>
          <a:noFill/>
        </p:spPr>
        <p:txBody>
          <a:bodyPr wrap="square">
            <a:spAutoFit/>
          </a:bodyPr>
          <a:lstStyle/>
          <a:p>
            <a:pPr algn="ctr"/>
            <a:r>
              <a:rPr sz="2100" b="1" i="0">
                <a:solidFill>
                  <a:srgbClr val="FFFFFF"/>
                </a:solidFill>
              </a:rPr>
              <a:t>2.3×</a:t>
            </a:r>
          </a:p>
        </p:txBody>
      </p:sp>
      <p:sp>
        <p:nvSpPr>
          <p:cNvPr id="27" name="KPI 5 TextBox"/>
          <p:cNvSpPr txBox="1"/>
          <p:nvPr/>
        </p:nvSpPr>
        <p:spPr>
          <a:xfrm>
            <a:off x="8046720" y="2990087"/>
            <a:ext cx="1874519" cy="364845"/>
          </a:xfrm>
          <a:prstGeom prst="rect">
            <a:avLst/>
          </a:prstGeom>
          <a:noFill/>
        </p:spPr>
        <p:txBody>
          <a:bodyPr wrap="square">
            <a:spAutoFit/>
          </a:bodyPr>
          <a:lstStyle/>
          <a:p>
            <a:pPr algn="ctr"/>
            <a:r>
              <a:rPr sz="850" b="0" i="0">
                <a:solidFill>
                  <a:srgbClr val="C8DEF5"/>
                </a:solidFill>
              </a:rPr>
              <a:t>Emory vs ALUA (Jan–Sep)</a:t>
            </a:r>
          </a:p>
        </p:txBody>
      </p:sp>
      <p:sp>
        <p:nvSpPr>
          <p:cNvPr id="28" name="KPI 6 Rectangle"/>
          <p:cNvSpPr/>
          <p:nvPr/>
        </p:nvSpPr>
        <p:spPr>
          <a:xfrm>
            <a:off x="10058400" y="2551176"/>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KPI 6 TextBox"/>
          <p:cNvSpPr txBox="1"/>
          <p:nvPr/>
        </p:nvSpPr>
        <p:spPr>
          <a:xfrm>
            <a:off x="10058400" y="2615184"/>
            <a:ext cx="1874519" cy="477773"/>
          </a:xfrm>
          <a:prstGeom prst="rect">
            <a:avLst/>
          </a:prstGeom>
          <a:noFill/>
        </p:spPr>
        <p:txBody>
          <a:bodyPr wrap="square">
            <a:spAutoFit/>
          </a:bodyPr>
          <a:lstStyle/>
          <a:p>
            <a:pPr algn="ctr"/>
            <a:r>
              <a:rPr sz="2100" b="1" i="0">
                <a:solidFill>
                  <a:srgbClr val="FFFFFF"/>
                </a:solidFill>
              </a:rPr>
              <a:t>43rd</a:t>
            </a:r>
          </a:p>
        </p:txBody>
      </p:sp>
      <p:sp>
        <p:nvSpPr>
          <p:cNvPr id="30" name="KPI 6 TextBox"/>
          <p:cNvSpPr txBox="1"/>
          <p:nvPr/>
        </p:nvSpPr>
        <p:spPr>
          <a:xfrm>
            <a:off x="10058400" y="2990087"/>
            <a:ext cx="1874519" cy="364845"/>
          </a:xfrm>
          <a:prstGeom prst="rect">
            <a:avLst/>
          </a:prstGeom>
          <a:noFill/>
        </p:spPr>
        <p:txBody>
          <a:bodyPr wrap="square">
            <a:spAutoFit/>
          </a:bodyPr>
          <a:lstStyle/>
          <a:p>
            <a:pPr algn="ctr"/>
            <a:r>
              <a:rPr sz="850" b="0" i="0">
                <a:solidFill>
                  <a:srgbClr val="C8DEF5"/>
                </a:solidFill>
              </a:rPr>
              <a:t>ALUA US rank (37th in '25)</a:t>
            </a:r>
          </a:p>
        </p:txBody>
      </p:sp>
      <p:sp>
        <p:nvSpPr>
          <p:cNvPr id="31" name="Slide note"/>
          <p:cNvSpPr txBox="1"/>
          <p:nvPr/>
        </p:nvSpPr>
        <p:spPr>
          <a:xfrm>
            <a:off x="8046720" y="3493008"/>
            <a:ext cx="4023360" cy="320040"/>
          </a:xfrm>
          <a:prstGeom prst="rect">
            <a:avLst/>
          </a:prstGeom>
          <a:noFill/>
        </p:spPr>
        <p:txBody>
          <a:bodyPr wrap="square">
            <a:spAutoFit/>
          </a:bodyPr>
          <a:lstStyle/>
          <a:p>
            <a:pPr algn="l"/>
            <a:r>
              <a:rPr sz="900" b="1" i="0">
                <a:solidFill>
                  <a:srgbClr val="1A7A4A"/>
                </a:solidFill>
              </a:rPr>
              <a:t>Not in dataset: MUSC, Methodist Memphis, Jewish Louisville, Cleveland Clinic FL, Wellstar MCG.</a:t>
            </a:r>
          </a:p>
        </p:txBody>
      </p:sp>
    </p:spTree>
    <p:extLst>
      <p:ext uri="{BB962C8B-B14F-4D97-AF65-F5344CB8AC3E}">
        <p14:creationId xmlns:p14="http://schemas.microsoft.com/office/powerpoint/2010/main" val="3915178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3719"/>
            <a:ext cx="10972800" cy="384048"/>
          </a:xfrm>
          <a:prstGeom prst="rect">
            <a:avLst/>
          </a:prstGeom>
          <a:noFill/>
        </p:spPr>
        <p:txBody>
          <a:bodyPr wrap="square">
            <a:spAutoFit/>
          </a:bodyPr>
          <a:lstStyle/>
          <a:p>
            <a:pPr algn="l"/>
            <a:r>
              <a:rPr sz="1800" b="1" i="0" dirty="0">
                <a:solidFill>
                  <a:srgbClr val="FFFFFF"/>
                </a:solidFill>
              </a:rPr>
              <a:t>ALUA SRTR Outcomes — PSR July 2026</a:t>
            </a:r>
          </a:p>
        </p:txBody>
      </p:sp>
      <p:sp>
        <p:nvSpPr>
          <p:cNvPr id="4" name="TextBox 3"/>
          <p:cNvSpPr txBox="1"/>
          <p:nvPr/>
        </p:nvSpPr>
        <p:spPr>
          <a:xfrm>
            <a:off x="182880" y="280034"/>
            <a:ext cx="11430000" cy="274320"/>
          </a:xfrm>
          <a:prstGeom prst="rect">
            <a:avLst/>
          </a:prstGeom>
          <a:noFill/>
        </p:spPr>
        <p:txBody>
          <a:bodyPr wrap="square">
            <a:spAutoFit/>
          </a:bodyPr>
          <a:lstStyle/>
          <a:p>
            <a:pPr algn="l"/>
            <a:r>
              <a:rPr sz="950" b="0" i="0">
                <a:solidFill>
                  <a:srgbClr val="C8DEF5"/>
                </a:solidFill>
              </a:rPr>
              <a:t>Cohort: Jan 2023–Jun 2025 · n=56 · Outcomes now at expected (Jan 2026 PSR: HR 0.69) · credible intervals remain wide</a:t>
            </a:r>
          </a:p>
        </p:txBody>
      </p:sp>
      <p:pic>
        <p:nvPicPr>
          <p:cNvPr id="5" name="Picture 4" descr="srtr_outcomes.png"/>
          <p:cNvPicPr>
            <a:picLocks noChangeAspect="1"/>
          </p:cNvPicPr>
          <p:nvPr/>
        </p:nvPicPr>
        <p:blipFill>
          <a:blip r:embed="rId3"/>
          <a:stretch>
            <a:fillRect/>
          </a:stretch>
        </p:blipFill>
        <p:spPr>
          <a:xfrm>
            <a:off x="137160" y="566928"/>
            <a:ext cx="7680960" cy="4206240"/>
          </a:xfrm>
          <a:prstGeom prst="rect">
            <a:avLst/>
          </a:prstGeom>
        </p:spPr>
      </p:pic>
      <p:sp>
        <p:nvSpPr>
          <p:cNvPr id="6" name="Rectangle 5"/>
          <p:cNvSpPr/>
          <p:nvPr/>
        </p:nvSpPr>
        <p:spPr>
          <a:xfrm>
            <a:off x="8001000" y="594360"/>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01000" y="658368"/>
            <a:ext cx="1874519" cy="477773"/>
          </a:xfrm>
          <a:prstGeom prst="rect">
            <a:avLst/>
          </a:prstGeom>
          <a:noFill/>
        </p:spPr>
        <p:txBody>
          <a:bodyPr wrap="square">
            <a:spAutoFit/>
          </a:bodyPr>
          <a:lstStyle/>
          <a:p>
            <a:pPr algn="ctr"/>
            <a:r>
              <a:rPr sz="2100" b="1" i="0">
                <a:solidFill>
                  <a:srgbClr val="FFFFFF"/>
                </a:solidFill>
              </a:rPr>
              <a:t>90.5%</a:t>
            </a:r>
          </a:p>
        </p:txBody>
      </p:sp>
      <p:sp>
        <p:nvSpPr>
          <p:cNvPr id="8" name="TextBox 7"/>
          <p:cNvSpPr txBox="1"/>
          <p:nvPr/>
        </p:nvSpPr>
        <p:spPr>
          <a:xfrm>
            <a:off x="8001000" y="1033271"/>
            <a:ext cx="1874519" cy="364845"/>
          </a:xfrm>
          <a:prstGeom prst="rect">
            <a:avLst/>
          </a:prstGeom>
          <a:noFill/>
        </p:spPr>
        <p:txBody>
          <a:bodyPr wrap="square">
            <a:spAutoFit/>
          </a:bodyPr>
          <a:lstStyle/>
          <a:p>
            <a:pPr algn="ctr"/>
            <a:r>
              <a:rPr sz="850" b="0" i="0">
                <a:solidFill>
                  <a:srgbClr val="C8DEF5"/>
                </a:solidFill>
              </a:rPr>
              <a:t>1-yr Graft Survival (exp. 91.5%)</a:t>
            </a:r>
          </a:p>
        </p:txBody>
      </p:sp>
      <p:sp>
        <p:nvSpPr>
          <p:cNvPr id="9" name="Rectangle 8"/>
          <p:cNvSpPr/>
          <p:nvPr/>
        </p:nvSpPr>
        <p:spPr>
          <a:xfrm>
            <a:off x="10012680" y="594360"/>
            <a:ext cx="2011680"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12680" y="658368"/>
            <a:ext cx="2011680" cy="477773"/>
          </a:xfrm>
          <a:prstGeom prst="rect">
            <a:avLst/>
          </a:prstGeom>
          <a:noFill/>
        </p:spPr>
        <p:txBody>
          <a:bodyPr wrap="square">
            <a:spAutoFit/>
          </a:bodyPr>
          <a:lstStyle/>
          <a:p>
            <a:pPr algn="ctr"/>
            <a:r>
              <a:rPr sz="2100" b="1" i="0">
                <a:solidFill>
                  <a:srgbClr val="FFFFFF"/>
                </a:solidFill>
              </a:rPr>
              <a:t>1.12</a:t>
            </a:r>
          </a:p>
        </p:txBody>
      </p:sp>
      <p:sp>
        <p:nvSpPr>
          <p:cNvPr id="11" name="TextBox 10"/>
          <p:cNvSpPr txBox="1"/>
          <p:nvPr/>
        </p:nvSpPr>
        <p:spPr>
          <a:xfrm>
            <a:off x="10012680" y="1033271"/>
            <a:ext cx="2011680" cy="364845"/>
          </a:xfrm>
          <a:prstGeom prst="rect">
            <a:avLst/>
          </a:prstGeom>
          <a:noFill/>
        </p:spPr>
        <p:txBody>
          <a:bodyPr wrap="square">
            <a:spAutoFit/>
          </a:bodyPr>
          <a:lstStyle/>
          <a:p>
            <a:pPr algn="ctr"/>
            <a:r>
              <a:rPr sz="850" b="0" i="0">
                <a:solidFill>
                  <a:srgbClr val="C8DEF5"/>
                </a:solidFill>
              </a:rPr>
              <a:t>1-yr Graft HR [0.45–2.09]</a:t>
            </a:r>
          </a:p>
        </p:txBody>
      </p:sp>
      <p:sp>
        <p:nvSpPr>
          <p:cNvPr id="12" name="Rectangle 11"/>
          <p:cNvSpPr/>
          <p:nvPr/>
        </p:nvSpPr>
        <p:spPr>
          <a:xfrm>
            <a:off x="8001000" y="1572768"/>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0" y="1636776"/>
            <a:ext cx="1874519" cy="477773"/>
          </a:xfrm>
          <a:prstGeom prst="rect">
            <a:avLst/>
          </a:prstGeom>
          <a:noFill/>
        </p:spPr>
        <p:txBody>
          <a:bodyPr wrap="square">
            <a:spAutoFit/>
          </a:bodyPr>
          <a:lstStyle/>
          <a:p>
            <a:pPr algn="ctr"/>
            <a:r>
              <a:rPr sz="2100" b="1" i="0">
                <a:solidFill>
                  <a:srgbClr val="FFFFFF"/>
                </a:solidFill>
              </a:rPr>
              <a:t>90.5%</a:t>
            </a:r>
          </a:p>
        </p:txBody>
      </p:sp>
      <p:sp>
        <p:nvSpPr>
          <p:cNvPr id="14" name="TextBox 13"/>
          <p:cNvSpPr txBox="1"/>
          <p:nvPr/>
        </p:nvSpPr>
        <p:spPr>
          <a:xfrm>
            <a:off x="8001000" y="2011680"/>
            <a:ext cx="1874519" cy="364845"/>
          </a:xfrm>
          <a:prstGeom prst="rect">
            <a:avLst/>
          </a:prstGeom>
          <a:noFill/>
        </p:spPr>
        <p:txBody>
          <a:bodyPr wrap="square">
            <a:spAutoFit/>
          </a:bodyPr>
          <a:lstStyle/>
          <a:p>
            <a:pPr algn="ctr"/>
            <a:r>
              <a:rPr sz="850" b="0" i="0">
                <a:solidFill>
                  <a:srgbClr val="C8DEF5"/>
                </a:solidFill>
              </a:rPr>
              <a:t>1-yr Patient Survival (exp. 91.7%)</a:t>
            </a:r>
          </a:p>
        </p:txBody>
      </p:sp>
      <p:sp>
        <p:nvSpPr>
          <p:cNvPr id="15" name="Rectangle 14"/>
          <p:cNvSpPr/>
          <p:nvPr/>
        </p:nvSpPr>
        <p:spPr>
          <a:xfrm>
            <a:off x="10012680" y="1572768"/>
            <a:ext cx="2011680"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12680" y="1636776"/>
            <a:ext cx="2011680" cy="477773"/>
          </a:xfrm>
          <a:prstGeom prst="rect">
            <a:avLst/>
          </a:prstGeom>
          <a:noFill/>
        </p:spPr>
        <p:txBody>
          <a:bodyPr wrap="square">
            <a:spAutoFit/>
          </a:bodyPr>
          <a:lstStyle/>
          <a:p>
            <a:pPr algn="ctr"/>
            <a:r>
              <a:rPr sz="2100" b="1" i="0">
                <a:solidFill>
                  <a:srgbClr val="FFFFFF"/>
                </a:solidFill>
              </a:rPr>
              <a:t>1.13</a:t>
            </a:r>
          </a:p>
        </p:txBody>
      </p:sp>
      <p:sp>
        <p:nvSpPr>
          <p:cNvPr id="17" name="TextBox 16"/>
          <p:cNvSpPr txBox="1"/>
          <p:nvPr/>
        </p:nvSpPr>
        <p:spPr>
          <a:xfrm>
            <a:off x="10012680" y="2011680"/>
            <a:ext cx="2011680" cy="364845"/>
          </a:xfrm>
          <a:prstGeom prst="rect">
            <a:avLst/>
          </a:prstGeom>
          <a:noFill/>
        </p:spPr>
        <p:txBody>
          <a:bodyPr wrap="square">
            <a:spAutoFit/>
          </a:bodyPr>
          <a:lstStyle/>
          <a:p>
            <a:pPr algn="ctr"/>
            <a:r>
              <a:rPr sz="850" b="0" i="0">
                <a:solidFill>
                  <a:srgbClr val="C8DEF5"/>
                </a:solidFill>
              </a:rPr>
              <a:t>1-yr Patient HR [0.46–2.11]</a:t>
            </a:r>
          </a:p>
        </p:txBody>
      </p:sp>
      <p:sp>
        <p:nvSpPr>
          <p:cNvPr id="18" name="Rectangle 17"/>
          <p:cNvSpPr/>
          <p:nvPr/>
        </p:nvSpPr>
        <p:spPr>
          <a:xfrm>
            <a:off x="8001000" y="2542032"/>
            <a:ext cx="1874519" cy="86868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01000" y="2606039"/>
            <a:ext cx="1874519" cy="477773"/>
          </a:xfrm>
          <a:prstGeom prst="rect">
            <a:avLst/>
          </a:prstGeom>
          <a:noFill/>
        </p:spPr>
        <p:txBody>
          <a:bodyPr wrap="square">
            <a:spAutoFit/>
          </a:bodyPr>
          <a:lstStyle/>
          <a:p>
            <a:pPr algn="ctr"/>
            <a:r>
              <a:rPr sz="2100" b="1" i="0">
                <a:solidFill>
                  <a:srgbClr val="FFFFFF"/>
                </a:solidFill>
              </a:rPr>
              <a:t>76.7%</a:t>
            </a:r>
          </a:p>
        </p:txBody>
      </p:sp>
      <p:sp>
        <p:nvSpPr>
          <p:cNvPr id="20" name="TextBox 19"/>
          <p:cNvSpPr txBox="1"/>
          <p:nvPr/>
        </p:nvSpPr>
        <p:spPr>
          <a:xfrm>
            <a:off x="8001000" y="2980944"/>
            <a:ext cx="1874519" cy="364845"/>
          </a:xfrm>
          <a:prstGeom prst="rect">
            <a:avLst/>
          </a:prstGeom>
          <a:noFill/>
        </p:spPr>
        <p:txBody>
          <a:bodyPr wrap="square">
            <a:spAutoFit/>
          </a:bodyPr>
          <a:lstStyle/>
          <a:p>
            <a:pPr algn="ctr"/>
            <a:r>
              <a:rPr sz="850" b="0" i="0">
                <a:solidFill>
                  <a:srgbClr val="C8DEF5"/>
                </a:solidFill>
              </a:rPr>
              <a:t>3-yr Graft Survival (exp. 76.7%)</a:t>
            </a:r>
          </a:p>
        </p:txBody>
      </p:sp>
      <p:sp>
        <p:nvSpPr>
          <p:cNvPr id="21" name="Rectangle 20"/>
          <p:cNvSpPr/>
          <p:nvPr/>
        </p:nvSpPr>
        <p:spPr>
          <a:xfrm>
            <a:off x="10012680" y="2542032"/>
            <a:ext cx="2011680" cy="86868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12680" y="2606039"/>
            <a:ext cx="2011680" cy="477773"/>
          </a:xfrm>
          <a:prstGeom prst="rect">
            <a:avLst/>
          </a:prstGeom>
          <a:noFill/>
        </p:spPr>
        <p:txBody>
          <a:bodyPr wrap="square">
            <a:spAutoFit/>
          </a:bodyPr>
          <a:lstStyle/>
          <a:p>
            <a:pPr algn="ctr"/>
            <a:r>
              <a:rPr sz="2100" b="1" i="0">
                <a:solidFill>
                  <a:srgbClr val="FFFFFF"/>
                </a:solidFill>
              </a:rPr>
              <a:t>1.00</a:t>
            </a:r>
          </a:p>
        </p:txBody>
      </p:sp>
      <p:sp>
        <p:nvSpPr>
          <p:cNvPr id="23" name="TextBox 22"/>
          <p:cNvSpPr txBox="1"/>
          <p:nvPr/>
        </p:nvSpPr>
        <p:spPr>
          <a:xfrm>
            <a:off x="10012680" y="2980944"/>
            <a:ext cx="2011680" cy="364845"/>
          </a:xfrm>
          <a:prstGeom prst="rect">
            <a:avLst/>
          </a:prstGeom>
          <a:noFill/>
        </p:spPr>
        <p:txBody>
          <a:bodyPr wrap="square">
            <a:spAutoFit/>
          </a:bodyPr>
          <a:lstStyle/>
          <a:p>
            <a:pPr algn="ctr"/>
            <a:r>
              <a:rPr sz="850" b="0" i="0">
                <a:solidFill>
                  <a:srgbClr val="C8DEF5"/>
                </a:solidFill>
              </a:rPr>
              <a:t>3-yr Graft HR [0.56–1.56]</a:t>
            </a:r>
          </a:p>
        </p:txBody>
      </p:sp>
      <p:sp>
        <p:nvSpPr>
          <p:cNvPr id="24" name="Rectangle 23"/>
          <p:cNvSpPr/>
          <p:nvPr/>
        </p:nvSpPr>
        <p:spPr>
          <a:xfrm>
            <a:off x="8001000" y="3511296"/>
            <a:ext cx="4023360" cy="8686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01000" y="3575303"/>
            <a:ext cx="4023360" cy="477773"/>
          </a:xfrm>
          <a:prstGeom prst="rect">
            <a:avLst/>
          </a:prstGeom>
          <a:noFill/>
        </p:spPr>
        <p:txBody>
          <a:bodyPr wrap="square">
            <a:spAutoFit/>
          </a:bodyPr>
          <a:lstStyle/>
          <a:p>
            <a:pPr algn="ctr"/>
            <a:r>
              <a:rPr sz="2100" b="1" i="0">
                <a:solidFill>
                  <a:srgbClr val="FFFFFF"/>
                </a:solidFill>
              </a:rPr>
              <a:t>5 obs / 4.26 exp</a:t>
            </a:r>
          </a:p>
        </p:txBody>
      </p:sp>
      <p:sp>
        <p:nvSpPr>
          <p:cNvPr id="26" name="TextBox 25"/>
          <p:cNvSpPr txBox="1"/>
          <p:nvPr/>
        </p:nvSpPr>
        <p:spPr>
          <a:xfrm>
            <a:off x="8001000" y="3950208"/>
            <a:ext cx="4023360" cy="364845"/>
          </a:xfrm>
          <a:prstGeom prst="rect">
            <a:avLst/>
          </a:prstGeom>
          <a:noFill/>
        </p:spPr>
        <p:txBody>
          <a:bodyPr wrap="square">
            <a:spAutoFit/>
          </a:bodyPr>
          <a:lstStyle/>
          <a:p>
            <a:pPr algn="ctr"/>
            <a:r>
              <a:rPr sz="850" b="0" i="0">
                <a:solidFill>
                  <a:srgbClr val="C8DEF5"/>
                </a:solidFill>
              </a:rPr>
              <a:t>1-yr Graft Failures vs Expected</a:t>
            </a:r>
          </a:p>
        </p:txBody>
      </p:sp>
      <p:sp>
        <p:nvSpPr>
          <p:cNvPr id="27" name="TextBox 26"/>
          <p:cNvSpPr txBox="1"/>
          <p:nvPr/>
        </p:nvSpPr>
        <p:spPr>
          <a:xfrm>
            <a:off x="8001000" y="4498848"/>
            <a:ext cx="4023360" cy="320040"/>
          </a:xfrm>
          <a:prstGeom prst="rect">
            <a:avLst/>
          </a:prstGeom>
          <a:noFill/>
        </p:spPr>
        <p:txBody>
          <a:bodyPr wrap="square">
            <a:spAutoFit/>
          </a:bodyPr>
          <a:lstStyle/>
          <a:p>
            <a:pPr algn="l"/>
            <a:r>
              <a:rPr sz="900" b="1" i="0">
                <a:solidFill>
                  <a:srgbClr val="1A7A4A"/>
                </a:solidFill>
              </a:rPr>
              <a:t>★ 90-day graft HR 1.24 (3 vs 2.03 exp.) · 1-yr conditional HR 0.95 — all HRs well below the MPSC threshold (2.25)</a:t>
            </a:r>
          </a:p>
        </p:txBody>
      </p:sp>
      <p:sp>
        <p:nvSpPr>
          <p:cNvPr id="28" name="TextBox 27"/>
          <p:cNvSpPr txBox="1"/>
          <p:nvPr/>
        </p:nvSpPr>
        <p:spPr>
          <a:xfrm>
            <a:off x="8001000" y="4828032"/>
            <a:ext cx="4023360" cy="320040"/>
          </a:xfrm>
          <a:prstGeom prst="rect">
            <a:avLst/>
          </a:prstGeom>
          <a:noFill/>
        </p:spPr>
        <p:txBody>
          <a:bodyPr wrap="square">
            <a:spAutoFit/>
          </a:bodyPr>
          <a:lstStyle/>
          <a:p>
            <a:pPr algn="l"/>
            <a:r>
              <a:rPr sz="900" b="0" i="0">
                <a:solidFill>
                  <a:srgbClr val="C47A00"/>
                </a:solidFill>
              </a:rPr>
              <a:t>△ Jan → Jul 2026: 1-yr HR 0.69 → 1.13, survival 95.7% → 90.5%; the added failures are 2025 early-graft losses</a:t>
            </a:r>
          </a:p>
        </p:txBody>
      </p:sp>
      <p:sp>
        <p:nvSpPr>
          <p:cNvPr id="29" name="TextBox 28"/>
          <p:cNvSpPr txBox="1"/>
          <p:nvPr/>
        </p:nvSpPr>
        <p:spPr>
          <a:xfrm>
            <a:off x="8001000" y="5138928"/>
            <a:ext cx="4023360" cy="320040"/>
          </a:xfrm>
          <a:prstGeom prst="rect">
            <a:avLst/>
          </a:prstGeom>
          <a:noFill/>
        </p:spPr>
        <p:txBody>
          <a:bodyPr wrap="square">
            <a:spAutoFit/>
          </a:bodyPr>
          <a:lstStyle/>
          <a:p>
            <a:pPr algn="l"/>
            <a:r>
              <a:rPr sz="900" b="0" i="0">
                <a:solidFill>
                  <a:srgbClr val="6B7280"/>
                </a:solidFill>
              </a:rPr>
              <a:t>▪ National 1-yr: 89.8% graft / 90.3% patient — ALUA now at the national rate and within expected</a:t>
            </a:r>
          </a:p>
        </p:txBody>
      </p:sp>
      <p:sp>
        <p:nvSpPr>
          <p:cNvPr id="30" name="Rectangle 29"/>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SRTR Outcomes</a:t>
            </a:r>
          </a:p>
        </p:txBody>
      </p:sp>
      <p:sp>
        <p:nvSpPr>
          <p:cNvPr id="32" name="TextBox 31"/>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12</a:t>
            </a:r>
          </a:p>
        </p:txBody>
      </p:sp>
    </p:spTree>
    <p:extLst>
      <p:ext uri="{BB962C8B-B14F-4D97-AF65-F5344CB8AC3E}">
        <p14:creationId xmlns:p14="http://schemas.microsoft.com/office/powerpoint/2010/main" val="3405954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22860"/>
            <a:ext cx="10972800" cy="384048"/>
          </a:xfrm>
          <a:prstGeom prst="rect">
            <a:avLst/>
          </a:prstGeom>
          <a:noFill/>
        </p:spPr>
        <p:txBody>
          <a:bodyPr wrap="square">
            <a:spAutoFit/>
          </a:bodyPr>
          <a:lstStyle/>
          <a:p>
            <a:pPr algn="l"/>
            <a:r>
              <a:rPr sz="1800" b="1" i="0" dirty="0">
                <a:solidFill>
                  <a:srgbClr val="FFFFFF"/>
                </a:solidFill>
              </a:rPr>
              <a:t>ALUA Clinical Profile</a:t>
            </a:r>
          </a:p>
        </p:txBody>
      </p:sp>
      <p:sp>
        <p:nvSpPr>
          <p:cNvPr id="4" name="TextBox 3"/>
          <p:cNvSpPr txBox="1"/>
          <p:nvPr/>
        </p:nvSpPr>
        <p:spPr>
          <a:xfrm>
            <a:off x="228600" y="281178"/>
            <a:ext cx="11430000" cy="274320"/>
          </a:xfrm>
          <a:prstGeom prst="rect">
            <a:avLst/>
          </a:prstGeom>
          <a:noFill/>
        </p:spPr>
        <p:txBody>
          <a:bodyPr wrap="square">
            <a:spAutoFit/>
          </a:bodyPr>
          <a:lstStyle/>
          <a:p>
            <a:pPr algn="l"/>
            <a:r>
              <a:rPr sz="950" b="0" i="0">
                <a:solidFill>
                  <a:srgbClr val="C8DEF5"/>
                </a:solidFill>
              </a:rPr>
              <a:t>Recipient &amp; donor characteristics vs national benchmarks · Jan–Dec 2025 · n=31 · PSR July 2026</a:t>
            </a:r>
          </a:p>
        </p:txBody>
      </p:sp>
      <p:pic>
        <p:nvPicPr>
          <p:cNvPr id="5" name="Picture 4" descr="clinical_profile.png"/>
          <p:cNvPicPr>
            <a:picLocks noChangeAspect="1"/>
          </p:cNvPicPr>
          <p:nvPr/>
        </p:nvPicPr>
        <p:blipFill>
          <a:blip r:embed="rId3"/>
          <a:stretch>
            <a:fillRect/>
          </a:stretch>
        </p:blipFill>
        <p:spPr>
          <a:xfrm>
            <a:off x="137160" y="566928"/>
            <a:ext cx="7818120" cy="3520440"/>
          </a:xfrm>
          <a:prstGeom prst="rect">
            <a:avLst/>
          </a:prstGeom>
        </p:spPr>
      </p:pic>
      <p:sp>
        <p:nvSpPr>
          <p:cNvPr id="6" name="Rectangle 5"/>
          <p:cNvSpPr/>
          <p:nvPr/>
        </p:nvSpPr>
        <p:spPr>
          <a:xfrm>
            <a:off x="137160" y="4160520"/>
            <a:ext cx="11887200" cy="2578608"/>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233672"/>
            <a:ext cx="11521440" cy="347472"/>
          </a:xfrm>
          <a:prstGeom prst="rect">
            <a:avLst/>
          </a:prstGeom>
          <a:noFill/>
        </p:spPr>
        <p:txBody>
          <a:bodyPr wrap="square">
            <a:spAutoFit/>
          </a:bodyPr>
          <a:lstStyle/>
          <a:p>
            <a:pPr algn="l"/>
            <a:r>
              <a:rPr sz="1100" b="1" i="0">
                <a:solidFill>
                  <a:srgbClr val="1E3A5F"/>
                </a:solidFill>
              </a:rPr>
              <a:t>Clinical Insights</a:t>
            </a:r>
          </a:p>
        </p:txBody>
      </p:sp>
      <p:sp>
        <p:nvSpPr>
          <p:cNvPr id="8" name="TextBox 7"/>
          <p:cNvSpPr txBox="1"/>
          <p:nvPr/>
        </p:nvSpPr>
        <p:spPr>
          <a:xfrm>
            <a:off x="274320" y="4617720"/>
            <a:ext cx="11704320" cy="2029968"/>
          </a:xfrm>
          <a:prstGeom prst="rect">
            <a:avLst/>
          </a:prstGeom>
          <a:noFill/>
        </p:spPr>
        <p:txBody>
          <a:bodyPr wrap="square">
            <a:spAutoFit/>
          </a:bodyPr>
          <a:lstStyle/>
          <a:p>
            <a:pPr algn="l">
              <a:spcBef>
                <a:spcPts val="300"/>
              </a:spcBef>
            </a:pPr>
            <a:r>
              <a:rPr sz="1050" b="1">
                <a:solidFill>
                  <a:srgbClr val="2D3A4A"/>
                </a:solidFill>
              </a:rPr>
              <a:t>▸  ICU at transplant: 51.6% vs national 20.7% (region 42.8%) — 2.5× national acuity intake, up from 46.2%. CAS incentivizes urgent patients; this raises early-failure risk.</a:t>
            </a:r>
          </a:p>
          <a:p>
            <a:pPr algn="l">
              <a:spcBef>
                <a:spcPts val="300"/>
              </a:spcBef>
            </a:pPr>
            <a:r>
              <a:rPr sz="1050" b="0">
                <a:solidFill>
                  <a:srgbClr val="2D3A4A"/>
                </a:solidFill>
              </a:rPr>
              <a:t>▸  Donor age: 51.6% aged 18–34 vs 31.6% nationally; 16.1% under 18; only 3.2% aged 50+ (national 26.5%). Young donors remain the main protective factor.</a:t>
            </a:r>
          </a:p>
          <a:p>
            <a:pPr algn="l">
              <a:spcBef>
                <a:spcPts val="300"/>
              </a:spcBef>
            </a:pPr>
            <a:r>
              <a:rPr sz="1050" b="0">
                <a:solidFill>
                  <a:srgbClr val="2D3A4A"/>
                </a:solidFill>
              </a:rPr>
              <a:t>▸  Diagnosis: COPD 29.0% vs 21.4% national; IPF 58.1% vs 64.1%. Recipient BMI ≥36: 9.7% vs 1.2% national.</a:t>
            </a:r>
          </a:p>
          <a:p>
            <a:pPr algn="l">
              <a:spcBef>
                <a:spcPts val="300"/>
              </a:spcBef>
            </a:pPr>
            <a:r>
              <a:rPr sz="1050" b="0">
                <a:solidFill>
                  <a:srgbClr val="2D3A4A"/>
                </a:solidFill>
              </a:rPr>
              <a:t>▸  Post-tx LOS: median 24 days vs 21 national (region 26). Median time to transplant 3.4 mo vs 1.3 national; 83.9% of donors from outside the DSA.</a:t>
            </a:r>
          </a:p>
        </p:txBody>
      </p:sp>
      <p:sp>
        <p:nvSpPr>
          <p:cNvPr id="9" name="Rectangle 8"/>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Clinical Profile</a:t>
            </a:r>
          </a:p>
        </p:txBody>
      </p:sp>
      <p:sp>
        <p:nvSpPr>
          <p:cNvPr id="11" name="TextBox 10"/>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13</a:t>
            </a:r>
          </a:p>
        </p:txBody>
      </p:sp>
    </p:spTree>
    <p:extLst>
      <p:ext uri="{BB962C8B-B14F-4D97-AF65-F5344CB8AC3E}">
        <p14:creationId xmlns:p14="http://schemas.microsoft.com/office/powerpoint/2010/main" val="3915178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p:cNvSpPr txBox="1"/>
          <p:nvPr/>
        </p:nvSpPr>
        <p:spPr>
          <a:xfrm>
            <a:off x="228600" y="-22860"/>
            <a:ext cx="10972800" cy="384048"/>
          </a:xfrm>
          <a:prstGeom prst="rect">
            <a:avLst/>
          </a:prstGeom>
          <a:noFill/>
        </p:spPr>
        <p:txBody>
          <a:bodyPr wrap="square">
            <a:spAutoFit/>
          </a:bodyPr>
          <a:lstStyle/>
          <a:p>
            <a:pPr algn="l"/>
            <a:r>
              <a:rPr sz="1800" b="1" i="0" dirty="0">
                <a:solidFill>
                  <a:srgbClr val="FFFFFF"/>
                </a:solidFill>
              </a:rPr>
              <a:t>ALUA vs UNOS Benchmarks — Region 3, Size Peers, National</a:t>
            </a:r>
          </a:p>
        </p:txBody>
      </p:sp>
      <p:sp>
        <p:nvSpPr>
          <p:cNvPr id="5" name="TextBox 3"/>
          <p:cNvSpPr txBox="1"/>
          <p:nvPr/>
        </p:nvSpPr>
        <p:spPr>
          <a:xfrm>
            <a:off x="228600" y="281178"/>
            <a:ext cx="11430000" cy="274320"/>
          </a:xfrm>
          <a:prstGeom prst="rect">
            <a:avLst/>
          </a:prstGeom>
          <a:noFill/>
        </p:spPr>
        <p:txBody>
          <a:bodyPr wrap="square">
            <a:spAutoFit/>
          </a:bodyPr>
          <a:lstStyle/>
          <a:p>
            <a:pPr algn="l"/>
            <a:r>
              <a:rPr sz="950" b="0" i="0">
                <a:solidFill>
                  <a:srgbClr val="C8DEF5"/>
                </a:solidFill>
              </a:rPr>
              <a:t>UNOS Benchmark Report Oct 2026 · transplants Jul 2025–Jun 2026 (n=32) · waitlist snapshot Sep 30, 2026 (n=11)</a:t>
            </a:r>
          </a:p>
        </p:txBody>
      </p:sp>
      <p:sp>
        <p:nvSpPr>
          <p:cNvPr id="6" name="Rectangle 5"/>
          <p:cNvSpPr/>
          <p:nvPr/>
        </p:nvSpPr>
        <p:spPr>
          <a:xfrm>
            <a:off x="137160" y="4160520"/>
            <a:ext cx="11887200" cy="2578608"/>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233672"/>
            <a:ext cx="11521440" cy="347472"/>
          </a:xfrm>
          <a:prstGeom prst="rect">
            <a:avLst/>
          </a:prstGeom>
          <a:noFill/>
        </p:spPr>
        <p:txBody>
          <a:bodyPr wrap="square">
            <a:spAutoFit/>
          </a:bodyPr>
          <a:lstStyle/>
          <a:p>
            <a:pPr algn="l"/>
            <a:r>
              <a:rPr sz="1100" b="1" i="0">
                <a:solidFill>
                  <a:srgbClr val="1E3A5F"/>
                </a:solidFill>
              </a:rPr>
              <a:t>Benchmark Insights</a:t>
            </a:r>
          </a:p>
        </p:txBody>
      </p:sp>
      <p:sp>
        <p:nvSpPr>
          <p:cNvPr id="8" name="TextBox 7"/>
          <p:cNvSpPr txBox="1"/>
          <p:nvPr/>
        </p:nvSpPr>
        <p:spPr>
          <a:xfrm>
            <a:off x="274320" y="4617720"/>
            <a:ext cx="11704320" cy="2029968"/>
          </a:xfrm>
          <a:prstGeom prst="rect">
            <a:avLst/>
          </a:prstGeom>
          <a:noFill/>
        </p:spPr>
        <p:txBody>
          <a:bodyPr wrap="square">
            <a:spAutoFit/>
          </a:bodyPr>
          <a:lstStyle/>
          <a:p>
            <a:pPr algn="l">
              <a:spcBef>
                <a:spcPts val="300"/>
              </a:spcBef>
            </a:pPr>
            <a:r>
              <a:rPr sz="1050" b="1">
                <a:solidFill>
                  <a:srgbClr val="2D3A4A"/>
                </a:solidFill>
              </a:rPr>
              <a:t>▸  Young on both sides: recipients 65+ are 15.6% of ALUA transplants vs 45.7% nationally; donors under 35 are 81% vs 36% (no donors 50+). The waitlist is 9% aged 65+ vs 49% nationally — the largest untapped listing segment.</a:t>
            </a:r>
          </a:p>
          <a:p>
            <a:pPr algn="l">
              <a:spcBef>
                <a:spcPts val="300"/>
              </a:spcBef>
            </a:pPr>
            <a:r>
              <a:rPr sz="1050" b="0">
                <a:solidFill>
                  <a:srgbClr val="2D3A4A"/>
                </a:solidFill>
              </a:rPr>
              <a:t>▸  Distinct case mix: non-IIP ILD 40.6% + connective-tissue disease 18.8% + sarcoid 6.3% = 66% vs 28% nationally; IIP only 12.5% vs 36.2%. Urgency is high (MU points ≥2.5: 53% vs 40%) yet predicted post-tx survival is better (PTS ≥20: 44% vs 28%).</a:t>
            </a:r>
          </a:p>
          <a:p>
            <a:pPr algn="l">
              <a:spcBef>
                <a:spcPts val="300"/>
              </a:spcBef>
            </a:pPr>
            <a:r>
              <a:rPr sz="1050" b="0">
                <a:solidFill>
                  <a:srgbClr val="2D3A4A"/>
                </a:solidFill>
              </a:rPr>
              <a:t>▸  Conservative logistics protect early outcomes but cap the offer pool: median ischemic time 6.4 h vs 9.8 national (14.0 Region 3); no donors beyond 1,000 NM (14% nationally); 100% ABO-identical; 0% machine perfusion vs 16% in Region 3.</a:t>
            </a:r>
          </a:p>
          <a:p>
            <a:pPr algn="l">
              <a:spcBef>
                <a:spcPts val="300"/>
              </a:spcBef>
            </a:pPr>
            <a:r>
              <a:rPr sz="1050" b="0">
                <a:solidFill>
                  <a:srgbClr val="2D3A4A"/>
                </a:solidFill>
              </a:rPr>
              <a:t>▸  Watch: acute rejection treated before discharge 9.4% vs 4.7% nationally (3.2% size peers) — consistent with the 90-day graft signal. Recipient BMI median 29.3 vs 26.3; median LOS 21 d vs 20 (Region 3: 27).</a:t>
            </a:r>
          </a:p>
        </p:txBody>
      </p:sp>
      <p:sp>
        <p:nvSpPr>
          <p:cNvPr id="9" name="Rectangle 8"/>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UNOS Benchmark Comparison</a:t>
            </a:r>
          </a:p>
        </p:txBody>
      </p:sp>
      <p:sp>
        <p:nvSpPr>
          <p:cNvPr id="11" name="TextBox 10"/>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14</a:t>
            </a:r>
          </a:p>
        </p:txBody>
      </p:sp>
      <p:pic>
        <p:nvPicPr>
          <p:cNvPr id="12" name="Benchmark chart" descr="benchmark.png"/>
          <p:cNvPicPr>
            <a:picLocks noChangeAspect="1"/>
          </p:cNvPicPr>
          <p:nvPr/>
        </p:nvPicPr>
        <p:blipFill>
          <a:blip r:embed="rId3"/>
          <a:stretch>
            <a:fillRect/>
          </a:stretch>
        </p:blipFill>
        <p:spPr>
          <a:xfrm>
            <a:off x="137160" y="566928"/>
            <a:ext cx="7818120" cy="3520440"/>
          </a:xfrm>
          <a:prstGeom prst="rect">
            <a:avLst/>
          </a:prstGeom>
        </p:spPr>
      </p:pic>
      <p:sp>
        <p:nvSpPr>
          <p:cNvPr id="13" name="KPI 1 Rectangle"/>
          <p:cNvSpPr/>
          <p:nvPr/>
        </p:nvSpPr>
        <p:spPr>
          <a:xfrm>
            <a:off x="8046720" y="594360"/>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KPI 1 TextBox"/>
          <p:cNvSpPr txBox="1"/>
          <p:nvPr/>
        </p:nvSpPr>
        <p:spPr>
          <a:xfrm>
            <a:off x="8046720" y="658368"/>
            <a:ext cx="1874519" cy="477773"/>
          </a:xfrm>
          <a:prstGeom prst="rect">
            <a:avLst/>
          </a:prstGeom>
          <a:noFill/>
        </p:spPr>
        <p:txBody>
          <a:bodyPr wrap="square">
            <a:spAutoFit/>
          </a:bodyPr>
          <a:lstStyle/>
          <a:p>
            <a:pPr algn="ctr"/>
            <a:r>
              <a:rPr sz="2100" b="1" i="0">
                <a:solidFill>
                  <a:srgbClr val="FFFFFF"/>
                </a:solidFill>
              </a:rPr>
              <a:t>32</a:t>
            </a:r>
          </a:p>
        </p:txBody>
      </p:sp>
      <p:sp>
        <p:nvSpPr>
          <p:cNvPr id="15" name="KPI 1 TextBox"/>
          <p:cNvSpPr txBox="1"/>
          <p:nvPr/>
        </p:nvSpPr>
        <p:spPr>
          <a:xfrm>
            <a:off x="8046720" y="1033271"/>
            <a:ext cx="1874519" cy="364845"/>
          </a:xfrm>
          <a:prstGeom prst="rect">
            <a:avLst/>
          </a:prstGeom>
          <a:noFill/>
        </p:spPr>
        <p:txBody>
          <a:bodyPr wrap="square">
            <a:spAutoFit/>
          </a:bodyPr>
          <a:lstStyle/>
          <a:p>
            <a:pPr algn="ctr"/>
            <a:r>
              <a:rPr sz="850" b="0" i="0">
                <a:solidFill>
                  <a:srgbClr val="C8DEF5"/>
                </a:solidFill>
              </a:rPr>
              <a:t>Tx Jul '25–Jun '26 (US median 40)</a:t>
            </a:r>
          </a:p>
        </p:txBody>
      </p:sp>
      <p:sp>
        <p:nvSpPr>
          <p:cNvPr id="16" name="KPI 2 Rectangle"/>
          <p:cNvSpPr/>
          <p:nvPr/>
        </p:nvSpPr>
        <p:spPr>
          <a:xfrm>
            <a:off x="10058400" y="594360"/>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KPI 2 TextBox"/>
          <p:cNvSpPr txBox="1"/>
          <p:nvPr/>
        </p:nvSpPr>
        <p:spPr>
          <a:xfrm>
            <a:off x="10058400" y="658368"/>
            <a:ext cx="1874519" cy="477773"/>
          </a:xfrm>
          <a:prstGeom prst="rect">
            <a:avLst/>
          </a:prstGeom>
          <a:noFill/>
        </p:spPr>
        <p:txBody>
          <a:bodyPr wrap="square">
            <a:spAutoFit/>
          </a:bodyPr>
          <a:lstStyle/>
          <a:p>
            <a:pPr algn="ctr"/>
            <a:r>
              <a:rPr sz="2100" b="1" i="0">
                <a:solidFill>
                  <a:srgbClr val="FFFFFF"/>
                </a:solidFill>
              </a:rPr>
              <a:t>6.4 h</a:t>
            </a:r>
          </a:p>
        </p:txBody>
      </p:sp>
      <p:sp>
        <p:nvSpPr>
          <p:cNvPr id="18" name="KPI 2 TextBox"/>
          <p:cNvSpPr txBox="1"/>
          <p:nvPr/>
        </p:nvSpPr>
        <p:spPr>
          <a:xfrm>
            <a:off x="10058400" y="1033271"/>
            <a:ext cx="1874519" cy="364845"/>
          </a:xfrm>
          <a:prstGeom prst="rect">
            <a:avLst/>
          </a:prstGeom>
          <a:noFill/>
        </p:spPr>
        <p:txBody>
          <a:bodyPr wrap="square">
            <a:spAutoFit/>
          </a:bodyPr>
          <a:lstStyle/>
          <a:p>
            <a:pPr algn="ctr"/>
            <a:r>
              <a:rPr sz="850" b="0" i="0">
                <a:solidFill>
                  <a:srgbClr val="C8DEF5"/>
                </a:solidFill>
              </a:rPr>
              <a:t>Median ischemic time (US 9.8)</a:t>
            </a:r>
          </a:p>
        </p:txBody>
      </p:sp>
      <p:sp>
        <p:nvSpPr>
          <p:cNvPr id="19" name="KPI 3 Rectangle"/>
          <p:cNvSpPr/>
          <p:nvPr/>
        </p:nvSpPr>
        <p:spPr>
          <a:xfrm>
            <a:off x="8046720" y="1572768"/>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KPI 3 TextBox"/>
          <p:cNvSpPr txBox="1"/>
          <p:nvPr/>
        </p:nvSpPr>
        <p:spPr>
          <a:xfrm>
            <a:off x="8046720" y="1636776"/>
            <a:ext cx="1874519" cy="477773"/>
          </a:xfrm>
          <a:prstGeom prst="rect">
            <a:avLst/>
          </a:prstGeom>
          <a:noFill/>
        </p:spPr>
        <p:txBody>
          <a:bodyPr wrap="square">
            <a:spAutoFit/>
          </a:bodyPr>
          <a:lstStyle/>
          <a:p>
            <a:pPr algn="ctr"/>
            <a:r>
              <a:rPr sz="2100" b="1" i="0">
                <a:solidFill>
                  <a:srgbClr val="FFFFFF"/>
                </a:solidFill>
              </a:rPr>
              <a:t>16%</a:t>
            </a:r>
          </a:p>
        </p:txBody>
      </p:sp>
      <p:sp>
        <p:nvSpPr>
          <p:cNvPr id="21" name="KPI 3 TextBox"/>
          <p:cNvSpPr txBox="1"/>
          <p:nvPr/>
        </p:nvSpPr>
        <p:spPr>
          <a:xfrm>
            <a:off x="8046720" y="2011679"/>
            <a:ext cx="1874519" cy="364845"/>
          </a:xfrm>
          <a:prstGeom prst="rect">
            <a:avLst/>
          </a:prstGeom>
          <a:noFill/>
        </p:spPr>
        <p:txBody>
          <a:bodyPr wrap="square">
            <a:spAutoFit/>
          </a:bodyPr>
          <a:lstStyle/>
          <a:p>
            <a:pPr algn="ctr"/>
            <a:r>
              <a:rPr sz="850" b="0" i="0">
                <a:solidFill>
                  <a:srgbClr val="C8DEF5"/>
                </a:solidFill>
              </a:rPr>
              <a:t>Recipients 65+ (US 46%)</a:t>
            </a:r>
          </a:p>
        </p:txBody>
      </p:sp>
      <p:sp>
        <p:nvSpPr>
          <p:cNvPr id="22" name="KPI 4 Rectangle"/>
          <p:cNvSpPr/>
          <p:nvPr/>
        </p:nvSpPr>
        <p:spPr>
          <a:xfrm>
            <a:off x="10058400" y="1572768"/>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KPI 4 TextBox"/>
          <p:cNvSpPr txBox="1"/>
          <p:nvPr/>
        </p:nvSpPr>
        <p:spPr>
          <a:xfrm>
            <a:off x="10058400" y="1636776"/>
            <a:ext cx="1874519" cy="477773"/>
          </a:xfrm>
          <a:prstGeom prst="rect">
            <a:avLst/>
          </a:prstGeom>
          <a:noFill/>
        </p:spPr>
        <p:txBody>
          <a:bodyPr wrap="square">
            <a:spAutoFit/>
          </a:bodyPr>
          <a:lstStyle/>
          <a:p>
            <a:pPr algn="ctr"/>
            <a:r>
              <a:rPr sz="2100" b="1" i="0">
                <a:solidFill>
                  <a:srgbClr val="FFFFFF"/>
                </a:solidFill>
              </a:rPr>
              <a:t>81%</a:t>
            </a:r>
          </a:p>
        </p:txBody>
      </p:sp>
      <p:sp>
        <p:nvSpPr>
          <p:cNvPr id="24" name="KPI 4 TextBox"/>
          <p:cNvSpPr txBox="1"/>
          <p:nvPr/>
        </p:nvSpPr>
        <p:spPr>
          <a:xfrm>
            <a:off x="10058400" y="2011679"/>
            <a:ext cx="1874519" cy="364845"/>
          </a:xfrm>
          <a:prstGeom prst="rect">
            <a:avLst/>
          </a:prstGeom>
          <a:noFill/>
        </p:spPr>
        <p:txBody>
          <a:bodyPr wrap="square">
            <a:spAutoFit/>
          </a:bodyPr>
          <a:lstStyle/>
          <a:p>
            <a:pPr algn="ctr"/>
            <a:r>
              <a:rPr sz="850" b="0" i="0">
                <a:solidFill>
                  <a:srgbClr val="C8DEF5"/>
                </a:solidFill>
              </a:rPr>
              <a:t>Donors under 35 (US 36%)</a:t>
            </a:r>
          </a:p>
        </p:txBody>
      </p:sp>
      <p:sp>
        <p:nvSpPr>
          <p:cNvPr id="25" name="KPI 5 Rectangle"/>
          <p:cNvSpPr/>
          <p:nvPr/>
        </p:nvSpPr>
        <p:spPr>
          <a:xfrm>
            <a:off x="8046720" y="2551176"/>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KPI 5 TextBox"/>
          <p:cNvSpPr txBox="1"/>
          <p:nvPr/>
        </p:nvSpPr>
        <p:spPr>
          <a:xfrm>
            <a:off x="8046720" y="2615184"/>
            <a:ext cx="1874519" cy="477773"/>
          </a:xfrm>
          <a:prstGeom prst="rect">
            <a:avLst/>
          </a:prstGeom>
          <a:noFill/>
        </p:spPr>
        <p:txBody>
          <a:bodyPr wrap="square">
            <a:spAutoFit/>
          </a:bodyPr>
          <a:lstStyle/>
          <a:p>
            <a:pPr algn="ctr"/>
            <a:r>
              <a:rPr sz="2100" b="1" i="0">
                <a:solidFill>
                  <a:srgbClr val="FFFFFF"/>
                </a:solidFill>
              </a:rPr>
              <a:t>9.4%</a:t>
            </a:r>
          </a:p>
        </p:txBody>
      </p:sp>
      <p:sp>
        <p:nvSpPr>
          <p:cNvPr id="27" name="KPI 5 TextBox"/>
          <p:cNvSpPr txBox="1"/>
          <p:nvPr/>
        </p:nvSpPr>
        <p:spPr>
          <a:xfrm>
            <a:off x="8046720" y="2990087"/>
            <a:ext cx="1874519" cy="364845"/>
          </a:xfrm>
          <a:prstGeom prst="rect">
            <a:avLst/>
          </a:prstGeom>
          <a:noFill/>
        </p:spPr>
        <p:txBody>
          <a:bodyPr wrap="square">
            <a:spAutoFit/>
          </a:bodyPr>
          <a:lstStyle/>
          <a:p>
            <a:pPr algn="ctr"/>
            <a:r>
              <a:rPr sz="850" b="0" i="0">
                <a:solidFill>
                  <a:srgbClr val="C8DEF5"/>
                </a:solidFill>
              </a:rPr>
              <a:t>Treated rejection pre-discharge (US 4.7%)</a:t>
            </a:r>
          </a:p>
        </p:txBody>
      </p:sp>
      <p:sp>
        <p:nvSpPr>
          <p:cNvPr id="28" name="KPI 6 Rectangle"/>
          <p:cNvSpPr/>
          <p:nvPr/>
        </p:nvSpPr>
        <p:spPr>
          <a:xfrm>
            <a:off x="10058400" y="2551176"/>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KPI 6 TextBox"/>
          <p:cNvSpPr txBox="1"/>
          <p:nvPr/>
        </p:nvSpPr>
        <p:spPr>
          <a:xfrm>
            <a:off x="10058400" y="2615184"/>
            <a:ext cx="1874519" cy="477773"/>
          </a:xfrm>
          <a:prstGeom prst="rect">
            <a:avLst/>
          </a:prstGeom>
          <a:noFill/>
        </p:spPr>
        <p:txBody>
          <a:bodyPr wrap="square">
            <a:spAutoFit/>
          </a:bodyPr>
          <a:lstStyle/>
          <a:p>
            <a:pPr algn="ctr"/>
            <a:r>
              <a:rPr sz="2100" b="1" i="0">
                <a:solidFill>
                  <a:srgbClr val="FFFFFF"/>
                </a:solidFill>
              </a:rPr>
              <a:t>0%</a:t>
            </a:r>
          </a:p>
        </p:txBody>
      </p:sp>
      <p:sp>
        <p:nvSpPr>
          <p:cNvPr id="30" name="KPI 6 TextBox"/>
          <p:cNvSpPr txBox="1"/>
          <p:nvPr/>
        </p:nvSpPr>
        <p:spPr>
          <a:xfrm>
            <a:off x="10058400" y="2990087"/>
            <a:ext cx="1874519" cy="364845"/>
          </a:xfrm>
          <a:prstGeom prst="rect">
            <a:avLst/>
          </a:prstGeom>
          <a:noFill/>
        </p:spPr>
        <p:txBody>
          <a:bodyPr wrap="square">
            <a:spAutoFit/>
          </a:bodyPr>
          <a:lstStyle/>
          <a:p>
            <a:pPr algn="ctr"/>
            <a:r>
              <a:rPr sz="850" b="0" i="0">
                <a:solidFill>
                  <a:srgbClr val="C8DEF5"/>
                </a:solidFill>
              </a:rPr>
              <a:t>Machine perfusion (Region 3: 16%)</a:t>
            </a:r>
          </a:p>
        </p:txBody>
      </p:sp>
      <p:sp>
        <p:nvSpPr>
          <p:cNvPr id="31" name="Slide note"/>
          <p:cNvSpPr txBox="1"/>
          <p:nvPr/>
        </p:nvSpPr>
        <p:spPr>
          <a:xfrm>
            <a:off x="8046720" y="3493008"/>
            <a:ext cx="4023360" cy="320040"/>
          </a:xfrm>
          <a:prstGeom prst="rect">
            <a:avLst/>
          </a:prstGeom>
          <a:noFill/>
        </p:spPr>
        <p:txBody>
          <a:bodyPr wrap="square">
            <a:spAutoFit/>
          </a:bodyPr>
          <a:lstStyle/>
          <a:p>
            <a:pPr algn="l"/>
            <a:r>
              <a:rPr sz="900" b="1" i="0">
                <a:solidFill>
                  <a:srgbClr val="1A7A4A"/>
                </a:solidFill>
              </a:rPr>
              <a:t>Size peers = Q2:19–39 transplants/yr (19 programs); Region 3 = 8 programs. MU = medical urgency; PTS = post-tx survival points.</a:t>
            </a:r>
          </a:p>
        </p:txBody>
      </p:sp>
    </p:spTree>
    <p:extLst>
      <p:ext uri="{BB962C8B-B14F-4D97-AF65-F5344CB8AC3E}">
        <p14:creationId xmlns:p14="http://schemas.microsoft.com/office/powerpoint/2010/main" val="3915178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Rolling SRTR HR Trend — Surveillance Update (Oct 4, 2026)</a:t>
            </a:r>
          </a:p>
        </p:txBody>
      </p:sp>
      <p:sp>
        <p:nvSpPr>
          <p:cNvPr id="4" name="TextBox 3"/>
          <p:cNvSpPr txBox="1"/>
          <p:nvPr/>
        </p:nvSpPr>
        <p:spPr>
          <a:xfrm>
            <a:off x="265176" y="304038"/>
            <a:ext cx="11430000" cy="274320"/>
          </a:xfrm>
          <a:prstGeom prst="rect">
            <a:avLst/>
          </a:prstGeom>
          <a:noFill/>
        </p:spPr>
        <p:txBody>
          <a:bodyPr wrap="square">
            <a:spAutoFit/>
          </a:bodyPr>
          <a:lstStyle/>
          <a:p>
            <a:pPr algn="l"/>
            <a:r>
              <a:rPr sz="950" b="0" i="0" dirty="0">
                <a:solidFill>
                  <a:srgbClr val="C8DEF5"/>
                </a:solidFill>
              </a:rPr>
              <a:t>SRTR 7/26 confirmed at 90-day graft HR 1.24 (April projection 1.25); 1/27 cohort enters approach zone at 1.71 — early graft failure, not 1-yr survival</a:t>
            </a:r>
          </a:p>
        </p:txBody>
      </p:sp>
      <p:pic>
        <p:nvPicPr>
          <p:cNvPr id="5" name="Picture 4" descr="rolling_hr.png"/>
          <p:cNvPicPr>
            <a:picLocks noChangeAspect="1"/>
          </p:cNvPicPr>
          <p:nvPr/>
        </p:nvPicPr>
        <p:blipFill>
          <a:blip r:embed="rId3"/>
          <a:stretch>
            <a:fillRect/>
          </a:stretch>
        </p:blipFill>
        <p:spPr>
          <a:xfrm>
            <a:off x="137160" y="566928"/>
            <a:ext cx="7818120" cy="4343400"/>
          </a:xfrm>
          <a:prstGeom prst="rect">
            <a:avLst/>
          </a:prstGeom>
        </p:spPr>
      </p:pic>
      <p:sp>
        <p:nvSpPr>
          <p:cNvPr id="6" name="Rectangle 5"/>
          <p:cNvSpPr/>
          <p:nvPr/>
        </p:nvSpPr>
        <p:spPr>
          <a:xfrm>
            <a:off x="8138160" y="594360"/>
            <a:ext cx="3840480" cy="1463040"/>
          </a:xfrm>
          <a:prstGeom prst="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75320" y="658368"/>
            <a:ext cx="3611880" cy="347472"/>
          </a:xfrm>
          <a:prstGeom prst="rect">
            <a:avLst/>
          </a:prstGeom>
          <a:noFill/>
        </p:spPr>
        <p:txBody>
          <a:bodyPr wrap="square">
            <a:spAutoFit/>
          </a:bodyPr>
          <a:lstStyle/>
          <a:p>
            <a:pPr algn="l"/>
            <a:r>
              <a:rPr sz="1000" b="1" i="0">
                <a:solidFill>
                  <a:srgbClr val="C47A00"/>
                </a:solidFill>
              </a:rPr>
              <a:t>⚠  APPROACHING FLAG — 90-DAY GRAFT</a:t>
            </a:r>
          </a:p>
        </p:txBody>
      </p:sp>
      <p:sp>
        <p:nvSpPr>
          <p:cNvPr id="8" name="TextBox 7"/>
          <p:cNvSpPr txBox="1"/>
          <p:nvPr/>
        </p:nvSpPr>
        <p:spPr>
          <a:xfrm>
            <a:off x="8275320" y="1005840"/>
            <a:ext cx="3611880" cy="969264"/>
          </a:xfrm>
          <a:prstGeom prst="rect">
            <a:avLst/>
          </a:prstGeom>
          <a:noFill/>
        </p:spPr>
        <p:txBody>
          <a:bodyPr wrap="square">
            <a:spAutoFit/>
          </a:bodyPr>
          <a:lstStyle/>
          <a:p>
            <a:pPr algn="l"/>
            <a:r>
              <a:rPr sz="900" b="0" i="0">
                <a:solidFill>
                  <a:srgbClr val="2D3A4A"/>
                </a:solidFill>
              </a:rPr>
              <a:t>7/26 actual 1.24 → 1/27 1.71 (5 failures vs 2.1 exp.)</a:t>
            </a:r>
            <a:br>
              <a:rPr sz="900" b="0" i="0">
                <a:solidFill>
                  <a:srgbClr val="2D3A4A"/>
                </a:solidFill>
              </a:rPr>
            </a:br>
            <a:r>
              <a:rPr sz="900" b="0" i="0">
                <a:solidFill>
                  <a:srgbClr val="2D3A4A"/>
                </a:solidFill>
              </a:rPr>
              <a:t>7/27*–7/28* tracking 1.90–2.08 | P(HR&gt;2.25) → 37%</a:t>
            </a:r>
            <a:br>
              <a:rPr sz="900" b="0" i="0">
                <a:solidFill>
                  <a:srgbClr val="2D3A4A"/>
                </a:solidFill>
              </a:rPr>
            </a:br>
            <a:r>
              <a:rPr sz="900" b="0" i="0">
                <a:solidFill>
                  <a:srgbClr val="2D3A4A"/>
                </a:solidFill>
              </a:rPr>
              <a:t>Approach zone 1.50–2.25 | MPSC flag &gt;2.25</a:t>
            </a:r>
          </a:p>
        </p:txBody>
      </p:sp>
      <p:sp>
        <p:nvSpPr>
          <p:cNvPr id="9" name="Rectangle 8"/>
          <p:cNvSpPr/>
          <p:nvPr/>
        </p:nvSpPr>
        <p:spPr>
          <a:xfrm>
            <a:off x="8138160" y="2176272"/>
            <a:ext cx="3840480" cy="1207008"/>
          </a:xfrm>
          <a:prstGeom prst="rect">
            <a:avLst/>
          </a:prstGeom>
          <a:solidFill>
            <a:srgbClr val="E0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2240280"/>
            <a:ext cx="3611880" cy="347472"/>
          </a:xfrm>
          <a:prstGeom prst="rect">
            <a:avLst/>
          </a:prstGeom>
          <a:noFill/>
        </p:spPr>
        <p:txBody>
          <a:bodyPr wrap="square">
            <a:spAutoFit/>
          </a:bodyPr>
          <a:lstStyle/>
          <a:p>
            <a:pPr algn="l"/>
            <a:r>
              <a:rPr sz="1000" b="1" i="0">
                <a:solidFill>
                  <a:srgbClr val="1A7A4A"/>
                </a:solidFill>
              </a:rPr>
              <a:t>✓  WAITLIST MORTALITY RESOLVING</a:t>
            </a:r>
          </a:p>
        </p:txBody>
      </p:sp>
      <p:sp>
        <p:nvSpPr>
          <p:cNvPr id="11" name="TextBox 10"/>
          <p:cNvSpPr txBox="1"/>
          <p:nvPr/>
        </p:nvSpPr>
        <p:spPr>
          <a:xfrm>
            <a:off x="8275320" y="2587752"/>
            <a:ext cx="3611880" cy="713232"/>
          </a:xfrm>
          <a:prstGeom prst="rect">
            <a:avLst/>
          </a:prstGeom>
          <a:noFill/>
        </p:spPr>
        <p:txBody>
          <a:bodyPr wrap="square">
            <a:spAutoFit/>
          </a:bodyPr>
          <a:lstStyle/>
          <a:p>
            <a:pPr algn="l"/>
            <a:r>
              <a:rPr sz="900" b="0" i="0">
                <a:solidFill>
                  <a:srgbClr val="2D3A4A"/>
                </a:solidFill>
              </a:rPr>
              <a:t>WLM HR 2.16 (7/25) → 1.58 (7/26) → 1.20 (1/27)</a:t>
            </a:r>
            <a:br>
              <a:rPr sz="900" b="0" i="0">
                <a:solidFill>
                  <a:srgbClr val="2D3A4A"/>
                </a:solidFill>
              </a:rPr>
            </a:br>
            <a:r>
              <a:rPr sz="900" b="0" i="0">
                <a:solidFill>
                  <a:srgbClr val="2D3A4A"/>
                </a:solidFill>
              </a:rPr>
              <a:t>P(HR&gt;1.75) 56% → 13%; 7/27*–7/28* at 0.74–0.96</a:t>
            </a:r>
            <a:br>
              <a:rPr sz="900" b="0" i="0">
                <a:solidFill>
                  <a:srgbClr val="2D3A4A"/>
                </a:solidFill>
              </a:rPr>
            </a:br>
            <a:r>
              <a:rPr sz="900" b="0" i="0">
                <a:solidFill>
                  <a:srgbClr val="2D3A4A"/>
                </a:solidFill>
              </a:rPr>
              <a:t>PSR 7/26 (2024–25): pre-tx mortality 1.58 [0.68–2.84],</a:t>
            </a:r>
            <a:br>
              <a:rPr sz="900" b="0" i="0">
                <a:solidFill>
                  <a:srgbClr val="2D3A4A"/>
                </a:solidFill>
              </a:rPr>
            </a:br>
            <a:r>
              <a:rPr sz="900" b="0" i="0">
                <a:solidFill>
                  <a:srgbClr val="2D3A4A"/>
                </a:solidFill>
              </a:rPr>
              <a:t>tx-rate ratio 0.59 [0.44–0.76] — still carry 2024 trough</a:t>
            </a:r>
          </a:p>
        </p:txBody>
      </p:sp>
      <p:sp>
        <p:nvSpPr>
          <p:cNvPr id="12" name="Rectangle 11"/>
          <p:cNvSpPr/>
          <p:nvPr/>
        </p:nvSpPr>
        <p:spPr>
          <a:xfrm>
            <a:off x="8138160" y="3493008"/>
            <a:ext cx="3840480" cy="1417320"/>
          </a:xfrm>
          <a:prstGeom prst="rect">
            <a:avLst/>
          </a:prstGeom>
          <a:solidFill>
            <a:srgbClr val="E8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75320" y="3557016"/>
            <a:ext cx="3611880" cy="347472"/>
          </a:xfrm>
          <a:prstGeom prst="rect">
            <a:avLst/>
          </a:prstGeom>
          <a:noFill/>
        </p:spPr>
        <p:txBody>
          <a:bodyPr wrap="square">
            <a:spAutoFit/>
          </a:bodyPr>
          <a:lstStyle/>
          <a:p>
            <a:pPr algn="l"/>
            <a:r>
              <a:rPr sz="1000" b="1" i="0">
                <a:solidFill>
                  <a:srgbClr val="1E3A5F"/>
                </a:solidFill>
              </a:rPr>
              <a:t>WHAT THE DATA SAY</a:t>
            </a:r>
          </a:p>
        </p:txBody>
      </p:sp>
      <p:sp>
        <p:nvSpPr>
          <p:cNvPr id="14" name="TextBox 13"/>
          <p:cNvSpPr txBox="1"/>
          <p:nvPr/>
        </p:nvSpPr>
        <p:spPr>
          <a:xfrm>
            <a:off x="8275320" y="3904487"/>
            <a:ext cx="3611880" cy="932688"/>
          </a:xfrm>
          <a:prstGeom prst="rect">
            <a:avLst/>
          </a:prstGeom>
          <a:noFill/>
        </p:spPr>
        <p:txBody>
          <a:bodyPr wrap="square">
            <a:spAutoFit/>
          </a:bodyPr>
          <a:lstStyle/>
          <a:p>
            <a:pPr algn="l"/>
            <a:r>
              <a:rPr sz="900" b="0" i="0">
                <a:solidFill>
                  <a:srgbClr val="2D3A4A"/>
                </a:solidFill>
              </a:rPr>
              <a:t>1-yr conditional graft HR stays 0.88–1.19 — the</a:t>
            </a:r>
            <a:br>
              <a:rPr sz="900" b="0" i="0">
                <a:solidFill>
                  <a:srgbClr val="2D3A4A"/>
                </a:solidFill>
              </a:rPr>
            </a:br>
            <a:r>
              <a:rPr sz="900" b="0" i="0">
                <a:solidFill>
                  <a:srgbClr val="2D3A4A"/>
                </a:solidFill>
              </a:rPr>
              <a:t>signal is perioperative (≤90-day) failure</a:t>
            </a:r>
            <a:br>
              <a:rPr sz="900" b="0" i="0">
                <a:solidFill>
                  <a:srgbClr val="2D3A4A"/>
                </a:solidFill>
              </a:rPr>
            </a:br>
            <a:r>
              <a:rPr sz="900" b="0" i="0">
                <a:solidFill>
                  <a:srgbClr val="2D3A4A"/>
                </a:solidFill>
              </a:rPr>
              <a:t>90-day failures: 2/16, 2/15, 1/17, 1/7 (H1'25→H2'26)</a:t>
            </a:r>
            <a:br>
              <a:rPr sz="900" b="0" i="0">
                <a:solidFill>
                  <a:srgbClr val="2D3A4A"/>
                </a:solidFill>
              </a:rPr>
            </a:br>
            <a:r>
              <a:rPr sz="900" b="0" i="0">
                <a:solidFill>
                  <a:srgbClr val="2D3A4A"/>
                </a:solidFill>
              </a:rPr>
              <a:t>ICU intake 52% vs 20.7%; new surgeon from Apr '25</a:t>
            </a:r>
          </a:p>
        </p:txBody>
      </p:sp>
      <p:sp>
        <p:nvSpPr>
          <p:cNvPr id="15" name="TextBox 14"/>
          <p:cNvSpPr txBox="1"/>
          <p:nvPr/>
        </p:nvSpPr>
        <p:spPr>
          <a:xfrm>
            <a:off x="182880" y="5047488"/>
            <a:ext cx="11795760" cy="347472"/>
          </a:xfrm>
          <a:prstGeom prst="rect">
            <a:avLst/>
          </a:prstGeom>
          <a:noFill/>
        </p:spPr>
        <p:txBody>
          <a:bodyPr wrap="square">
            <a:spAutoFit/>
          </a:bodyPr>
          <a:lstStyle/>
          <a:p>
            <a:pPr algn="l"/>
            <a:r>
              <a:rPr sz="1000" b="1" i="0">
                <a:solidFill>
                  <a:srgbClr val="1E3A5F"/>
                </a:solidFill>
              </a:rPr>
              <a:t>★  SRTR 1/27 (Jan 2027) will be the first official report in the approach zone — case-review the 2025–26 early graft failures now</a:t>
            </a:r>
          </a:p>
        </p:txBody>
      </p:sp>
      <p:sp>
        <p:nvSpPr>
          <p:cNvPr id="16" name="Rectangle 15"/>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Rolling SRTR HR Trend</a:t>
            </a:r>
          </a:p>
        </p:txBody>
      </p:sp>
      <p:sp>
        <p:nvSpPr>
          <p:cNvPr id="18" name="TextBox 17"/>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15</a:t>
            </a:r>
          </a:p>
        </p:txBody>
      </p:sp>
    </p:spTree>
    <p:extLst>
      <p:ext uri="{BB962C8B-B14F-4D97-AF65-F5344CB8AC3E}">
        <p14:creationId xmlns:p14="http://schemas.microsoft.com/office/powerpoint/2010/main" val="1528243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22860"/>
            <a:ext cx="10972800" cy="384048"/>
          </a:xfrm>
          <a:prstGeom prst="rect">
            <a:avLst/>
          </a:prstGeom>
          <a:noFill/>
        </p:spPr>
        <p:txBody>
          <a:bodyPr wrap="square">
            <a:spAutoFit/>
          </a:bodyPr>
          <a:lstStyle/>
          <a:p>
            <a:pPr algn="l"/>
            <a:r>
              <a:rPr sz="1800" b="1" i="0" dirty="0">
                <a:solidFill>
                  <a:srgbClr val="FFFFFF"/>
                </a:solidFill>
              </a:rPr>
              <a:t>ALUA Offer Acceptance — Lever Pulled (Jan–Aug 2026)</a:t>
            </a:r>
          </a:p>
        </p:txBody>
      </p:sp>
      <p:sp>
        <p:nvSpPr>
          <p:cNvPr id="4" name="TextBox 3"/>
          <p:cNvSpPr txBox="1"/>
          <p:nvPr/>
        </p:nvSpPr>
        <p:spPr>
          <a:xfrm>
            <a:off x="228600" y="269748"/>
            <a:ext cx="11430000" cy="274320"/>
          </a:xfrm>
          <a:prstGeom prst="rect">
            <a:avLst/>
          </a:prstGeom>
          <a:noFill/>
        </p:spPr>
        <p:txBody>
          <a:bodyPr wrap="square">
            <a:spAutoFit/>
          </a:bodyPr>
          <a:lstStyle/>
          <a:p>
            <a:pPr algn="l"/>
            <a:r>
              <a:rPr sz="950" b="0" i="0" dirty="0">
                <a:solidFill>
                  <a:srgbClr val="C8DEF5"/>
                </a:solidFill>
              </a:rPr>
              <a:t>Jan–Aug 2026: 221 offers · 22 accepted · ratio 1.23 — up from 0.90 (CY2025, PSR Jul 2026) and 0.62 (PSR Jan 2026)</a:t>
            </a:r>
          </a:p>
        </p:txBody>
      </p:sp>
      <p:pic>
        <p:nvPicPr>
          <p:cNvPr id="5" name="Picture 4" descr="offer_acceptance.png"/>
          <p:cNvPicPr>
            <a:picLocks noChangeAspect="1"/>
          </p:cNvPicPr>
          <p:nvPr/>
        </p:nvPicPr>
        <p:blipFill>
          <a:blip r:embed="rId3"/>
          <a:stretch>
            <a:fillRect/>
          </a:stretch>
        </p:blipFill>
        <p:spPr>
          <a:xfrm>
            <a:off x="137160" y="566928"/>
            <a:ext cx="7086600" cy="4224528"/>
          </a:xfrm>
          <a:prstGeom prst="rect">
            <a:avLst/>
          </a:prstGeom>
        </p:spPr>
      </p:pic>
      <p:sp>
        <p:nvSpPr>
          <p:cNvPr id="6" name="Rectangle 5"/>
          <p:cNvSpPr/>
          <p:nvPr/>
        </p:nvSpPr>
        <p:spPr>
          <a:xfrm>
            <a:off x="7406640" y="594360"/>
            <a:ext cx="4572000" cy="52578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43800" y="658368"/>
            <a:ext cx="4297680" cy="347472"/>
          </a:xfrm>
          <a:prstGeom prst="rect">
            <a:avLst/>
          </a:prstGeom>
          <a:noFill/>
        </p:spPr>
        <p:txBody>
          <a:bodyPr wrap="square">
            <a:spAutoFit/>
          </a:bodyPr>
          <a:lstStyle/>
          <a:p>
            <a:pPr algn="l"/>
            <a:r>
              <a:rPr sz="1100" b="1" i="0">
                <a:solidFill>
                  <a:srgbClr val="1E3A5F"/>
                </a:solidFill>
              </a:rPr>
              <a:t>Acceptance Strategy Analysis</a:t>
            </a:r>
          </a:p>
        </p:txBody>
      </p:sp>
      <p:sp>
        <p:nvSpPr>
          <p:cNvPr id="8" name="Rectangle 7"/>
          <p:cNvSpPr/>
          <p:nvPr/>
        </p:nvSpPr>
        <p:spPr>
          <a:xfrm>
            <a:off x="7543800" y="1078992"/>
            <a:ext cx="54864" cy="585216"/>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08392" y="1115568"/>
            <a:ext cx="4114800" cy="292608"/>
          </a:xfrm>
          <a:prstGeom prst="rect">
            <a:avLst/>
          </a:prstGeom>
          <a:noFill/>
        </p:spPr>
        <p:txBody>
          <a:bodyPr wrap="square">
            <a:spAutoFit/>
          </a:bodyPr>
          <a:lstStyle/>
          <a:p>
            <a:pPr algn="l"/>
            <a:r>
              <a:rPr sz="950" b="1" i="0">
                <a:solidFill>
                  <a:srgbClr val="2D3A4A"/>
                </a:solidFill>
              </a:rPr>
              <a:t>Overall ratio: 0.62 → 0.90 → 1.23</a:t>
            </a:r>
          </a:p>
        </p:txBody>
      </p:sp>
      <p:sp>
        <p:nvSpPr>
          <p:cNvPr id="10" name="TextBox 9"/>
          <p:cNvSpPr txBox="1"/>
          <p:nvPr/>
        </p:nvSpPr>
        <p:spPr>
          <a:xfrm>
            <a:off x="7708392" y="1389888"/>
            <a:ext cx="4114800" cy="274320"/>
          </a:xfrm>
          <a:prstGeom prst="rect">
            <a:avLst/>
          </a:prstGeom>
          <a:noFill/>
        </p:spPr>
        <p:txBody>
          <a:bodyPr wrap="square">
            <a:spAutoFit/>
          </a:bodyPr>
          <a:lstStyle/>
          <a:p>
            <a:pPr algn="l"/>
            <a:r>
              <a:rPr sz="850" b="0" i="0">
                <a:solidFill>
                  <a:srgbClr val="6B7280"/>
                </a:solidFill>
              </a:rPr>
              <a:t>PSR Jan '26 → PSR Jul '26 (CY2025) → Jan–Aug '26</a:t>
            </a:r>
          </a:p>
        </p:txBody>
      </p:sp>
      <p:sp>
        <p:nvSpPr>
          <p:cNvPr id="11" name="Rectangle 10"/>
          <p:cNvSpPr/>
          <p:nvPr/>
        </p:nvSpPr>
        <p:spPr>
          <a:xfrm>
            <a:off x="7543800" y="1746504"/>
            <a:ext cx="54864" cy="58521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08392" y="1783080"/>
            <a:ext cx="4114800" cy="292608"/>
          </a:xfrm>
          <a:prstGeom prst="rect">
            <a:avLst/>
          </a:prstGeom>
          <a:noFill/>
        </p:spPr>
        <p:txBody>
          <a:bodyPr wrap="square">
            <a:spAutoFit/>
          </a:bodyPr>
          <a:lstStyle/>
          <a:p>
            <a:pPr algn="l"/>
            <a:r>
              <a:rPr sz="950" b="1" i="0">
                <a:solidFill>
                  <a:srgbClr val="2D3A4A"/>
                </a:solidFill>
              </a:rPr>
              <a:t>Accepted 22 / 221 offers (Jan–Aug '26)</a:t>
            </a:r>
          </a:p>
        </p:txBody>
      </p:sp>
      <p:sp>
        <p:nvSpPr>
          <p:cNvPr id="13" name="TextBox 12"/>
          <p:cNvSpPr txBox="1"/>
          <p:nvPr/>
        </p:nvSpPr>
        <p:spPr>
          <a:xfrm>
            <a:off x="7708392" y="2057400"/>
            <a:ext cx="4114800" cy="274320"/>
          </a:xfrm>
          <a:prstGeom prst="rect">
            <a:avLst/>
          </a:prstGeom>
          <a:noFill/>
        </p:spPr>
        <p:txBody>
          <a:bodyPr wrap="square">
            <a:spAutoFit/>
          </a:bodyPr>
          <a:lstStyle/>
          <a:p>
            <a:pPr algn="l"/>
            <a:r>
              <a:rPr sz="850" b="0" i="0">
                <a:solidFill>
                  <a:srgbClr val="6B7280"/>
                </a:solidFill>
              </a:rPr>
              <a:t>CY2025: 31 / 526, 34.5 expected, 0.90 [0.62–1.24]</a:t>
            </a:r>
          </a:p>
        </p:txBody>
      </p:sp>
      <p:sp>
        <p:nvSpPr>
          <p:cNvPr id="14" name="Rectangle 13"/>
          <p:cNvSpPr/>
          <p:nvPr/>
        </p:nvSpPr>
        <p:spPr>
          <a:xfrm>
            <a:off x="7543800" y="2414015"/>
            <a:ext cx="54864" cy="58521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08392" y="2450591"/>
            <a:ext cx="4114800" cy="292608"/>
          </a:xfrm>
          <a:prstGeom prst="rect">
            <a:avLst/>
          </a:prstGeom>
          <a:noFill/>
        </p:spPr>
        <p:txBody>
          <a:bodyPr wrap="square">
            <a:spAutoFit/>
          </a:bodyPr>
          <a:lstStyle/>
          <a:p>
            <a:pPr algn="l"/>
            <a:r>
              <a:rPr sz="950" b="1" i="0">
                <a:solidFill>
                  <a:srgbClr val="2D3A4A"/>
                </a:solidFill>
              </a:rPr>
              <a:t>Hard-to-place: 0.65 (CY2025: 0.75)</a:t>
            </a:r>
          </a:p>
        </p:txBody>
      </p:sp>
      <p:sp>
        <p:nvSpPr>
          <p:cNvPr id="16" name="TextBox 15"/>
          <p:cNvSpPr txBox="1"/>
          <p:nvPr/>
        </p:nvSpPr>
        <p:spPr>
          <a:xfrm>
            <a:off x="7708392" y="2724912"/>
            <a:ext cx="4114800" cy="274320"/>
          </a:xfrm>
          <a:prstGeom prst="rect">
            <a:avLst/>
          </a:prstGeom>
          <a:noFill/>
        </p:spPr>
        <p:txBody>
          <a:bodyPr wrap="square">
            <a:spAutoFit/>
          </a:bodyPr>
          <a:lstStyle/>
          <a:p>
            <a:pPr algn="l"/>
            <a:r>
              <a:rPr sz="850" b="0" i="0">
                <a:solidFill>
                  <a:srgbClr val="6B7280"/>
                </a:solidFill>
              </a:rPr>
              <a:t>0 of 38 accepted — still deferred</a:t>
            </a:r>
          </a:p>
        </p:txBody>
      </p:sp>
      <p:sp>
        <p:nvSpPr>
          <p:cNvPr id="17" name="Rectangle 16"/>
          <p:cNvSpPr/>
          <p:nvPr/>
        </p:nvSpPr>
        <p:spPr>
          <a:xfrm>
            <a:off x="7543800" y="3081528"/>
            <a:ext cx="54864" cy="58521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08392" y="3118104"/>
            <a:ext cx="4114800" cy="292608"/>
          </a:xfrm>
          <a:prstGeom prst="rect">
            <a:avLst/>
          </a:prstGeom>
          <a:noFill/>
        </p:spPr>
        <p:txBody>
          <a:bodyPr wrap="square">
            <a:spAutoFit/>
          </a:bodyPr>
          <a:lstStyle/>
          <a:p>
            <a:pPr algn="l"/>
            <a:r>
              <a:rPr sz="950" b="1" i="0">
                <a:solidFill>
                  <a:srgbClr val="2D3A4A"/>
                </a:solidFill>
              </a:rPr>
              <a:t>&gt;500 miles: 1.74 (CY2025: 0.98)</a:t>
            </a:r>
          </a:p>
        </p:txBody>
      </p:sp>
      <p:sp>
        <p:nvSpPr>
          <p:cNvPr id="19" name="TextBox 18"/>
          <p:cNvSpPr txBox="1"/>
          <p:nvPr/>
        </p:nvSpPr>
        <p:spPr>
          <a:xfrm>
            <a:off x="7708392" y="3392424"/>
            <a:ext cx="4114800" cy="274320"/>
          </a:xfrm>
          <a:prstGeom prst="rect">
            <a:avLst/>
          </a:prstGeom>
          <a:noFill/>
        </p:spPr>
        <p:txBody>
          <a:bodyPr wrap="square">
            <a:spAutoFit/>
          </a:bodyPr>
          <a:lstStyle/>
          <a:p>
            <a:pPr algn="l"/>
            <a:r>
              <a:rPr sz="850" b="0" i="0">
                <a:solidFill>
                  <a:srgbClr val="6B7280"/>
                </a:solidFill>
              </a:rPr>
              <a:t>12 of 95 — distance range has been expanded</a:t>
            </a:r>
          </a:p>
        </p:txBody>
      </p:sp>
      <p:sp>
        <p:nvSpPr>
          <p:cNvPr id="20" name="Rectangle 19"/>
          <p:cNvSpPr/>
          <p:nvPr/>
        </p:nvSpPr>
        <p:spPr>
          <a:xfrm>
            <a:off x="7543800" y="3749039"/>
            <a:ext cx="54864" cy="585216"/>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08392" y="3785615"/>
            <a:ext cx="4114800" cy="292608"/>
          </a:xfrm>
          <a:prstGeom prst="rect">
            <a:avLst/>
          </a:prstGeom>
          <a:noFill/>
        </p:spPr>
        <p:txBody>
          <a:bodyPr wrap="square">
            <a:spAutoFit/>
          </a:bodyPr>
          <a:lstStyle/>
          <a:p>
            <a:pPr algn="l"/>
            <a:r>
              <a:rPr sz="950" b="1" i="0">
                <a:solidFill>
                  <a:srgbClr val="2D3A4A"/>
                </a:solidFill>
              </a:rPr>
              <a:t>PHS risk 1.38 (was 0.71) · DCD 1.54</a:t>
            </a:r>
          </a:p>
        </p:txBody>
      </p:sp>
      <p:sp>
        <p:nvSpPr>
          <p:cNvPr id="22" name="TextBox 21"/>
          <p:cNvSpPr txBox="1"/>
          <p:nvPr/>
        </p:nvSpPr>
        <p:spPr>
          <a:xfrm>
            <a:off x="7708392" y="4059935"/>
            <a:ext cx="4114800" cy="274320"/>
          </a:xfrm>
          <a:prstGeom prst="rect">
            <a:avLst/>
          </a:prstGeom>
          <a:noFill/>
        </p:spPr>
        <p:txBody>
          <a:bodyPr wrap="square">
            <a:spAutoFit/>
          </a:bodyPr>
          <a:lstStyle/>
          <a:p>
            <a:pPr algn="l"/>
            <a:r>
              <a:rPr sz="850" b="0" i="0">
                <a:solidFill>
                  <a:srgbClr val="6B7280"/>
                </a:solidFill>
              </a:rPr>
              <a:t>Both above expected — broader donor acceptance</a:t>
            </a:r>
          </a:p>
        </p:txBody>
      </p:sp>
      <p:sp>
        <p:nvSpPr>
          <p:cNvPr id="23" name="Rectangle 22"/>
          <p:cNvSpPr/>
          <p:nvPr/>
        </p:nvSpPr>
        <p:spPr>
          <a:xfrm>
            <a:off x="7543800" y="4416552"/>
            <a:ext cx="54864" cy="58521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08392" y="4453128"/>
            <a:ext cx="4114800" cy="292608"/>
          </a:xfrm>
          <a:prstGeom prst="rect">
            <a:avLst/>
          </a:prstGeom>
          <a:noFill/>
        </p:spPr>
        <p:txBody>
          <a:bodyPr wrap="square">
            <a:spAutoFit/>
          </a:bodyPr>
          <a:lstStyle/>
          <a:p>
            <a:pPr algn="l"/>
            <a:r>
              <a:rPr sz="950" b="1" i="0">
                <a:solidFill>
                  <a:srgbClr val="2D3A4A"/>
                </a:solidFill>
              </a:rPr>
              <a:t>MPSC trigger: &lt;0.30</a:t>
            </a:r>
          </a:p>
        </p:txBody>
      </p:sp>
      <p:sp>
        <p:nvSpPr>
          <p:cNvPr id="25" name="TextBox 24"/>
          <p:cNvSpPr txBox="1"/>
          <p:nvPr/>
        </p:nvSpPr>
        <p:spPr>
          <a:xfrm>
            <a:off x="7708392" y="4727448"/>
            <a:ext cx="4114800" cy="274320"/>
          </a:xfrm>
          <a:prstGeom prst="rect">
            <a:avLst/>
          </a:prstGeom>
          <a:noFill/>
        </p:spPr>
        <p:txBody>
          <a:bodyPr wrap="square">
            <a:spAutoFit/>
          </a:bodyPr>
          <a:lstStyle/>
          <a:p>
            <a:pPr algn="l"/>
            <a:r>
              <a:rPr sz="850" b="0" i="0">
                <a:solidFill>
                  <a:srgbClr val="6B7280"/>
                </a:solidFill>
              </a:rPr>
              <a:t>ALUA at 1.23 — no regulatory risk</a:t>
            </a:r>
          </a:p>
        </p:txBody>
      </p:sp>
      <p:sp>
        <p:nvSpPr>
          <p:cNvPr id="26" name="TextBox 25"/>
          <p:cNvSpPr txBox="1"/>
          <p:nvPr/>
        </p:nvSpPr>
        <p:spPr>
          <a:xfrm>
            <a:off x="7543800" y="5138928"/>
            <a:ext cx="4315968" cy="658368"/>
          </a:xfrm>
          <a:prstGeom prst="rect">
            <a:avLst/>
          </a:prstGeom>
          <a:noFill/>
        </p:spPr>
        <p:txBody>
          <a:bodyPr wrap="square">
            <a:spAutoFit/>
          </a:bodyPr>
          <a:lstStyle/>
          <a:p>
            <a:pPr algn="l"/>
            <a:r>
              <a:rPr sz="950" b="1" i="0">
                <a:solidFill>
                  <a:srgbClr val="1E3A5F"/>
                </a:solidFill>
              </a:rPr>
              <a:t>Next constraint is listings, not acceptance:</a:t>
            </a:r>
            <a:br>
              <a:rPr sz="950" b="1" i="0">
                <a:solidFill>
                  <a:srgbClr val="1E3A5F"/>
                </a:solidFill>
              </a:rPr>
            </a:br>
            <a:r>
              <a:rPr sz="950" b="1" i="0">
                <a:solidFill>
                  <a:srgbClr val="1E3A5F"/>
                </a:solidFill>
              </a:rPr>
              <a:t>active waitlist fell 13 → 8 (Jul '24 → Jul '26);</a:t>
            </a:r>
            <a:br>
              <a:rPr sz="950" b="1" i="0">
                <a:solidFill>
                  <a:srgbClr val="1E3A5F"/>
                </a:solidFill>
              </a:rPr>
            </a:br>
            <a:r>
              <a:rPr sz="950" b="1" i="0">
                <a:solidFill>
                  <a:srgbClr val="1E3A5F"/>
                </a:solidFill>
              </a:rPr>
              <a:t>16–17 transplants per half-year ≈ removals.</a:t>
            </a:r>
            <a:br>
              <a:rPr sz="950" b="1" i="0">
                <a:solidFill>
                  <a:srgbClr val="1E3A5F"/>
                </a:solidFill>
              </a:rPr>
            </a:br>
            <a:r>
              <a:rPr sz="950" b="1" i="0">
                <a:solidFill>
                  <a:srgbClr val="1E3A5F"/>
                </a:solidFill>
              </a:rPr>
              <a:t>Grow referrals; watch 90-day outcomes</a:t>
            </a:r>
            <a:br>
              <a:rPr sz="950" b="1" i="0">
                <a:solidFill>
                  <a:srgbClr val="1E3A5F"/>
                </a:solidFill>
              </a:rPr>
            </a:br>
            <a:r>
              <a:rPr sz="950" b="1" i="0">
                <a:solidFill>
                  <a:srgbClr val="1E3A5F"/>
                </a:solidFill>
              </a:rPr>
              <a:t>as distance/DCD acceptance widens.</a:t>
            </a:r>
          </a:p>
        </p:txBody>
      </p:sp>
      <p:sp>
        <p:nvSpPr>
          <p:cNvPr id="27" name="Rectangle 26"/>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Offer Acceptance</a:t>
            </a:r>
          </a:p>
        </p:txBody>
      </p:sp>
      <p:sp>
        <p:nvSpPr>
          <p:cNvPr id="29" name="TextBox 28"/>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16</a:t>
            </a:r>
          </a:p>
        </p:txBody>
      </p:sp>
    </p:spTree>
    <p:extLst>
      <p:ext uri="{BB962C8B-B14F-4D97-AF65-F5344CB8AC3E}">
        <p14:creationId xmlns:p14="http://schemas.microsoft.com/office/powerpoint/2010/main" val="1325645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13715"/>
            <a:ext cx="10972800" cy="384048"/>
          </a:xfrm>
          <a:prstGeom prst="rect">
            <a:avLst/>
          </a:prstGeom>
          <a:noFill/>
        </p:spPr>
        <p:txBody>
          <a:bodyPr wrap="square">
            <a:spAutoFit/>
          </a:bodyPr>
          <a:lstStyle/>
          <a:p>
            <a:pPr algn="l"/>
            <a:r>
              <a:rPr sz="1800" b="1" i="0">
                <a:solidFill>
                  <a:srgbClr val="FFFFFF"/>
                </a:solidFill>
              </a:rPr>
              <a:t>ALUA Volume Regression &amp; Forecast 2026–2030</a:t>
            </a:r>
          </a:p>
        </p:txBody>
      </p:sp>
      <p:sp>
        <p:nvSpPr>
          <p:cNvPr id="4" name="TextBox 3"/>
          <p:cNvSpPr txBox="1"/>
          <p:nvPr/>
        </p:nvSpPr>
        <p:spPr>
          <a:xfrm>
            <a:off x="228600" y="306322"/>
            <a:ext cx="11430000" cy="274320"/>
          </a:xfrm>
          <a:prstGeom prst="rect">
            <a:avLst/>
          </a:prstGeom>
          <a:noFill/>
        </p:spPr>
        <p:txBody>
          <a:bodyPr wrap="square">
            <a:spAutoFit/>
          </a:bodyPr>
          <a:lstStyle/>
          <a:p>
            <a:pPr algn="l"/>
            <a:r>
              <a:rPr sz="950" b="0" i="0" dirty="0">
                <a:solidFill>
                  <a:srgbClr val="C8DEF5"/>
                </a:solidFill>
              </a:rPr>
              <a:t>M4 parsimonious structural model · AIC=70.6 · Adj R²=0.448 · Lowest AIC of 4 models</a:t>
            </a:r>
          </a:p>
        </p:txBody>
      </p:sp>
      <p:pic>
        <p:nvPicPr>
          <p:cNvPr id="5" name="Picture 4" descr="regression_forecast.png"/>
          <p:cNvPicPr>
            <a:picLocks noChangeAspect="1"/>
          </p:cNvPicPr>
          <p:nvPr/>
        </p:nvPicPr>
        <p:blipFill>
          <a:blip r:embed="rId3"/>
          <a:stretch>
            <a:fillRect/>
          </a:stretch>
        </p:blipFill>
        <p:spPr>
          <a:xfrm>
            <a:off x="137160" y="566928"/>
            <a:ext cx="7452360" cy="4343400"/>
          </a:xfrm>
          <a:prstGeom prst="rect">
            <a:avLst/>
          </a:prstGeom>
        </p:spPr>
      </p:pic>
      <p:sp>
        <p:nvSpPr>
          <p:cNvPr id="6" name="Rectangle 5"/>
          <p:cNvSpPr/>
          <p:nvPr/>
        </p:nvSpPr>
        <p:spPr>
          <a:xfrm>
            <a:off x="7772400" y="594360"/>
            <a:ext cx="4251960" cy="2395728"/>
          </a:xfrm>
          <a:prstGeom prst="rect">
            <a:avLst/>
          </a:prstGeom>
          <a:solidFill>
            <a:srgbClr val="E8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658368"/>
            <a:ext cx="4005072" cy="347472"/>
          </a:xfrm>
          <a:prstGeom prst="rect">
            <a:avLst/>
          </a:prstGeom>
          <a:noFill/>
        </p:spPr>
        <p:txBody>
          <a:bodyPr wrap="square">
            <a:spAutoFit/>
          </a:bodyPr>
          <a:lstStyle/>
          <a:p>
            <a:pPr algn="l"/>
            <a:r>
              <a:rPr sz="1050" b="1" i="0">
                <a:solidFill>
                  <a:srgbClr val="1E3A5F"/>
                </a:solidFill>
              </a:rPr>
              <a:t>Model Comparison</a:t>
            </a:r>
          </a:p>
        </p:txBody>
      </p:sp>
      <p:sp>
        <p:nvSpPr>
          <p:cNvPr id="8" name="Rectangle 7"/>
          <p:cNvSpPr/>
          <p:nvPr/>
        </p:nvSpPr>
        <p:spPr>
          <a:xfrm>
            <a:off x="7772400" y="1078992"/>
            <a:ext cx="4251960" cy="43891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82127" y="1124712"/>
            <a:ext cx="2194560" cy="320040"/>
          </a:xfrm>
          <a:prstGeom prst="rect">
            <a:avLst/>
          </a:prstGeom>
          <a:noFill/>
        </p:spPr>
        <p:txBody>
          <a:bodyPr wrap="square">
            <a:spAutoFit/>
          </a:bodyPr>
          <a:lstStyle/>
          <a:p>
            <a:pPr algn="l"/>
            <a:r>
              <a:rPr sz="900" b="0" i="0">
                <a:solidFill>
                  <a:srgbClr val="2D3A4A"/>
                </a:solidFill>
              </a:rPr>
              <a:t>M1: Linear</a:t>
            </a:r>
          </a:p>
        </p:txBody>
      </p:sp>
      <p:sp>
        <p:nvSpPr>
          <p:cNvPr id="10" name="TextBox 9"/>
          <p:cNvSpPr txBox="1"/>
          <p:nvPr/>
        </p:nvSpPr>
        <p:spPr>
          <a:xfrm>
            <a:off x="10104120" y="1124712"/>
            <a:ext cx="777240" cy="320040"/>
          </a:xfrm>
          <a:prstGeom prst="rect">
            <a:avLst/>
          </a:prstGeom>
          <a:noFill/>
        </p:spPr>
        <p:txBody>
          <a:bodyPr wrap="square">
            <a:spAutoFit/>
          </a:bodyPr>
          <a:lstStyle/>
          <a:p>
            <a:pPr algn="ctr"/>
            <a:r>
              <a:rPr sz="900" b="0" i="0">
                <a:solidFill>
                  <a:srgbClr val="2D3A4A"/>
                </a:solidFill>
              </a:rPr>
              <a:t>−0.041</a:t>
            </a:r>
          </a:p>
        </p:txBody>
      </p:sp>
      <p:sp>
        <p:nvSpPr>
          <p:cNvPr id="11" name="TextBox 10"/>
          <p:cNvSpPr txBox="1"/>
          <p:nvPr/>
        </p:nvSpPr>
        <p:spPr>
          <a:xfrm>
            <a:off x="10945368" y="1124712"/>
            <a:ext cx="1005840" cy="320040"/>
          </a:xfrm>
          <a:prstGeom prst="rect">
            <a:avLst/>
          </a:prstGeom>
          <a:noFill/>
        </p:spPr>
        <p:txBody>
          <a:bodyPr wrap="square">
            <a:spAutoFit/>
          </a:bodyPr>
          <a:lstStyle/>
          <a:p>
            <a:pPr algn="ctr"/>
            <a:r>
              <a:rPr sz="900" b="0" i="0">
                <a:solidFill>
                  <a:srgbClr val="2D3A4A"/>
                </a:solidFill>
              </a:rPr>
              <a:t>80.3</a:t>
            </a:r>
          </a:p>
        </p:txBody>
      </p:sp>
      <p:sp>
        <p:nvSpPr>
          <p:cNvPr id="12" name="Rectangle 11"/>
          <p:cNvSpPr/>
          <p:nvPr/>
        </p:nvSpPr>
        <p:spPr>
          <a:xfrm>
            <a:off x="7772400" y="1517904"/>
            <a:ext cx="42519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82127" y="1563624"/>
            <a:ext cx="2194560" cy="320040"/>
          </a:xfrm>
          <a:prstGeom prst="rect">
            <a:avLst/>
          </a:prstGeom>
          <a:noFill/>
        </p:spPr>
        <p:txBody>
          <a:bodyPr wrap="square">
            <a:spAutoFit/>
          </a:bodyPr>
          <a:lstStyle/>
          <a:p>
            <a:pPr algn="l"/>
            <a:r>
              <a:rPr sz="900" b="0" i="0">
                <a:solidFill>
                  <a:srgbClr val="2D3A4A"/>
                </a:solidFill>
              </a:rPr>
              <a:t>M2: Quadratic</a:t>
            </a:r>
          </a:p>
        </p:txBody>
      </p:sp>
      <p:sp>
        <p:nvSpPr>
          <p:cNvPr id="14" name="TextBox 13"/>
          <p:cNvSpPr txBox="1"/>
          <p:nvPr/>
        </p:nvSpPr>
        <p:spPr>
          <a:xfrm>
            <a:off x="10104120" y="1563624"/>
            <a:ext cx="777240" cy="320040"/>
          </a:xfrm>
          <a:prstGeom prst="rect">
            <a:avLst/>
          </a:prstGeom>
          <a:noFill/>
        </p:spPr>
        <p:txBody>
          <a:bodyPr wrap="square">
            <a:spAutoFit/>
          </a:bodyPr>
          <a:lstStyle/>
          <a:p>
            <a:pPr algn="ctr"/>
            <a:r>
              <a:rPr sz="900" b="0" i="0">
                <a:solidFill>
                  <a:srgbClr val="2D3A4A"/>
                </a:solidFill>
              </a:rPr>
              <a:t>0.199</a:t>
            </a:r>
          </a:p>
        </p:txBody>
      </p:sp>
      <p:sp>
        <p:nvSpPr>
          <p:cNvPr id="15" name="TextBox 14"/>
          <p:cNvSpPr txBox="1"/>
          <p:nvPr/>
        </p:nvSpPr>
        <p:spPr>
          <a:xfrm>
            <a:off x="10945368" y="1563624"/>
            <a:ext cx="1005840" cy="320040"/>
          </a:xfrm>
          <a:prstGeom prst="rect">
            <a:avLst/>
          </a:prstGeom>
          <a:noFill/>
        </p:spPr>
        <p:txBody>
          <a:bodyPr wrap="square">
            <a:spAutoFit/>
          </a:bodyPr>
          <a:lstStyle/>
          <a:p>
            <a:pPr algn="ctr"/>
            <a:r>
              <a:rPr sz="900" b="0" i="0">
                <a:solidFill>
                  <a:srgbClr val="2D3A4A"/>
                </a:solidFill>
              </a:rPr>
              <a:t>75.7</a:t>
            </a:r>
          </a:p>
        </p:txBody>
      </p:sp>
      <p:sp>
        <p:nvSpPr>
          <p:cNvPr id="16" name="Rectangle 15"/>
          <p:cNvSpPr/>
          <p:nvPr/>
        </p:nvSpPr>
        <p:spPr>
          <a:xfrm>
            <a:off x="7772400" y="1956815"/>
            <a:ext cx="4251960" cy="43891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82127" y="2002536"/>
            <a:ext cx="2194560" cy="320040"/>
          </a:xfrm>
          <a:prstGeom prst="rect">
            <a:avLst/>
          </a:prstGeom>
          <a:noFill/>
        </p:spPr>
        <p:txBody>
          <a:bodyPr wrap="square">
            <a:spAutoFit/>
          </a:bodyPr>
          <a:lstStyle/>
          <a:p>
            <a:pPr algn="l"/>
            <a:r>
              <a:rPr sz="900" b="0" i="0">
                <a:solidFill>
                  <a:srgbClr val="2D3A4A"/>
                </a:solidFill>
              </a:rPr>
              <a:t>M3: Full struct.</a:t>
            </a:r>
          </a:p>
        </p:txBody>
      </p:sp>
      <p:sp>
        <p:nvSpPr>
          <p:cNvPr id="18" name="TextBox 17"/>
          <p:cNvSpPr txBox="1"/>
          <p:nvPr/>
        </p:nvSpPr>
        <p:spPr>
          <a:xfrm>
            <a:off x="10104120" y="2002536"/>
            <a:ext cx="777240" cy="320040"/>
          </a:xfrm>
          <a:prstGeom prst="rect">
            <a:avLst/>
          </a:prstGeom>
          <a:noFill/>
        </p:spPr>
        <p:txBody>
          <a:bodyPr wrap="square">
            <a:spAutoFit/>
          </a:bodyPr>
          <a:lstStyle/>
          <a:p>
            <a:pPr algn="ctr"/>
            <a:r>
              <a:rPr sz="900" b="0" i="0">
                <a:solidFill>
                  <a:srgbClr val="2D3A4A"/>
                </a:solidFill>
              </a:rPr>
              <a:t>0.327</a:t>
            </a:r>
          </a:p>
        </p:txBody>
      </p:sp>
      <p:sp>
        <p:nvSpPr>
          <p:cNvPr id="19" name="TextBox 18"/>
          <p:cNvSpPr txBox="1"/>
          <p:nvPr/>
        </p:nvSpPr>
        <p:spPr>
          <a:xfrm>
            <a:off x="10945368" y="2002536"/>
            <a:ext cx="1005840" cy="320040"/>
          </a:xfrm>
          <a:prstGeom prst="rect">
            <a:avLst/>
          </a:prstGeom>
          <a:noFill/>
        </p:spPr>
        <p:txBody>
          <a:bodyPr wrap="square">
            <a:spAutoFit/>
          </a:bodyPr>
          <a:lstStyle/>
          <a:p>
            <a:pPr algn="ctr"/>
            <a:r>
              <a:rPr sz="900" b="0" i="0">
                <a:solidFill>
                  <a:srgbClr val="2D3A4A"/>
                </a:solidFill>
              </a:rPr>
              <a:t>75.7</a:t>
            </a:r>
          </a:p>
        </p:txBody>
      </p:sp>
      <p:sp>
        <p:nvSpPr>
          <p:cNvPr id="20" name="Rectangle 19"/>
          <p:cNvSpPr/>
          <p:nvPr/>
        </p:nvSpPr>
        <p:spPr>
          <a:xfrm>
            <a:off x="7772400" y="2395728"/>
            <a:ext cx="4251960" cy="438912"/>
          </a:xfrm>
          <a:prstGeom prst="rect">
            <a:avLst/>
          </a:prstGeom>
          <a:solidFill>
            <a:srgbClr val="E0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82127" y="2441448"/>
            <a:ext cx="2194560" cy="320040"/>
          </a:xfrm>
          <a:prstGeom prst="rect">
            <a:avLst/>
          </a:prstGeom>
          <a:noFill/>
        </p:spPr>
        <p:txBody>
          <a:bodyPr wrap="square">
            <a:spAutoFit/>
          </a:bodyPr>
          <a:lstStyle/>
          <a:p>
            <a:pPr algn="l"/>
            <a:r>
              <a:rPr sz="900" b="1" i="0">
                <a:solidFill>
                  <a:srgbClr val="1E3A5F"/>
                </a:solidFill>
              </a:rPr>
              <a:t>M4: Best ★</a:t>
            </a:r>
          </a:p>
        </p:txBody>
      </p:sp>
      <p:sp>
        <p:nvSpPr>
          <p:cNvPr id="22" name="TextBox 21"/>
          <p:cNvSpPr txBox="1"/>
          <p:nvPr/>
        </p:nvSpPr>
        <p:spPr>
          <a:xfrm>
            <a:off x="10104120" y="2441448"/>
            <a:ext cx="777240" cy="320040"/>
          </a:xfrm>
          <a:prstGeom prst="rect">
            <a:avLst/>
          </a:prstGeom>
          <a:noFill/>
        </p:spPr>
        <p:txBody>
          <a:bodyPr wrap="square">
            <a:spAutoFit/>
          </a:bodyPr>
          <a:lstStyle/>
          <a:p>
            <a:pPr algn="ctr"/>
            <a:r>
              <a:rPr sz="900" b="1" i="0">
                <a:solidFill>
                  <a:srgbClr val="1A7A4A"/>
                </a:solidFill>
              </a:rPr>
              <a:t>0.448</a:t>
            </a:r>
          </a:p>
        </p:txBody>
      </p:sp>
      <p:sp>
        <p:nvSpPr>
          <p:cNvPr id="23" name="TextBox 22"/>
          <p:cNvSpPr txBox="1"/>
          <p:nvPr/>
        </p:nvSpPr>
        <p:spPr>
          <a:xfrm>
            <a:off x="10945368" y="2441448"/>
            <a:ext cx="1005840" cy="320040"/>
          </a:xfrm>
          <a:prstGeom prst="rect">
            <a:avLst/>
          </a:prstGeom>
          <a:noFill/>
        </p:spPr>
        <p:txBody>
          <a:bodyPr wrap="square">
            <a:spAutoFit/>
          </a:bodyPr>
          <a:lstStyle/>
          <a:p>
            <a:pPr algn="ctr"/>
            <a:r>
              <a:rPr sz="900" b="1" i="0">
                <a:solidFill>
                  <a:srgbClr val="1A7A4A"/>
                </a:solidFill>
              </a:rPr>
              <a:t>70.6</a:t>
            </a:r>
          </a:p>
        </p:txBody>
      </p:sp>
      <p:sp>
        <p:nvSpPr>
          <p:cNvPr id="24" name="Rectangle 23"/>
          <p:cNvSpPr/>
          <p:nvPr/>
        </p:nvSpPr>
        <p:spPr>
          <a:xfrm>
            <a:off x="7772400" y="3108960"/>
            <a:ext cx="4251960" cy="26974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09560" y="3172968"/>
            <a:ext cx="4005072" cy="347472"/>
          </a:xfrm>
          <a:prstGeom prst="rect">
            <a:avLst/>
          </a:prstGeom>
          <a:noFill/>
        </p:spPr>
        <p:txBody>
          <a:bodyPr wrap="square">
            <a:spAutoFit/>
          </a:bodyPr>
          <a:lstStyle/>
          <a:p>
            <a:pPr algn="l"/>
            <a:r>
              <a:rPr sz="1050" b="1" i="0">
                <a:solidFill>
                  <a:srgbClr val="1E3A5F"/>
                </a:solidFill>
              </a:rPr>
              <a:t>M4 Forecasts: Base vs Accelerated</a:t>
            </a:r>
          </a:p>
        </p:txBody>
      </p:sp>
      <p:sp>
        <p:nvSpPr>
          <p:cNvPr id="26" name="TextBox 25"/>
          <p:cNvSpPr txBox="1"/>
          <p:nvPr/>
        </p:nvSpPr>
        <p:spPr>
          <a:xfrm>
            <a:off x="7909560" y="3584448"/>
            <a:ext cx="4005072" cy="347472"/>
          </a:xfrm>
          <a:prstGeom prst="rect">
            <a:avLst/>
          </a:prstGeom>
          <a:noFill/>
        </p:spPr>
        <p:txBody>
          <a:bodyPr wrap="square">
            <a:spAutoFit/>
          </a:bodyPr>
          <a:lstStyle/>
          <a:p>
            <a:pPr algn="l"/>
            <a:r>
              <a:rPr sz="1000" b="0" i="0">
                <a:solidFill>
                  <a:srgbClr val="2D3A4A"/>
                </a:solidFill>
              </a:rPr>
              <a:t>2026:  base 22 (PI 15–30) · accel. 30</a:t>
            </a:r>
          </a:p>
        </p:txBody>
      </p:sp>
      <p:sp>
        <p:nvSpPr>
          <p:cNvPr id="27" name="TextBox 26"/>
          <p:cNvSpPr txBox="1"/>
          <p:nvPr/>
        </p:nvSpPr>
        <p:spPr>
          <a:xfrm>
            <a:off x="7909560" y="4005072"/>
            <a:ext cx="4005072" cy="347472"/>
          </a:xfrm>
          <a:prstGeom prst="rect">
            <a:avLst/>
          </a:prstGeom>
          <a:noFill/>
        </p:spPr>
        <p:txBody>
          <a:bodyPr wrap="square">
            <a:spAutoFit/>
          </a:bodyPr>
          <a:lstStyle/>
          <a:p>
            <a:pPr algn="l"/>
            <a:r>
              <a:rPr sz="1000" b="0" i="0">
                <a:solidFill>
                  <a:srgbClr val="2D3A4A"/>
                </a:solidFill>
              </a:rPr>
              <a:t>2027:  base 22 (PI 14–29) · accel. 30</a:t>
            </a:r>
          </a:p>
        </p:txBody>
      </p:sp>
      <p:sp>
        <p:nvSpPr>
          <p:cNvPr id="28" name="TextBox 27"/>
          <p:cNvSpPr txBox="1"/>
          <p:nvPr/>
        </p:nvSpPr>
        <p:spPr>
          <a:xfrm>
            <a:off x="7909560" y="4425696"/>
            <a:ext cx="4005072" cy="347472"/>
          </a:xfrm>
          <a:prstGeom prst="rect">
            <a:avLst/>
          </a:prstGeom>
          <a:noFill/>
        </p:spPr>
        <p:txBody>
          <a:bodyPr wrap="square">
            <a:spAutoFit/>
          </a:bodyPr>
          <a:lstStyle/>
          <a:p>
            <a:pPr algn="l"/>
            <a:r>
              <a:rPr sz="1000" b="0" i="0">
                <a:solidFill>
                  <a:srgbClr val="2D3A4A"/>
                </a:solidFill>
              </a:rPr>
              <a:t>2028:  base 21 (PI 13–29) · accel. 29</a:t>
            </a:r>
          </a:p>
        </p:txBody>
      </p:sp>
      <p:sp>
        <p:nvSpPr>
          <p:cNvPr id="29" name="TextBox 28"/>
          <p:cNvSpPr txBox="1"/>
          <p:nvPr/>
        </p:nvSpPr>
        <p:spPr>
          <a:xfrm>
            <a:off x="7909560" y="4846320"/>
            <a:ext cx="4005072" cy="347472"/>
          </a:xfrm>
          <a:prstGeom prst="rect">
            <a:avLst/>
          </a:prstGeom>
          <a:noFill/>
        </p:spPr>
        <p:txBody>
          <a:bodyPr wrap="square">
            <a:spAutoFit/>
          </a:bodyPr>
          <a:lstStyle/>
          <a:p>
            <a:pPr algn="l"/>
            <a:r>
              <a:rPr sz="1000" b="0" i="0">
                <a:solidFill>
                  <a:srgbClr val="2D3A4A"/>
                </a:solidFill>
              </a:rPr>
              <a:t>2029:  base 20 (PI 12–28) · accel. 28</a:t>
            </a:r>
          </a:p>
        </p:txBody>
      </p:sp>
      <p:sp>
        <p:nvSpPr>
          <p:cNvPr id="30" name="TextBox 29"/>
          <p:cNvSpPr txBox="1"/>
          <p:nvPr/>
        </p:nvSpPr>
        <p:spPr>
          <a:xfrm>
            <a:off x="7909560" y="5266944"/>
            <a:ext cx="4005072" cy="347472"/>
          </a:xfrm>
          <a:prstGeom prst="rect">
            <a:avLst/>
          </a:prstGeom>
          <a:noFill/>
        </p:spPr>
        <p:txBody>
          <a:bodyPr wrap="square">
            <a:spAutoFit/>
          </a:bodyPr>
          <a:lstStyle/>
          <a:p>
            <a:pPr algn="l"/>
            <a:r>
              <a:rPr sz="1000" b="0" i="0">
                <a:solidFill>
                  <a:srgbClr val="2D3A4A"/>
                </a:solidFill>
              </a:rPr>
              <a:t>2030:  base 20 (PI 12–28) · accel. 28</a:t>
            </a:r>
          </a:p>
        </p:txBody>
      </p:sp>
      <p:sp>
        <p:nvSpPr>
          <p:cNvPr id="31" name="TextBox 30"/>
          <p:cNvSpPr txBox="1"/>
          <p:nvPr/>
        </p:nvSpPr>
        <p:spPr>
          <a:xfrm>
            <a:off x="7909560" y="5897879"/>
            <a:ext cx="4005072" cy="347472"/>
          </a:xfrm>
          <a:prstGeom prst="rect">
            <a:avLst/>
          </a:prstGeom>
          <a:noFill/>
        </p:spPr>
        <p:txBody>
          <a:bodyPr wrap="square">
            <a:spAutoFit/>
          </a:bodyPr>
          <a:lstStyle/>
          <a:p>
            <a:pPr algn="l"/>
            <a:r>
              <a:rPr sz="850" b="1" i="0">
                <a:solidFill>
                  <a:srgbClr val="1A7A8A"/>
                </a:solidFill>
              </a:rPr>
              <a:t>★ 2026 pace ~31 (23 by Sep): tracking accelerated path</a:t>
            </a:r>
          </a:p>
        </p:txBody>
      </p:sp>
      <p:sp>
        <p:nvSpPr>
          <p:cNvPr id="32" name="Rectangle 31"/>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Regression Forecast</a:t>
            </a:r>
          </a:p>
        </p:txBody>
      </p:sp>
      <p:sp>
        <p:nvSpPr>
          <p:cNvPr id="34" name="TextBox 33"/>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17</a:t>
            </a:r>
          </a:p>
        </p:txBody>
      </p:sp>
    </p:spTree>
    <p:extLst>
      <p:ext uri="{BB962C8B-B14F-4D97-AF65-F5344CB8AC3E}">
        <p14:creationId xmlns:p14="http://schemas.microsoft.com/office/powerpoint/2010/main" val="216982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Monte Carlo Probability &amp; Bayesian Update</a:t>
            </a:r>
          </a:p>
        </p:txBody>
      </p:sp>
      <p:sp>
        <p:nvSpPr>
          <p:cNvPr id="4" name="TextBox 3"/>
          <p:cNvSpPr txBox="1"/>
          <p:nvPr/>
        </p:nvSpPr>
        <p:spPr>
          <a:xfrm>
            <a:off x="210312" y="301752"/>
            <a:ext cx="11430000" cy="274320"/>
          </a:xfrm>
          <a:prstGeom prst="rect">
            <a:avLst/>
          </a:prstGeom>
          <a:noFill/>
        </p:spPr>
        <p:txBody>
          <a:bodyPr wrap="square">
            <a:spAutoFit/>
          </a:bodyPr>
          <a:lstStyle/>
          <a:p>
            <a:pPr algn="l"/>
            <a:r>
              <a:rPr sz="950" b="0" i="0">
                <a:solidFill>
                  <a:srgbClr val="C8DEF5"/>
                </a:solidFill>
              </a:rPr>
              <a:t>100k simulated paths · Regime-switching model · Year-end update with Jan–Sep 2026 actuals</a:t>
            </a:r>
          </a:p>
        </p:txBody>
      </p:sp>
      <p:pic>
        <p:nvPicPr>
          <p:cNvPr id="5" name="Picture 4" descr="monte_carlo.png"/>
          <p:cNvPicPr>
            <a:picLocks noChangeAspect="1"/>
          </p:cNvPicPr>
          <p:nvPr/>
        </p:nvPicPr>
        <p:blipFill>
          <a:blip r:embed="rId3"/>
          <a:stretch>
            <a:fillRect/>
          </a:stretch>
        </p:blipFill>
        <p:spPr>
          <a:xfrm>
            <a:off x="137160" y="566928"/>
            <a:ext cx="7818120" cy="4224528"/>
          </a:xfrm>
          <a:prstGeom prst="rect">
            <a:avLst/>
          </a:prstGeom>
        </p:spPr>
      </p:pic>
      <p:sp>
        <p:nvSpPr>
          <p:cNvPr id="6" name="Rectangle 5"/>
          <p:cNvSpPr/>
          <p:nvPr/>
        </p:nvSpPr>
        <p:spPr>
          <a:xfrm>
            <a:off x="8138160" y="594360"/>
            <a:ext cx="3840480" cy="2926080"/>
          </a:xfrm>
          <a:prstGeom prst="rect">
            <a:avLst/>
          </a:prstGeom>
          <a:solidFill>
            <a:srgbClr val="E8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75320" y="658368"/>
            <a:ext cx="3611880" cy="347472"/>
          </a:xfrm>
          <a:prstGeom prst="rect">
            <a:avLst/>
          </a:prstGeom>
          <a:noFill/>
        </p:spPr>
        <p:txBody>
          <a:bodyPr wrap="square">
            <a:spAutoFit/>
          </a:bodyPr>
          <a:lstStyle/>
          <a:p>
            <a:pPr algn="l"/>
            <a:r>
              <a:rPr sz="1050" b="1" i="0">
                <a:solidFill>
                  <a:srgbClr val="1E3A5F"/>
                </a:solidFill>
              </a:rPr>
              <a:t>P(Sustaining ≥33 cases/yr)</a:t>
            </a:r>
          </a:p>
        </p:txBody>
      </p:sp>
      <p:sp>
        <p:nvSpPr>
          <p:cNvPr id="8" name="Rectangle 7"/>
          <p:cNvSpPr/>
          <p:nvPr/>
        </p:nvSpPr>
        <p:spPr>
          <a:xfrm>
            <a:off x="8138160" y="1051560"/>
            <a:ext cx="3840480" cy="43891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84464" y="1097280"/>
            <a:ext cx="1645920" cy="320040"/>
          </a:xfrm>
          <a:prstGeom prst="rect">
            <a:avLst/>
          </a:prstGeom>
          <a:noFill/>
        </p:spPr>
        <p:txBody>
          <a:bodyPr wrap="square">
            <a:spAutoFit/>
          </a:bodyPr>
          <a:lstStyle/>
          <a:p>
            <a:pPr algn="l"/>
            <a:r>
              <a:rPr sz="850" b="1" i="0">
                <a:solidFill>
                  <a:srgbClr val="FFFFFF"/>
                </a:solidFill>
              </a:rPr>
              <a:t>Scenario</a:t>
            </a:r>
          </a:p>
        </p:txBody>
      </p:sp>
      <p:sp>
        <p:nvSpPr>
          <p:cNvPr id="10" name="TextBox 9"/>
          <p:cNvSpPr txBox="1"/>
          <p:nvPr/>
        </p:nvSpPr>
        <p:spPr>
          <a:xfrm>
            <a:off x="9994392" y="1097280"/>
            <a:ext cx="1645920" cy="320040"/>
          </a:xfrm>
          <a:prstGeom prst="rect">
            <a:avLst/>
          </a:prstGeom>
          <a:noFill/>
        </p:spPr>
        <p:txBody>
          <a:bodyPr wrap="square">
            <a:spAutoFit/>
          </a:bodyPr>
          <a:lstStyle/>
          <a:p>
            <a:pPr algn="ctr"/>
            <a:r>
              <a:rPr sz="850" b="1" i="0">
                <a:solidFill>
                  <a:srgbClr val="FFFFFF"/>
                </a:solidFill>
              </a:rPr>
              <a:t>1yr</a:t>
            </a:r>
          </a:p>
        </p:txBody>
      </p:sp>
      <p:sp>
        <p:nvSpPr>
          <p:cNvPr id="11" name="TextBox 10"/>
          <p:cNvSpPr txBox="1"/>
          <p:nvPr/>
        </p:nvSpPr>
        <p:spPr>
          <a:xfrm>
            <a:off x="10725912" y="1097280"/>
            <a:ext cx="1645920" cy="320040"/>
          </a:xfrm>
          <a:prstGeom prst="rect">
            <a:avLst/>
          </a:prstGeom>
          <a:noFill/>
        </p:spPr>
        <p:txBody>
          <a:bodyPr wrap="square">
            <a:spAutoFit/>
          </a:bodyPr>
          <a:lstStyle/>
          <a:p>
            <a:pPr algn="ctr"/>
            <a:r>
              <a:rPr sz="850" b="1" i="0">
                <a:solidFill>
                  <a:srgbClr val="FFFFFF"/>
                </a:solidFill>
              </a:rPr>
              <a:t>3yr</a:t>
            </a:r>
          </a:p>
        </p:txBody>
      </p:sp>
      <p:sp>
        <p:nvSpPr>
          <p:cNvPr id="12" name="TextBox 11"/>
          <p:cNvSpPr txBox="1"/>
          <p:nvPr/>
        </p:nvSpPr>
        <p:spPr>
          <a:xfrm>
            <a:off x="11457432" y="1097280"/>
            <a:ext cx="1645920" cy="320040"/>
          </a:xfrm>
          <a:prstGeom prst="rect">
            <a:avLst/>
          </a:prstGeom>
          <a:noFill/>
        </p:spPr>
        <p:txBody>
          <a:bodyPr wrap="square">
            <a:spAutoFit/>
          </a:bodyPr>
          <a:lstStyle/>
          <a:p>
            <a:pPr algn="ctr"/>
            <a:r>
              <a:rPr sz="850" b="1" i="0">
                <a:solidFill>
                  <a:srgbClr val="FFFFFF"/>
                </a:solidFill>
              </a:rPr>
              <a:t>5yr</a:t>
            </a:r>
          </a:p>
        </p:txBody>
      </p:sp>
      <p:sp>
        <p:nvSpPr>
          <p:cNvPr id="13" name="Rectangle 12"/>
          <p:cNvSpPr/>
          <p:nvPr/>
        </p:nvSpPr>
        <p:spPr>
          <a:xfrm>
            <a:off x="8138160" y="1490472"/>
            <a:ext cx="3840480" cy="457200"/>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536192"/>
            <a:ext cx="1691640" cy="320040"/>
          </a:xfrm>
          <a:prstGeom prst="rect">
            <a:avLst/>
          </a:prstGeom>
          <a:noFill/>
        </p:spPr>
        <p:txBody>
          <a:bodyPr wrap="square">
            <a:spAutoFit/>
          </a:bodyPr>
          <a:lstStyle/>
          <a:p>
            <a:pPr algn="l"/>
            <a:r>
              <a:rPr sz="900" b="0" i="0">
                <a:solidFill>
                  <a:srgbClr val="2D3A4A"/>
                </a:solidFill>
              </a:rPr>
              <a:t>Base (start 31)</a:t>
            </a:r>
          </a:p>
        </p:txBody>
      </p:sp>
      <p:sp>
        <p:nvSpPr>
          <p:cNvPr id="15" name="TextBox 14"/>
          <p:cNvSpPr txBox="1"/>
          <p:nvPr/>
        </p:nvSpPr>
        <p:spPr>
          <a:xfrm>
            <a:off x="9994392" y="1536192"/>
            <a:ext cx="685800" cy="320040"/>
          </a:xfrm>
          <a:prstGeom prst="rect">
            <a:avLst/>
          </a:prstGeom>
          <a:noFill/>
        </p:spPr>
        <p:txBody>
          <a:bodyPr wrap="square">
            <a:spAutoFit/>
          </a:bodyPr>
          <a:lstStyle/>
          <a:p>
            <a:pPr algn="ctr"/>
            <a:r>
              <a:rPr sz="900" b="0" i="0">
                <a:solidFill>
                  <a:srgbClr val="2D3A4A"/>
                </a:solidFill>
              </a:rPr>
              <a:t>27%</a:t>
            </a:r>
          </a:p>
        </p:txBody>
      </p:sp>
      <p:sp>
        <p:nvSpPr>
          <p:cNvPr id="16" name="TextBox 15"/>
          <p:cNvSpPr txBox="1"/>
          <p:nvPr/>
        </p:nvSpPr>
        <p:spPr>
          <a:xfrm>
            <a:off x="10725912" y="1536192"/>
            <a:ext cx="685800" cy="320040"/>
          </a:xfrm>
          <a:prstGeom prst="rect">
            <a:avLst/>
          </a:prstGeom>
          <a:noFill/>
        </p:spPr>
        <p:txBody>
          <a:bodyPr wrap="square">
            <a:spAutoFit/>
          </a:bodyPr>
          <a:lstStyle/>
          <a:p>
            <a:pPr algn="ctr"/>
            <a:r>
              <a:rPr sz="900" b="0" i="0">
                <a:solidFill>
                  <a:srgbClr val="2D3A4A"/>
                </a:solidFill>
              </a:rPr>
              <a:t>13%</a:t>
            </a:r>
          </a:p>
        </p:txBody>
      </p:sp>
      <p:sp>
        <p:nvSpPr>
          <p:cNvPr id="17" name="TextBox 16"/>
          <p:cNvSpPr txBox="1"/>
          <p:nvPr/>
        </p:nvSpPr>
        <p:spPr>
          <a:xfrm>
            <a:off x="11457432" y="1536192"/>
            <a:ext cx="685800" cy="320040"/>
          </a:xfrm>
          <a:prstGeom prst="rect">
            <a:avLst/>
          </a:prstGeom>
          <a:noFill/>
        </p:spPr>
        <p:txBody>
          <a:bodyPr wrap="square">
            <a:spAutoFit/>
          </a:bodyPr>
          <a:lstStyle/>
          <a:p>
            <a:pPr algn="ctr"/>
            <a:r>
              <a:rPr sz="900" b="0" i="0">
                <a:solidFill>
                  <a:srgbClr val="2D3A4A"/>
                </a:solidFill>
              </a:rPr>
              <a:t>8%</a:t>
            </a:r>
          </a:p>
        </p:txBody>
      </p:sp>
      <p:sp>
        <p:nvSpPr>
          <p:cNvPr id="18" name="Rectangle 17"/>
          <p:cNvSpPr/>
          <p:nvPr/>
        </p:nvSpPr>
        <p:spPr>
          <a:xfrm>
            <a:off x="8138160" y="1947672"/>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0" y="1993391"/>
            <a:ext cx="1691640" cy="320040"/>
          </a:xfrm>
          <a:prstGeom prst="rect">
            <a:avLst/>
          </a:prstGeom>
          <a:noFill/>
        </p:spPr>
        <p:txBody>
          <a:bodyPr wrap="square">
            <a:spAutoFit/>
          </a:bodyPr>
          <a:lstStyle/>
          <a:p>
            <a:pPr algn="l"/>
            <a:r>
              <a:rPr sz="900" b="0" i="0">
                <a:solidFill>
                  <a:srgbClr val="2D3A4A"/>
                </a:solidFill>
              </a:rPr>
              <a:t>Upside (start 36)</a:t>
            </a:r>
          </a:p>
        </p:txBody>
      </p:sp>
      <p:sp>
        <p:nvSpPr>
          <p:cNvPr id="20" name="TextBox 19"/>
          <p:cNvSpPr txBox="1"/>
          <p:nvPr/>
        </p:nvSpPr>
        <p:spPr>
          <a:xfrm>
            <a:off x="9994392" y="1993391"/>
            <a:ext cx="685800" cy="320040"/>
          </a:xfrm>
          <a:prstGeom prst="rect">
            <a:avLst/>
          </a:prstGeom>
          <a:noFill/>
        </p:spPr>
        <p:txBody>
          <a:bodyPr wrap="square">
            <a:spAutoFit/>
          </a:bodyPr>
          <a:lstStyle/>
          <a:p>
            <a:pPr algn="ctr"/>
            <a:r>
              <a:rPr sz="900" b="0" i="0">
                <a:solidFill>
                  <a:srgbClr val="2D3A4A"/>
                </a:solidFill>
              </a:rPr>
              <a:t>54%</a:t>
            </a:r>
          </a:p>
        </p:txBody>
      </p:sp>
      <p:sp>
        <p:nvSpPr>
          <p:cNvPr id="21" name="TextBox 20"/>
          <p:cNvSpPr txBox="1"/>
          <p:nvPr/>
        </p:nvSpPr>
        <p:spPr>
          <a:xfrm>
            <a:off x="10725912" y="1993391"/>
            <a:ext cx="685800" cy="320040"/>
          </a:xfrm>
          <a:prstGeom prst="rect">
            <a:avLst/>
          </a:prstGeom>
          <a:noFill/>
        </p:spPr>
        <p:txBody>
          <a:bodyPr wrap="square">
            <a:spAutoFit/>
          </a:bodyPr>
          <a:lstStyle/>
          <a:p>
            <a:pPr algn="ctr"/>
            <a:r>
              <a:rPr sz="900" b="0" i="0">
                <a:solidFill>
                  <a:srgbClr val="2D3A4A"/>
                </a:solidFill>
              </a:rPr>
              <a:t>28%</a:t>
            </a:r>
          </a:p>
        </p:txBody>
      </p:sp>
      <p:sp>
        <p:nvSpPr>
          <p:cNvPr id="22" name="TextBox 21"/>
          <p:cNvSpPr txBox="1"/>
          <p:nvPr/>
        </p:nvSpPr>
        <p:spPr>
          <a:xfrm>
            <a:off x="11457432" y="1993391"/>
            <a:ext cx="685800" cy="320040"/>
          </a:xfrm>
          <a:prstGeom prst="rect">
            <a:avLst/>
          </a:prstGeom>
          <a:noFill/>
        </p:spPr>
        <p:txBody>
          <a:bodyPr wrap="square">
            <a:spAutoFit/>
          </a:bodyPr>
          <a:lstStyle/>
          <a:p>
            <a:pPr algn="ctr"/>
            <a:r>
              <a:rPr sz="900" b="0" i="0">
                <a:solidFill>
                  <a:srgbClr val="2D3A4A"/>
                </a:solidFill>
              </a:rPr>
              <a:t>18%</a:t>
            </a:r>
          </a:p>
        </p:txBody>
      </p:sp>
      <p:sp>
        <p:nvSpPr>
          <p:cNvPr id="23" name="Rectangle 22"/>
          <p:cNvSpPr/>
          <p:nvPr/>
        </p:nvSpPr>
        <p:spPr>
          <a:xfrm>
            <a:off x="8138160" y="2404872"/>
            <a:ext cx="3840480" cy="457200"/>
          </a:xfrm>
          <a:prstGeom prst="rect">
            <a:avLst/>
          </a:prstGeom>
          <a:solidFill>
            <a:srgbClr val="E0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0" y="2450591"/>
            <a:ext cx="1691640" cy="320040"/>
          </a:xfrm>
          <a:prstGeom prst="rect">
            <a:avLst/>
          </a:prstGeom>
          <a:noFill/>
        </p:spPr>
        <p:txBody>
          <a:bodyPr wrap="square">
            <a:spAutoFit/>
          </a:bodyPr>
          <a:lstStyle/>
          <a:p>
            <a:pPr algn="l"/>
            <a:r>
              <a:rPr sz="900" b="1" i="0">
                <a:solidFill>
                  <a:srgbClr val="1E3A5F"/>
                </a:solidFill>
              </a:rPr>
              <a:t>Bull (36, stable)</a:t>
            </a:r>
          </a:p>
        </p:txBody>
      </p:sp>
      <p:sp>
        <p:nvSpPr>
          <p:cNvPr id="25" name="TextBox 24"/>
          <p:cNvSpPr txBox="1"/>
          <p:nvPr/>
        </p:nvSpPr>
        <p:spPr>
          <a:xfrm>
            <a:off x="9994392" y="2450591"/>
            <a:ext cx="685800" cy="320040"/>
          </a:xfrm>
          <a:prstGeom prst="rect">
            <a:avLst/>
          </a:prstGeom>
          <a:noFill/>
        </p:spPr>
        <p:txBody>
          <a:bodyPr wrap="square">
            <a:spAutoFit/>
          </a:bodyPr>
          <a:lstStyle/>
          <a:p>
            <a:pPr algn="ctr"/>
            <a:r>
              <a:rPr sz="900" b="1" i="0">
                <a:solidFill>
                  <a:srgbClr val="1A7A4A"/>
                </a:solidFill>
              </a:rPr>
              <a:t>60%</a:t>
            </a:r>
          </a:p>
        </p:txBody>
      </p:sp>
      <p:sp>
        <p:nvSpPr>
          <p:cNvPr id="26" name="TextBox 25"/>
          <p:cNvSpPr txBox="1"/>
          <p:nvPr/>
        </p:nvSpPr>
        <p:spPr>
          <a:xfrm>
            <a:off x="10725912" y="2450591"/>
            <a:ext cx="685800" cy="320040"/>
          </a:xfrm>
          <a:prstGeom prst="rect">
            <a:avLst/>
          </a:prstGeom>
          <a:noFill/>
        </p:spPr>
        <p:txBody>
          <a:bodyPr wrap="square">
            <a:spAutoFit/>
          </a:bodyPr>
          <a:lstStyle/>
          <a:p>
            <a:pPr algn="ctr"/>
            <a:r>
              <a:rPr sz="900" b="1" i="0">
                <a:solidFill>
                  <a:srgbClr val="1A7A4A"/>
                </a:solidFill>
              </a:rPr>
              <a:t>38%</a:t>
            </a:r>
          </a:p>
        </p:txBody>
      </p:sp>
      <p:sp>
        <p:nvSpPr>
          <p:cNvPr id="27" name="TextBox 26"/>
          <p:cNvSpPr txBox="1"/>
          <p:nvPr/>
        </p:nvSpPr>
        <p:spPr>
          <a:xfrm>
            <a:off x="11457432" y="2450591"/>
            <a:ext cx="685800" cy="320040"/>
          </a:xfrm>
          <a:prstGeom prst="rect">
            <a:avLst/>
          </a:prstGeom>
          <a:noFill/>
        </p:spPr>
        <p:txBody>
          <a:bodyPr wrap="square">
            <a:spAutoFit/>
          </a:bodyPr>
          <a:lstStyle/>
          <a:p>
            <a:pPr algn="ctr"/>
            <a:r>
              <a:rPr sz="900" b="1" i="0">
                <a:solidFill>
                  <a:srgbClr val="1A7A4A"/>
                </a:solidFill>
              </a:rPr>
              <a:t>29%</a:t>
            </a:r>
          </a:p>
        </p:txBody>
      </p:sp>
      <p:sp>
        <p:nvSpPr>
          <p:cNvPr id="28" name="Rectangle 27"/>
          <p:cNvSpPr/>
          <p:nvPr/>
        </p:nvSpPr>
        <p:spPr>
          <a:xfrm>
            <a:off x="8138160" y="3630168"/>
            <a:ext cx="3840480" cy="222199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75320" y="3694176"/>
            <a:ext cx="3611880" cy="347472"/>
          </a:xfrm>
          <a:prstGeom prst="rect">
            <a:avLst/>
          </a:prstGeom>
          <a:noFill/>
        </p:spPr>
        <p:txBody>
          <a:bodyPr wrap="square">
            <a:spAutoFit/>
          </a:bodyPr>
          <a:lstStyle/>
          <a:p>
            <a:pPr algn="l"/>
            <a:r>
              <a:rPr sz="1050" b="1" i="0">
                <a:solidFill>
                  <a:srgbClr val="1E3A5F"/>
                </a:solidFill>
              </a:rPr>
              <a:t>2026 Year-End Update</a:t>
            </a:r>
          </a:p>
        </p:txBody>
      </p:sp>
      <p:sp>
        <p:nvSpPr>
          <p:cNvPr id="30" name="TextBox 29"/>
          <p:cNvSpPr txBox="1"/>
          <p:nvPr/>
        </p:nvSpPr>
        <p:spPr>
          <a:xfrm>
            <a:off x="8275320" y="4096512"/>
            <a:ext cx="3611880" cy="274320"/>
          </a:xfrm>
          <a:prstGeom prst="rect">
            <a:avLst/>
          </a:prstGeom>
          <a:noFill/>
        </p:spPr>
        <p:txBody>
          <a:bodyPr wrap="square">
            <a:spAutoFit/>
          </a:bodyPr>
          <a:lstStyle/>
          <a:p>
            <a:pPr algn="l"/>
            <a:r>
              <a:rPr sz="950" b="1" i="0">
                <a:solidFill>
                  <a:srgbClr val="2D3A4A"/>
                </a:solidFill>
              </a:rPr>
              <a:t>Given Jan–Sep 2026 = 23 cases (Q1 = 9):</a:t>
            </a:r>
          </a:p>
        </p:txBody>
      </p:sp>
      <p:sp>
        <p:nvSpPr>
          <p:cNvPr id="31" name="TextBox 30"/>
          <p:cNvSpPr txBox="1"/>
          <p:nvPr/>
        </p:nvSpPr>
        <p:spPr>
          <a:xfrm>
            <a:off x="8275320" y="4389120"/>
            <a:ext cx="3611880" cy="292608"/>
          </a:xfrm>
          <a:prstGeom prst="rect">
            <a:avLst/>
          </a:prstGeom>
          <a:noFill/>
        </p:spPr>
        <p:txBody>
          <a:bodyPr wrap="square">
            <a:spAutoFit/>
          </a:bodyPr>
          <a:lstStyle/>
          <a:p>
            <a:pPr algn="l"/>
            <a:r>
              <a:rPr sz="900" b="0" i="0">
                <a:solidFill>
                  <a:srgbClr val="2D3A4A"/>
                </a:solidFill>
              </a:rPr>
              <a:t>April:  E[vol] = 32.3  |  P(≥33) = 38%</a:t>
            </a:r>
          </a:p>
        </p:txBody>
      </p:sp>
      <p:sp>
        <p:nvSpPr>
          <p:cNvPr id="32" name="TextBox 31"/>
          <p:cNvSpPr txBox="1"/>
          <p:nvPr/>
        </p:nvSpPr>
        <p:spPr>
          <a:xfrm>
            <a:off x="8275320" y="4663440"/>
            <a:ext cx="3611880" cy="292608"/>
          </a:xfrm>
          <a:prstGeom prst="rect">
            <a:avLst/>
          </a:prstGeom>
          <a:noFill/>
        </p:spPr>
        <p:txBody>
          <a:bodyPr wrap="square">
            <a:spAutoFit/>
          </a:bodyPr>
          <a:lstStyle/>
          <a:p>
            <a:pPr algn="l"/>
            <a:r>
              <a:rPr sz="950" b="1" i="0">
                <a:solidFill>
                  <a:srgbClr val="1E3A5F"/>
                </a:solidFill>
              </a:rPr>
              <a:t>Oct:  E[vol] = 31 (80%: 27–35)  |  P(≥33) ≈ 28%</a:t>
            </a:r>
          </a:p>
        </p:txBody>
      </p:sp>
      <p:sp>
        <p:nvSpPr>
          <p:cNvPr id="33" name="TextBox 32"/>
          <p:cNvSpPr txBox="1"/>
          <p:nvPr/>
        </p:nvSpPr>
        <p:spPr>
          <a:xfrm>
            <a:off x="8275320" y="5047488"/>
            <a:ext cx="3611880" cy="566928"/>
          </a:xfrm>
          <a:prstGeom prst="rect">
            <a:avLst/>
          </a:prstGeom>
          <a:noFill/>
        </p:spPr>
        <p:txBody>
          <a:bodyPr wrap="square">
            <a:spAutoFit/>
          </a:bodyPr>
          <a:lstStyle/>
          <a:p>
            <a:pPr algn="l"/>
            <a:r>
              <a:rPr sz="900" b="1" i="0">
                <a:solidFill>
                  <a:srgbClr val="1E3A5F"/>
                </a:solidFill>
              </a:rPr>
              <a:t>Needs ≥10 in Q4 (best quarter so far: 9)</a:t>
            </a:r>
            <a:br>
              <a:rPr sz="900" b="1" i="0">
                <a:solidFill>
                  <a:srgbClr val="1E3A5F"/>
                </a:solidFill>
              </a:rPr>
            </a:br>
            <a:r>
              <a:rPr sz="900" b="1" i="0">
                <a:solidFill>
                  <a:srgbClr val="1E3A5F"/>
                </a:solidFill>
              </a:rPr>
              <a:t>Retaining surgical team = highest-leverage action</a:t>
            </a:r>
          </a:p>
        </p:txBody>
      </p:sp>
      <p:sp>
        <p:nvSpPr>
          <p:cNvPr id="34" name="Rectangle 33"/>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Monte Carlo &amp; Bayesian</a:t>
            </a:r>
          </a:p>
        </p:txBody>
      </p:sp>
      <p:sp>
        <p:nvSpPr>
          <p:cNvPr id="36" name="TextBox 35"/>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18</a:t>
            </a:r>
          </a:p>
        </p:txBody>
      </p:sp>
    </p:spTree>
    <p:extLst>
      <p:ext uri="{BB962C8B-B14F-4D97-AF65-F5344CB8AC3E}">
        <p14:creationId xmlns:p14="http://schemas.microsoft.com/office/powerpoint/2010/main" val="3446025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dirty="0">
                <a:solidFill>
                  <a:srgbClr val="FFFFFF"/>
                </a:solidFill>
              </a:rPr>
              <a:t>Key Recommendations &amp; Surveillance Priorities</a:t>
            </a:r>
          </a:p>
        </p:txBody>
      </p:sp>
      <p:sp>
        <p:nvSpPr>
          <p:cNvPr id="4" name="TextBox 3"/>
          <p:cNvSpPr txBox="1"/>
          <p:nvPr/>
        </p:nvSpPr>
        <p:spPr>
          <a:xfrm>
            <a:off x="219456" y="281178"/>
            <a:ext cx="11430000" cy="274320"/>
          </a:xfrm>
          <a:prstGeom prst="rect">
            <a:avLst/>
          </a:prstGeom>
          <a:noFill/>
        </p:spPr>
        <p:txBody>
          <a:bodyPr wrap="square">
            <a:spAutoFit/>
          </a:bodyPr>
          <a:lstStyle/>
          <a:p>
            <a:pPr algn="l"/>
            <a:r>
              <a:rPr sz="950" b="0" i="0" dirty="0">
                <a:solidFill>
                  <a:srgbClr val="C8DEF5"/>
                </a:solidFill>
              </a:rPr>
              <a:t>Actionable priorities derived from quantitative analysis of SRTR PSR, rolling data, and volume models</a:t>
            </a:r>
          </a:p>
        </p:txBody>
      </p:sp>
      <p:sp>
        <p:nvSpPr>
          <p:cNvPr id="5" name="Rectangle 4"/>
          <p:cNvSpPr/>
          <p:nvPr/>
        </p:nvSpPr>
        <p:spPr>
          <a:xfrm>
            <a:off x="182880" y="566928"/>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 y="566928"/>
            <a:ext cx="73152" cy="169164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7472" y="630936"/>
            <a:ext cx="411480" cy="438912"/>
          </a:xfrm>
          <a:prstGeom prst="rect">
            <a:avLst/>
          </a:prstGeom>
          <a:noFill/>
        </p:spPr>
        <p:txBody>
          <a:bodyPr wrap="square">
            <a:spAutoFit/>
          </a:bodyPr>
          <a:lstStyle/>
          <a:p>
            <a:pPr algn="ctr"/>
            <a:r>
              <a:rPr sz="2000" b="1" i="0">
                <a:solidFill>
                  <a:srgbClr val="C47A00"/>
                </a:solidFill>
              </a:rPr>
              <a:t>1</a:t>
            </a:r>
          </a:p>
        </p:txBody>
      </p:sp>
      <p:sp>
        <p:nvSpPr>
          <p:cNvPr id="8" name="TextBox 7"/>
          <p:cNvSpPr txBox="1"/>
          <p:nvPr/>
        </p:nvSpPr>
        <p:spPr>
          <a:xfrm>
            <a:off x="822959" y="640080"/>
            <a:ext cx="5029200" cy="475488"/>
          </a:xfrm>
          <a:prstGeom prst="rect">
            <a:avLst/>
          </a:prstGeom>
          <a:noFill/>
        </p:spPr>
        <p:txBody>
          <a:bodyPr wrap="square">
            <a:spAutoFit/>
          </a:bodyPr>
          <a:lstStyle/>
          <a:p>
            <a:pPr algn="l"/>
            <a:r>
              <a:rPr sz="950" b="1" i="0">
                <a:solidFill>
                  <a:srgbClr val="2D3A4A"/>
                </a:solidFill>
              </a:rPr>
              <a:t>90-Day Graft Failure Review</a:t>
            </a:r>
            <a:br>
              <a:rPr sz="950" b="1" i="0">
                <a:solidFill>
                  <a:srgbClr val="2D3A4A"/>
                </a:solidFill>
              </a:rPr>
            </a:br>
            <a:r>
              <a:rPr sz="950" b="1" i="0">
                <a:solidFill>
                  <a:srgbClr val="2D3A4A"/>
                </a:solidFill>
              </a:rPr>
              <a:t>Before SRTR 1/27 (Jan 2027)</a:t>
            </a:r>
          </a:p>
        </p:txBody>
      </p:sp>
      <p:sp>
        <p:nvSpPr>
          <p:cNvPr id="9" name="TextBox 8"/>
          <p:cNvSpPr txBox="1"/>
          <p:nvPr/>
        </p:nvSpPr>
        <p:spPr>
          <a:xfrm>
            <a:off x="320039" y="1060704"/>
            <a:ext cx="5468112" cy="523220"/>
          </a:xfrm>
          <a:prstGeom prst="rect">
            <a:avLst/>
          </a:prstGeom>
          <a:noFill/>
        </p:spPr>
        <p:txBody>
          <a:bodyPr wrap="square">
            <a:spAutoFit/>
          </a:bodyPr>
          <a:lstStyle/>
          <a:p>
            <a:pPr algn="l"/>
            <a:r>
              <a:rPr sz="1400" b="0" i="0" dirty="0">
                <a:solidFill>
                  <a:srgbClr val="6B7280"/>
                </a:solidFill>
              </a:rPr>
              <a:t>7/26 confirmed at 1.24; the 1/27 cohort is at 1.71 (5 early failures vs 2.1 expected), later windows 1.9–2.1. Case-review every 2025–26 ≤90-day failure now.</a:t>
            </a:r>
          </a:p>
        </p:txBody>
      </p:sp>
      <p:sp>
        <p:nvSpPr>
          <p:cNvPr id="10" name="Rectangle 9"/>
          <p:cNvSpPr/>
          <p:nvPr/>
        </p:nvSpPr>
        <p:spPr>
          <a:xfrm>
            <a:off x="6172200" y="566928"/>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566928"/>
            <a:ext cx="73152" cy="16916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630936"/>
            <a:ext cx="411480" cy="438912"/>
          </a:xfrm>
          <a:prstGeom prst="rect">
            <a:avLst/>
          </a:prstGeom>
          <a:noFill/>
        </p:spPr>
        <p:txBody>
          <a:bodyPr wrap="square">
            <a:spAutoFit/>
          </a:bodyPr>
          <a:lstStyle/>
          <a:p>
            <a:pPr algn="ctr"/>
            <a:r>
              <a:rPr sz="2000" b="1" i="0">
                <a:solidFill>
                  <a:srgbClr val="1A7A4A"/>
                </a:solidFill>
              </a:rPr>
              <a:t>2</a:t>
            </a:r>
          </a:p>
        </p:txBody>
      </p:sp>
      <p:sp>
        <p:nvSpPr>
          <p:cNvPr id="13" name="TextBox 12"/>
          <p:cNvSpPr txBox="1"/>
          <p:nvPr/>
        </p:nvSpPr>
        <p:spPr>
          <a:xfrm>
            <a:off x="6812280" y="640080"/>
            <a:ext cx="5029200" cy="475488"/>
          </a:xfrm>
          <a:prstGeom prst="rect">
            <a:avLst/>
          </a:prstGeom>
          <a:noFill/>
        </p:spPr>
        <p:txBody>
          <a:bodyPr wrap="square">
            <a:spAutoFit/>
          </a:bodyPr>
          <a:lstStyle/>
          <a:p>
            <a:pPr algn="l"/>
            <a:r>
              <a:rPr sz="950" b="1" i="0">
                <a:solidFill>
                  <a:srgbClr val="2D3A4A"/>
                </a:solidFill>
              </a:rPr>
              <a:t>Retain Surgical Team
Through April 2027</a:t>
            </a:r>
          </a:p>
        </p:txBody>
      </p:sp>
      <p:sp>
        <p:nvSpPr>
          <p:cNvPr id="14" name="TextBox 13"/>
          <p:cNvSpPr txBox="1"/>
          <p:nvPr/>
        </p:nvSpPr>
        <p:spPr>
          <a:xfrm>
            <a:off x="6336792" y="1097280"/>
            <a:ext cx="5468112" cy="523220"/>
          </a:xfrm>
          <a:prstGeom prst="rect">
            <a:avLst/>
          </a:prstGeom>
          <a:noFill/>
        </p:spPr>
        <p:txBody>
          <a:bodyPr wrap="square">
            <a:spAutoFit/>
          </a:bodyPr>
          <a:lstStyle/>
          <a:p>
            <a:pPr algn="l"/>
            <a:r>
              <a:rPr sz="1400" b="0" i="0" dirty="0">
                <a:solidFill>
                  <a:srgbClr val="6B7280"/>
                </a:solidFill>
              </a:rPr>
              <a:t>Disruption probability is the dominant model parameter. Two years at ~31/yr support a durable new-surgeon effect; a disruption resets to ~22.</a:t>
            </a:r>
          </a:p>
        </p:txBody>
      </p:sp>
      <p:sp>
        <p:nvSpPr>
          <p:cNvPr id="15" name="Rectangle 14"/>
          <p:cNvSpPr/>
          <p:nvPr/>
        </p:nvSpPr>
        <p:spPr>
          <a:xfrm>
            <a:off x="182880" y="2350008"/>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82880" y="2350008"/>
            <a:ext cx="73152" cy="1691640"/>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2414015"/>
            <a:ext cx="411480" cy="438912"/>
          </a:xfrm>
          <a:prstGeom prst="rect">
            <a:avLst/>
          </a:prstGeom>
          <a:noFill/>
        </p:spPr>
        <p:txBody>
          <a:bodyPr wrap="square">
            <a:spAutoFit/>
          </a:bodyPr>
          <a:lstStyle/>
          <a:p>
            <a:pPr algn="ctr"/>
            <a:r>
              <a:rPr sz="2000" b="1" i="0">
                <a:solidFill>
                  <a:srgbClr val="1A7A8A"/>
                </a:solidFill>
              </a:rPr>
              <a:t>3</a:t>
            </a:r>
          </a:p>
        </p:txBody>
      </p:sp>
      <p:sp>
        <p:nvSpPr>
          <p:cNvPr id="18" name="TextBox 17"/>
          <p:cNvSpPr txBox="1"/>
          <p:nvPr/>
        </p:nvSpPr>
        <p:spPr>
          <a:xfrm>
            <a:off x="822959" y="2423160"/>
            <a:ext cx="5029200" cy="475488"/>
          </a:xfrm>
          <a:prstGeom prst="rect">
            <a:avLst/>
          </a:prstGeom>
          <a:noFill/>
        </p:spPr>
        <p:txBody>
          <a:bodyPr wrap="square">
            <a:spAutoFit/>
          </a:bodyPr>
          <a:lstStyle/>
          <a:p>
            <a:pPr algn="l"/>
            <a:r>
              <a:rPr sz="950" b="1" i="0">
                <a:solidFill>
                  <a:srgbClr val="2D3A4A"/>
                </a:solidFill>
              </a:rPr>
              <a:t>Shift From Acceptance</a:t>
            </a:r>
            <a:br>
              <a:rPr sz="950" b="1" i="0">
                <a:solidFill>
                  <a:srgbClr val="2D3A4A"/>
                </a:solidFill>
              </a:rPr>
            </a:br>
            <a:r>
              <a:rPr sz="950" b="1" i="0">
                <a:solidFill>
                  <a:srgbClr val="2D3A4A"/>
                </a:solidFill>
              </a:rPr>
              <a:t>to Listings</a:t>
            </a:r>
          </a:p>
        </p:txBody>
      </p:sp>
      <p:sp>
        <p:nvSpPr>
          <p:cNvPr id="19" name="TextBox 18"/>
          <p:cNvSpPr txBox="1"/>
          <p:nvPr/>
        </p:nvSpPr>
        <p:spPr>
          <a:xfrm>
            <a:off x="347472" y="2880360"/>
            <a:ext cx="5468112" cy="523220"/>
          </a:xfrm>
          <a:prstGeom prst="rect">
            <a:avLst/>
          </a:prstGeom>
          <a:noFill/>
        </p:spPr>
        <p:txBody>
          <a:bodyPr wrap="square">
            <a:spAutoFit/>
          </a:bodyPr>
          <a:lstStyle/>
          <a:p>
            <a:pPr algn="l"/>
            <a:r>
              <a:rPr sz="1400" b="0" i="0" dirty="0">
                <a:solidFill>
                  <a:srgbClr val="6B7280"/>
                </a:solidFill>
              </a:rPr>
              <a:t>Acceptance ratio 1.23 (&gt;500 mi 1.74, DCD 1.54) — the April lever is pulled. Growth now depends on listings: 65+ candidates are 49% of the national list but 9% of ALUA's.</a:t>
            </a:r>
          </a:p>
        </p:txBody>
      </p:sp>
      <p:sp>
        <p:nvSpPr>
          <p:cNvPr id="20" name="Rectangle 19"/>
          <p:cNvSpPr/>
          <p:nvPr/>
        </p:nvSpPr>
        <p:spPr>
          <a:xfrm>
            <a:off x="6172200" y="2350008"/>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2350008"/>
            <a:ext cx="73152" cy="1691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36792" y="2414015"/>
            <a:ext cx="411480" cy="438912"/>
          </a:xfrm>
          <a:prstGeom prst="rect">
            <a:avLst/>
          </a:prstGeom>
          <a:noFill/>
        </p:spPr>
        <p:txBody>
          <a:bodyPr wrap="square">
            <a:spAutoFit/>
          </a:bodyPr>
          <a:lstStyle/>
          <a:p>
            <a:pPr algn="ctr"/>
            <a:r>
              <a:rPr sz="2000" b="1" i="0">
                <a:solidFill>
                  <a:srgbClr val="1E3A5F"/>
                </a:solidFill>
              </a:rPr>
              <a:t>4</a:t>
            </a:r>
          </a:p>
        </p:txBody>
      </p:sp>
      <p:sp>
        <p:nvSpPr>
          <p:cNvPr id="23" name="TextBox 22"/>
          <p:cNvSpPr txBox="1"/>
          <p:nvPr/>
        </p:nvSpPr>
        <p:spPr>
          <a:xfrm>
            <a:off x="6812280" y="2423160"/>
            <a:ext cx="5029200" cy="475488"/>
          </a:xfrm>
          <a:prstGeom prst="rect">
            <a:avLst/>
          </a:prstGeom>
          <a:noFill/>
        </p:spPr>
        <p:txBody>
          <a:bodyPr wrap="square">
            <a:spAutoFit/>
          </a:bodyPr>
          <a:lstStyle/>
          <a:p>
            <a:pPr algn="l"/>
            <a:r>
              <a:rPr sz="950" b="1" i="0">
                <a:solidFill>
                  <a:srgbClr val="2D3A4A"/>
                </a:solidFill>
              </a:rPr>
              <a:t>Monitor Acuity-Adjusted
Metrics</a:t>
            </a:r>
          </a:p>
        </p:txBody>
      </p:sp>
      <p:sp>
        <p:nvSpPr>
          <p:cNvPr id="24" name="TextBox 23"/>
          <p:cNvSpPr txBox="1"/>
          <p:nvPr/>
        </p:nvSpPr>
        <p:spPr>
          <a:xfrm>
            <a:off x="6336792" y="2880360"/>
            <a:ext cx="5468112" cy="523220"/>
          </a:xfrm>
          <a:prstGeom prst="rect">
            <a:avLst/>
          </a:prstGeom>
          <a:noFill/>
        </p:spPr>
        <p:txBody>
          <a:bodyPr wrap="square">
            <a:spAutoFit/>
          </a:bodyPr>
          <a:lstStyle/>
          <a:p>
            <a:pPr algn="l"/>
            <a:r>
              <a:rPr sz="1400" b="0" i="0" dirty="0">
                <a:solidFill>
                  <a:srgbClr val="6B7280"/>
                </a:solidFill>
              </a:rPr>
              <a:t>HRs are risk-adjusted, but ICU intake is now 2.5× national (51.6%) and distance/DCD acceptance just widened. Ask SRTR whether the model under-adjusts at this acuity.</a:t>
            </a:r>
          </a:p>
        </p:txBody>
      </p:sp>
      <p:sp>
        <p:nvSpPr>
          <p:cNvPr id="25" name="Rectangle 24"/>
          <p:cNvSpPr/>
          <p:nvPr/>
        </p:nvSpPr>
        <p:spPr>
          <a:xfrm>
            <a:off x="3200400" y="4133087"/>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00400" y="4133087"/>
            <a:ext cx="73152" cy="169164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64992" y="4197096"/>
            <a:ext cx="411480" cy="438912"/>
          </a:xfrm>
          <a:prstGeom prst="rect">
            <a:avLst/>
          </a:prstGeom>
          <a:noFill/>
        </p:spPr>
        <p:txBody>
          <a:bodyPr wrap="square">
            <a:spAutoFit/>
          </a:bodyPr>
          <a:lstStyle/>
          <a:p>
            <a:pPr algn="ctr"/>
            <a:r>
              <a:rPr sz="2000" b="1" i="0">
                <a:solidFill>
                  <a:srgbClr val="6B7280"/>
                </a:solidFill>
              </a:rPr>
              <a:t>5</a:t>
            </a:r>
          </a:p>
        </p:txBody>
      </p:sp>
      <p:sp>
        <p:nvSpPr>
          <p:cNvPr id="28" name="TextBox 27"/>
          <p:cNvSpPr txBox="1"/>
          <p:nvPr/>
        </p:nvSpPr>
        <p:spPr>
          <a:xfrm>
            <a:off x="3840480" y="4206240"/>
            <a:ext cx="5029200" cy="475488"/>
          </a:xfrm>
          <a:prstGeom prst="rect">
            <a:avLst/>
          </a:prstGeom>
          <a:noFill/>
        </p:spPr>
        <p:txBody>
          <a:bodyPr wrap="square">
            <a:spAutoFit/>
          </a:bodyPr>
          <a:lstStyle/>
          <a:p>
            <a:pPr algn="l"/>
            <a:r>
              <a:rPr sz="950" b="1" i="0">
                <a:solidFill>
                  <a:srgbClr val="2D3A4A"/>
                </a:solidFill>
              </a:rPr>
              <a:t>Q4 2026 = Year-End</a:t>
            </a:r>
            <a:br>
              <a:rPr sz="950" b="1" i="0">
                <a:solidFill>
                  <a:srgbClr val="2D3A4A"/>
                </a:solidFill>
              </a:rPr>
            </a:br>
            <a:r>
              <a:rPr sz="950" b="1" i="0">
                <a:solidFill>
                  <a:srgbClr val="2D3A4A"/>
                </a:solidFill>
              </a:rPr>
              <a:t>Checkpoint</a:t>
            </a:r>
          </a:p>
        </p:txBody>
      </p:sp>
      <p:sp>
        <p:nvSpPr>
          <p:cNvPr id="29" name="TextBox 28"/>
          <p:cNvSpPr txBox="1"/>
          <p:nvPr/>
        </p:nvSpPr>
        <p:spPr>
          <a:xfrm>
            <a:off x="3364992" y="4663440"/>
            <a:ext cx="5468112" cy="523220"/>
          </a:xfrm>
          <a:prstGeom prst="rect">
            <a:avLst/>
          </a:prstGeom>
          <a:noFill/>
        </p:spPr>
        <p:txBody>
          <a:bodyPr wrap="square">
            <a:spAutoFit/>
          </a:bodyPr>
          <a:lstStyle/>
          <a:p>
            <a:pPr algn="l"/>
            <a:r>
              <a:rPr sz="1400" b="0" i="0" dirty="0">
                <a:solidFill>
                  <a:srgbClr val="6B7280"/>
                </a:solidFill>
              </a:rPr>
              <a:t>Needs ≥10 Q4 cases for 33 in 2026 (P ≈ 28%); realistic ~31. Set 2027 target ≥33; track Emory and Vanderbilt share.</a:t>
            </a:r>
          </a:p>
        </p:txBody>
      </p:sp>
      <p:sp>
        <p:nvSpPr>
          <p:cNvPr id="30" name="Rectangle 29"/>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Recommendations</a:t>
            </a:r>
          </a:p>
        </p:txBody>
      </p:sp>
      <p:sp>
        <p:nvSpPr>
          <p:cNvPr id="32" name="TextBox 31"/>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19</a:t>
            </a:r>
          </a:p>
        </p:txBody>
      </p:sp>
    </p:spTree>
    <p:extLst>
      <p:ext uri="{BB962C8B-B14F-4D97-AF65-F5344CB8AC3E}">
        <p14:creationId xmlns:p14="http://schemas.microsoft.com/office/powerpoint/2010/main" val="2044821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87952"/>
            <a:ext cx="12188952" cy="64008"/>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47472"/>
            <a:ext cx="11247120" cy="713232"/>
          </a:xfrm>
          <a:prstGeom prst="rect">
            <a:avLst/>
          </a:prstGeom>
          <a:noFill/>
        </p:spPr>
        <p:txBody>
          <a:bodyPr wrap="square">
            <a:spAutoFit/>
          </a:bodyPr>
          <a:lstStyle/>
          <a:p>
            <a:pPr algn="ctr"/>
            <a:r>
              <a:rPr sz="3600" b="1" i="0">
                <a:solidFill>
                  <a:srgbClr val="FFFFFF"/>
                </a:solidFill>
              </a:rPr>
              <a:t>Summary</a:t>
            </a:r>
          </a:p>
        </p:txBody>
      </p:sp>
      <p:sp>
        <p:nvSpPr>
          <p:cNvPr id="5" name="Rectangle 4"/>
          <p:cNvSpPr/>
          <p:nvPr/>
        </p:nvSpPr>
        <p:spPr>
          <a:xfrm>
            <a:off x="274320" y="1170432"/>
            <a:ext cx="5715000" cy="141732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70432"/>
            <a:ext cx="73152" cy="1417320"/>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34440"/>
            <a:ext cx="5394960" cy="384048"/>
          </a:xfrm>
          <a:prstGeom prst="rect">
            <a:avLst/>
          </a:prstGeom>
          <a:noFill/>
        </p:spPr>
        <p:txBody>
          <a:bodyPr wrap="square">
            <a:spAutoFit/>
          </a:bodyPr>
          <a:lstStyle/>
          <a:p>
            <a:pPr algn="l"/>
            <a:r>
              <a:rPr sz="1100" b="1" i="0">
                <a:solidFill>
                  <a:srgbClr val="1A7A8A"/>
                </a:solidFill>
              </a:rPr>
              <a:t>National Market</a:t>
            </a:r>
          </a:p>
        </p:txBody>
      </p:sp>
      <p:sp>
        <p:nvSpPr>
          <p:cNvPr id="8" name="TextBox 7"/>
          <p:cNvSpPr txBox="1"/>
          <p:nvPr/>
        </p:nvSpPr>
        <p:spPr>
          <a:xfrm>
            <a:off x="457200" y="1591056"/>
            <a:ext cx="5394960" cy="914400"/>
          </a:xfrm>
          <a:prstGeom prst="rect">
            <a:avLst/>
          </a:prstGeom>
          <a:noFill/>
        </p:spPr>
        <p:txBody>
          <a:bodyPr wrap="square">
            <a:spAutoFit/>
          </a:bodyPr>
          <a:lstStyle/>
          <a:p>
            <a:pPr algn="l"/>
            <a:r>
              <a:rPr sz="950" b="0" i="0">
                <a:solidFill>
                  <a:srgbClr val="FFFFFF"/>
                </a:solidFill>
              </a:rPr>
              <a:t>3,083 transplants (2025), +158% since 2005; 2026 Jan–Sep 2,397 (pace ~3,196, +4%). Both reforms improved equity and access; CAS produced the largest single-year jump.</a:t>
            </a:r>
          </a:p>
        </p:txBody>
      </p:sp>
      <p:sp>
        <p:nvSpPr>
          <p:cNvPr id="9" name="Rectangle 8"/>
          <p:cNvSpPr/>
          <p:nvPr/>
        </p:nvSpPr>
        <p:spPr>
          <a:xfrm>
            <a:off x="6263640" y="1170432"/>
            <a:ext cx="5715000" cy="141732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170432"/>
            <a:ext cx="73152" cy="1417320"/>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234440"/>
            <a:ext cx="5394960" cy="384048"/>
          </a:xfrm>
          <a:prstGeom prst="rect">
            <a:avLst/>
          </a:prstGeom>
          <a:noFill/>
        </p:spPr>
        <p:txBody>
          <a:bodyPr wrap="square">
            <a:spAutoFit/>
          </a:bodyPr>
          <a:lstStyle/>
          <a:p>
            <a:pPr algn="l"/>
            <a:r>
              <a:rPr sz="1100" b="1" i="0">
                <a:solidFill>
                  <a:srgbClr val="1A7A8A"/>
                </a:solidFill>
              </a:rPr>
              <a:t>Policy Impact</a:t>
            </a:r>
          </a:p>
        </p:txBody>
      </p:sp>
      <p:sp>
        <p:nvSpPr>
          <p:cNvPr id="12" name="TextBox 11"/>
          <p:cNvSpPr txBox="1"/>
          <p:nvPr/>
        </p:nvSpPr>
        <p:spPr>
          <a:xfrm>
            <a:off x="6446520" y="1591056"/>
            <a:ext cx="5394960" cy="914400"/>
          </a:xfrm>
          <a:prstGeom prst="rect">
            <a:avLst/>
          </a:prstGeom>
          <a:noFill/>
        </p:spPr>
        <p:txBody>
          <a:bodyPr wrap="square">
            <a:spAutoFit/>
          </a:bodyPr>
          <a:lstStyle/>
          <a:p>
            <a:pPr algn="l"/>
            <a:r>
              <a:rPr sz="950" b="0" i="0">
                <a:solidFill>
                  <a:srgbClr val="FFFFFF"/>
                </a:solidFill>
              </a:rPr>
              <a:t>Only 4 of 51 centers lost under both reforms. CAS rewards acuity-optimized programs. Southeast volume is growing fast (+14% 2026 pace), led by Vanderbilt, Emory, Tampa and Shands.</a:t>
            </a:r>
          </a:p>
        </p:txBody>
      </p:sp>
      <p:sp>
        <p:nvSpPr>
          <p:cNvPr id="13" name="Rectangle 12"/>
          <p:cNvSpPr/>
          <p:nvPr/>
        </p:nvSpPr>
        <p:spPr>
          <a:xfrm>
            <a:off x="274320" y="2706624"/>
            <a:ext cx="5715000" cy="141732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706624"/>
            <a:ext cx="73152" cy="141732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770632"/>
            <a:ext cx="5394960" cy="384048"/>
          </a:xfrm>
          <a:prstGeom prst="rect">
            <a:avLst/>
          </a:prstGeom>
          <a:noFill/>
        </p:spPr>
        <p:txBody>
          <a:bodyPr wrap="square">
            <a:spAutoFit/>
          </a:bodyPr>
          <a:lstStyle/>
          <a:p>
            <a:pPr algn="l"/>
            <a:r>
              <a:rPr sz="1100" b="1" i="0">
                <a:solidFill>
                  <a:srgbClr val="C47A00"/>
                </a:solidFill>
              </a:rPr>
              <a:t>ALUA Current State</a:t>
            </a:r>
          </a:p>
        </p:txBody>
      </p:sp>
      <p:sp>
        <p:nvSpPr>
          <p:cNvPr id="16" name="TextBox 15"/>
          <p:cNvSpPr txBox="1"/>
          <p:nvPr/>
        </p:nvSpPr>
        <p:spPr>
          <a:xfrm>
            <a:off x="457200" y="3127248"/>
            <a:ext cx="5394960" cy="914400"/>
          </a:xfrm>
          <a:prstGeom prst="rect">
            <a:avLst/>
          </a:prstGeom>
          <a:noFill/>
        </p:spPr>
        <p:txBody>
          <a:bodyPr wrap="square">
            <a:spAutoFit/>
          </a:bodyPr>
          <a:lstStyle/>
          <a:p>
            <a:pPr algn="l"/>
            <a:r>
              <a:rPr sz="950" b="0" i="0">
                <a:solidFill>
                  <a:srgbClr val="FFFFFF"/>
                </a:solidFill>
              </a:rPr>
              <a:t>PSR Jul 2026: 1-yr survival 90.5% (expected 91.7%), HR 1.13 — normalized from Jan's 0.69. 90-day graft HR 1.24; rolling 1/27 cohort at 1.71 (approach zone) on early failures. WLM resolving (1.20).</a:t>
            </a:r>
          </a:p>
        </p:txBody>
      </p:sp>
      <p:sp>
        <p:nvSpPr>
          <p:cNvPr id="17" name="Rectangle 16"/>
          <p:cNvSpPr/>
          <p:nvPr/>
        </p:nvSpPr>
        <p:spPr>
          <a:xfrm>
            <a:off x="6263640" y="2706624"/>
            <a:ext cx="5715000" cy="141732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3640" y="2706624"/>
            <a:ext cx="73152" cy="141732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770632"/>
            <a:ext cx="5394960" cy="384048"/>
          </a:xfrm>
          <a:prstGeom prst="rect">
            <a:avLst/>
          </a:prstGeom>
          <a:noFill/>
        </p:spPr>
        <p:txBody>
          <a:bodyPr wrap="square">
            <a:spAutoFit/>
          </a:bodyPr>
          <a:lstStyle/>
          <a:p>
            <a:pPr algn="l"/>
            <a:r>
              <a:rPr sz="1100" b="1" i="0">
                <a:solidFill>
                  <a:srgbClr val="C47A00"/>
                </a:solidFill>
              </a:rPr>
              <a:t>ALUA Trajectory</a:t>
            </a:r>
          </a:p>
        </p:txBody>
      </p:sp>
      <p:sp>
        <p:nvSpPr>
          <p:cNvPr id="20" name="TextBox 19"/>
          <p:cNvSpPr txBox="1"/>
          <p:nvPr/>
        </p:nvSpPr>
        <p:spPr>
          <a:xfrm>
            <a:off x="6446520" y="3127248"/>
            <a:ext cx="5394960" cy="914400"/>
          </a:xfrm>
          <a:prstGeom prst="rect">
            <a:avLst/>
          </a:prstGeom>
          <a:noFill/>
        </p:spPr>
        <p:txBody>
          <a:bodyPr wrap="square">
            <a:spAutoFit/>
          </a:bodyPr>
          <a:lstStyle/>
          <a:p>
            <a:pPr algn="l"/>
            <a:r>
              <a:rPr sz="950" b="0" i="0">
                <a:solidFill>
                  <a:srgbClr val="FFFFFF"/>
                </a:solidFill>
              </a:rPr>
              <a:t>2026: 23 by Sep, pace ~31 — second year at the 2025 level. Offer acceptance 0.62 → 0.90 → 1.23; constraint is listings. P(2026 ≥33) ≈ 28%. SE share 5.7% → 4.9%.</a:t>
            </a:r>
          </a:p>
        </p:txBody>
      </p:sp>
      <p:sp>
        <p:nvSpPr>
          <p:cNvPr id="21" name="TextBox 20"/>
          <p:cNvSpPr txBox="1"/>
          <p:nvPr/>
        </p:nvSpPr>
        <p:spPr>
          <a:xfrm>
            <a:off x="457200" y="4325112"/>
            <a:ext cx="11247120" cy="347472"/>
          </a:xfrm>
          <a:prstGeom prst="rect">
            <a:avLst/>
          </a:prstGeom>
          <a:noFill/>
        </p:spPr>
        <p:txBody>
          <a:bodyPr wrap="square">
            <a:spAutoFit/>
          </a:bodyPr>
          <a:lstStyle/>
          <a:p>
            <a:pPr algn="ctr"/>
            <a:r>
              <a:rPr sz="800" b="0" i="0">
                <a:solidFill>
                  <a:srgbClr val="7090B0"/>
                </a:solidFill>
              </a:rPr>
              <a:t>Data: OPTN 2005–Sep 30, 2026 · SRTR PSR Jul 7, 2026 · Rolling reports Oct 4, 2026 · Offer acceptance Jan–Aug 2026 · Analysis: OLS Regression, Monte Carlo, Bayesian Update</a:t>
            </a:r>
          </a:p>
        </p:txBody>
      </p:sp>
      <p:sp>
        <p:nvSpPr>
          <p:cNvPr id="22" name="TextBox 21"/>
          <p:cNvSpPr txBox="1"/>
          <p:nvPr/>
        </p:nvSpPr>
        <p:spPr>
          <a:xfrm>
            <a:off x="457200" y="4663440"/>
            <a:ext cx="11247120" cy="347472"/>
          </a:xfrm>
          <a:prstGeom prst="rect">
            <a:avLst/>
          </a:prstGeom>
          <a:noFill/>
        </p:spPr>
        <p:txBody>
          <a:bodyPr wrap="square">
            <a:spAutoFit/>
          </a:bodyPr>
          <a:lstStyle/>
          <a:p>
            <a:pPr algn="ctr"/>
            <a:r>
              <a:rPr sz="900" b="0" i="0">
                <a:solidFill>
                  <a:srgbClr val="7090B0"/>
                </a:solidFill>
              </a:rPr>
              <a:t>US Lung Transplant Analytics Report  ·  October 2026 Update  ·  For Internal Program Use</a:t>
            </a:r>
          </a:p>
        </p:txBody>
      </p:sp>
    </p:spTree>
    <p:extLst>
      <p:ext uri="{BB962C8B-B14F-4D97-AF65-F5344CB8AC3E}">
        <p14:creationId xmlns:p14="http://schemas.microsoft.com/office/powerpoint/2010/main" val="231371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C6D2A43-1C4B-254B-AE46-46713AF0E1BF}">
  <we:reference id="wa200010001" version="1.0.0.1" store="en-US" storeType="OMEX"/>
  <we:alternateReferences>
    <we:reference id="wa200010001" version="1.0.0.1" store="en-US" storeType="OMEX"/>
  </we:alternateReferences>
  <we:properties>
    <we:property name="claude.fileId" value="&quot;5fdef363-2893-480a-85f4-6d4b2db4638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179</TotalTime>
  <Words>6894</Words>
  <Application>Microsoft Macintosh PowerPoint</Application>
  <PresentationFormat>Custom</PresentationFormat>
  <Paragraphs>425</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Web-scraped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Thomas Kaleekal</cp:lastModifiedBy>
  <cp:revision>4</cp:revision>
  <dcterms:created xsi:type="dcterms:W3CDTF">2013-01-27T09:14:16Z</dcterms:created>
  <dcterms:modified xsi:type="dcterms:W3CDTF">2026-10-27T01:23:28Z</dcterms:modified>
  <cp:category/>
</cp:coreProperties>
</file>