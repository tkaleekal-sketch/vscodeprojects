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3" r:id="rId2"/>
    <p:sldId id="274" r:id="rId3"/>
    <p:sldId id="272" r:id="rId4"/>
    <p:sldId id="275" r:id="rId5"/>
    <p:sldId id="263" r:id="rId6"/>
    <p:sldId id="276" r:id="rId7"/>
    <p:sldId id="277" r:id="rId8"/>
    <p:sldId id="278" r:id="rId9"/>
    <p:sldId id="279" r:id="rId10"/>
    <p:sldId id="281" r:id="rId11"/>
    <p:sldId id="282" r:id="rId12"/>
    <p:sldId id="287" r:id="rId13"/>
    <p:sldId id="283" r:id="rId14"/>
    <p:sldId id="284" r:id="rId15"/>
    <p:sldId id="285" r:id="rId16"/>
    <p:sldId id="286" r:id="rId17"/>
    <p:sldId id="288" r:id="rId18"/>
    <p:sldId id="289"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74"/>
    <p:restoredTop sz="74860"/>
  </p:normalViewPr>
  <p:slideViewPr>
    <p:cSldViewPr snapToGrid="0" snapToObjects="1">
      <p:cViewPr varScale="1">
        <p:scale>
          <a:sx n="112" d="100"/>
          <a:sy n="112" d="100"/>
        </p:scale>
        <p:origin x="216" y="2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2025 volume</c:v>
                </c:pt>
              </c:strCache>
            </c:strRef>
          </c:tx>
          <c:spPr>
            <a:solidFill>
              <a:srgbClr val="2F5597"/>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Mass General</c:v>
                </c:pt>
                <c:pt idx="1">
                  <c:v>Jackson Miami</c:v>
                </c:pt>
                <c:pt idx="2">
                  <c:v>UCSF</c:v>
                </c:pt>
                <c:pt idx="3">
                  <c:v>Cedars-Sinai</c:v>
                </c:pt>
                <c:pt idx="4">
                  <c:v>NY Presbyterian</c:v>
                </c:pt>
                <c:pt idx="5">
                  <c:v>Baylor/St. Luke's</c:v>
                </c:pt>
                <c:pt idx="6">
                  <c:v>Duke</c:v>
                </c:pt>
                <c:pt idx="7">
                  <c:v>Cleveland Clinic</c:v>
                </c:pt>
                <c:pt idx="8">
                  <c:v>Vanderbilt</c:v>
                </c:pt>
                <c:pt idx="9">
                  <c:v>Temple</c:v>
                </c:pt>
              </c:strCache>
            </c:strRef>
          </c:cat>
          <c:val>
            <c:numRef>
              <c:f>Sheet1!$B$2:$B$11</c:f>
              <c:numCache>
                <c:formatCode>General</c:formatCode>
                <c:ptCount val="10"/>
                <c:pt idx="0">
                  <c:v>84</c:v>
                </c:pt>
                <c:pt idx="1">
                  <c:v>85</c:v>
                </c:pt>
                <c:pt idx="2">
                  <c:v>89</c:v>
                </c:pt>
                <c:pt idx="3">
                  <c:v>93</c:v>
                </c:pt>
                <c:pt idx="4">
                  <c:v>101</c:v>
                </c:pt>
                <c:pt idx="5">
                  <c:v>102</c:v>
                </c:pt>
                <c:pt idx="6">
                  <c:v>104</c:v>
                </c:pt>
                <c:pt idx="7">
                  <c:v>143</c:v>
                </c:pt>
                <c:pt idx="8">
                  <c:v>149</c:v>
                </c:pt>
                <c:pt idx="9">
                  <c:v>178</c:v>
                </c:pt>
              </c:numCache>
            </c:numRef>
          </c:val>
          <c:extLst>
            <c:ext xmlns:c16="http://schemas.microsoft.com/office/drawing/2014/chart" uri="{C3380CC4-5D6E-409C-BE32-E72D297353CC}">
              <c16:uniqueId val="{00000000-D4B7-3F4C-9805-E5E8971E6B8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263238"/>
                </a:solidFill>
                <a:latin typeface="Apto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A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D6D7E"/>
                </a:solidFill>
                <a:latin typeface="Apto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5B47B-3325-DB43-B6D8-97DF435B7DD3}" type="datetimeFigureOut">
              <a:rPr lang="en-US" smtClean="0"/>
              <a:t>5/5/26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2FAD0A-9503-FE4F-A2F4-7A0B620C137B}" type="slidenum">
              <a:rPr lang="en-US" smtClean="0"/>
              <a:t>‹#›</a:t>
            </a:fld>
            <a:endParaRPr lang="en-US"/>
          </a:p>
        </p:txBody>
      </p:sp>
    </p:spTree>
    <p:extLst>
      <p:ext uri="{BB962C8B-B14F-4D97-AF65-F5344CB8AC3E}">
        <p14:creationId xmlns:p14="http://schemas.microsoft.com/office/powerpoint/2010/main" val="1910686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This report covers 20 years of U.S. lung transplant data across 54 active adult centers. The analysis has two parts: Part 1 examines national trends and policy impact from 2005–2025; Part 2 focuses on the ALUA program at University of Alabama. Data sources are OPTN (2005–2025) and SRTR PSR reports (January 2026 and Rolling April 2026). Use this as a comprehensive reference for understanding how the national system has evolved and where ALUA sits within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This is a personal data science project applying web scraping and AI-assisted analysis to publicly available OPTN-HRSA data. The scraper was AI-coded and captured transplant activity for 54 active adult programs over 20+ years. Key questions driving the analysis: How has national volume changed over two decades? What did the DSA and CAS policy reforms actually do to individual programs? And where does ALUA stand competitively within its peer group?</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top-line numbers: the U.S. performed 3,083 lung transplants in 2025 — a 158% increase over 20 years across 54 active centers. </a:t>
            </a:r>
          </a:p>
          <a:p>
            <a:endParaRPr lang="en-US" dirty="0"/>
          </a:p>
        </p:txBody>
      </p:sp>
      <p:sp>
        <p:nvSpPr>
          <p:cNvPr id="4" name="Slide Number Placeholder 3"/>
          <p:cNvSpPr>
            <a:spLocks noGrp="1"/>
          </p:cNvSpPr>
          <p:nvPr>
            <p:ph type="sldNum" sz="quarter" idx="5"/>
          </p:nvPr>
        </p:nvSpPr>
        <p:spPr/>
        <p:txBody>
          <a:bodyPr/>
          <a:lstStyle/>
          <a:p>
            <a:fld id="{F32FAD0A-9503-FE4F-A2F4-7A0B620C137B}" type="slidenum">
              <a:rPr lang="en-US" smtClean="0"/>
              <a:t>3</a:t>
            </a:fld>
            <a:endParaRPr lang="en-US"/>
          </a:p>
        </p:txBody>
      </p:sp>
    </p:spTree>
    <p:extLst>
      <p:ext uri="{BB962C8B-B14F-4D97-AF65-F5344CB8AC3E}">
        <p14:creationId xmlns:p14="http://schemas.microsoft.com/office/powerpoint/2010/main" val="661827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National volume grew from 1,196 in 2005 to 3,083 in 2025 — 158% growth. The trajectory has three distinct eras: the DSA era averaged 2,006 transplants per year; the 250-nautical-mile era averaged 2,333 (+16%); and the CAS era is averaging 2,888 (+24%). Two policy reforms drove step-changes in national volume. The COVID dip in 2020 was a temporary 6.5% decline, fully recovered by 2022. The CAS implementation in March 2023 produced the largest single-year jump in the dataset (+10.9%). The 2026 YTD pace (~3,012 annualized) suggests we may be normalizing to the conservative growth model rather than continuing the post-CAS surge slope of +216/year.</a:t>
            </a:r>
          </a:p>
          <a:p>
            <a:endParaRPr 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gives the national competitive context. The top ten centers perform about 36.6 percent of national volume, so the market is moderately concentrated. The dominant centers - Temple, Vanderbilt, and Cleveland Clinic - are not simply large by chance. Their volumes likely reflect a combination of referral networks, operational scale, acuity management, donor acceptance behavior, and surgical capacity. For ALUA, the relevant message is that sustaining volume requires competing on these capabilities, not just relying on regional donor geography.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Two major allocation policy changes reshaped the transplant landscape. DSA Removal (Nov 2017): eliminated donation service area geography as the first distribution level. Result — median waitlist time fell 9 days, transplant rates rose nationally, but median LOS increased 2 days due to longer transport distances. CAS Implementation (March 2023): replaced the Lung Allocation Score with a composite acuity-first scoring system. This drove the largest single-year volume jump on record. Most importantly, waitlist mortality dropped dramatically — from 11.2% in the DSA era to 8.4% in the 250nm era, down to 4.1% in the CAS era.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Gini coefficient tells you whether lung transplants are concentrated in a few powerhouse centers or spread more evenly across many centers. In the data, the falling Gini suggests that policy changes made access less geographically concentrated and more broadly distributed across programs.</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 The Gini coefficient across centers also fell monotonically: 0.384 → 0.364 → 0.340, showing both reforms moved the system toward greater equity and access. The geographic CV also fell, confirming that fewer programs dominate total volume.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computed program-level CV over </a:t>
            </a:r>
            <a:r>
              <a:rPr lang="en-US" b="1" dirty="0"/>
              <a:t>2015–2025</a:t>
            </a:r>
            <a:r>
              <a:rPr lang="en-US" dirty="0"/>
              <a:t>, requiring at least </a:t>
            </a:r>
            <a:r>
              <a:rPr lang="en-US" b="1" dirty="0"/>
              <a:t>8 of 11 years</a:t>
            </a:r>
            <a:r>
              <a:rPr lang="en-US" dirty="0"/>
              <a:t> of data. Low-CV programs are interpreted as having predictable referral pipelines and stable donor access; high-CV programs often include centers that recently scaled rapidly, where growth itself mathematically creates variance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mature high-volume programs, a low CV usually signals operational stability. For fast-growing centers, high CV can simply mean they scaled from a small base.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analysis, UW Medical Center and Cleveland Clinic are examples of stable low-CV programs, while Vanderbilt, Cedars-Sinai, and Mayo Minnesota are high-CV but largely because they grew rapidly.</a:t>
            </a:r>
          </a:p>
          <a:p>
            <a:r>
              <a:rPr lang="en-US" dirty="0"/>
              <a:t>Across the national system, CV measures how unevenly volume is distributed across centers. This is conceptually similar to the Gini coefficient, but CV is more sensitive to spread around the mean.</a:t>
            </a:r>
          </a:p>
          <a:p>
            <a:r>
              <a:rPr lang="en-US" dirty="0"/>
              <a:t>In the policy-era analysis, cross-center CV fell from </a:t>
            </a:r>
            <a:r>
              <a:rPr lang="en-US" b="1" dirty="0"/>
              <a:t>71.9% pre-DSA</a:t>
            </a:r>
            <a:r>
              <a:rPr lang="en-US" dirty="0"/>
              <a:t> to </a:t>
            </a:r>
            <a:r>
              <a:rPr lang="en-US" b="1" dirty="0"/>
              <a:t>61.4% in the CAS era</a:t>
            </a:r>
            <a:r>
              <a:rPr lang="en-US" dirty="0"/>
              <a:t>, meaning lung transplant volume became more evenly distributed across programs after allocation reforms.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ALUA’s </a:t>
            </a:r>
            <a:r>
              <a:rPr lang="en-US" b="1" dirty="0"/>
              <a:t>CV is 34.0% over 2015–2025</a:t>
            </a:r>
            <a:r>
              <a:rPr lang="en-US" dirty="0"/>
              <a:t>, which places it almost exactly at the peer median; the peer median is </a:t>
            </a:r>
            <a:r>
              <a:rPr lang="en-US" b="1" dirty="0"/>
              <a:t>35.1%</a:t>
            </a:r>
            <a:r>
              <a:rPr lang="en-US" dirty="0"/>
              <a:t>. So ALUA is not unusually volatile relative to its peer group. The main outlier is the 2019 trough of </a:t>
            </a:r>
            <a:r>
              <a:rPr lang="en-US" b="1" dirty="0"/>
              <a:t>8 cases</a:t>
            </a:r>
            <a:r>
              <a:rPr lang="en-US" dirty="0"/>
              <a:t>, which strongly influences the volatility profile.</a:t>
            </a:r>
            <a:endParaRPr lang="en-US" sz="1200" dirty="0"/>
          </a:p>
          <a:p>
            <a:endParaRPr lang="en-US" dirty="0"/>
          </a:p>
          <a:p>
            <a:r>
              <a:rPr lang="en-US" dirty="0"/>
              <a:t>The “quality threshold” refers to the </a:t>
            </a:r>
            <a:r>
              <a:rPr lang="en-US" b="1" dirty="0"/>
              <a:t>≥33 lung transplants/year</a:t>
            </a:r>
            <a:r>
              <a:rPr lang="en-US" dirty="0"/>
              <a:t> benchmark.</a:t>
            </a:r>
          </a:p>
          <a:p>
            <a:r>
              <a:rPr lang="en-US" b="1" dirty="0"/>
              <a:t>Below 33/year </a:t>
            </a:r>
            <a:r>
              <a:rPr lang="en-US" dirty="0"/>
              <a:t>Program may have higher statistical uncertainty and potentially higher volume-related outcome risk</a:t>
            </a:r>
          </a:p>
          <a:p>
            <a:r>
              <a:rPr lang="en-US" b="1" dirty="0"/>
              <a:t>At or above 33/yea </a:t>
            </a:r>
            <a:r>
              <a:rPr lang="en-US" b="1" dirty="0" err="1"/>
              <a:t>r</a:t>
            </a:r>
            <a:r>
              <a:rPr lang="en-US" dirty="0" err="1"/>
              <a:t>Program</a:t>
            </a:r>
            <a:r>
              <a:rPr lang="en-US" dirty="0"/>
              <a:t> is above the empirical volume-quality floor</a:t>
            </a:r>
          </a:p>
          <a:p>
            <a:r>
              <a:rPr lang="en-US" b="1" dirty="0"/>
              <a:t>Sustained ≥33/year </a:t>
            </a:r>
            <a:r>
              <a:rPr lang="en-US" dirty="0"/>
              <a:t>More meaningful than a single-year crossing; suggests durable operational capacity</a:t>
            </a:r>
          </a:p>
          <a:p>
            <a:r>
              <a:rPr lang="en-US" dirty="0"/>
              <a:t>Era based : Centers ≥33/</a:t>
            </a:r>
            <a:r>
              <a:rPr lang="en-US" dirty="0" err="1"/>
              <a:t>yearPre</a:t>
            </a:r>
            <a:r>
              <a:rPr lang="en-US" dirty="0"/>
              <a:t>-DSA era</a:t>
            </a:r>
            <a:r>
              <a:rPr lang="en-US" b="1" dirty="0"/>
              <a:t>23 of 51</a:t>
            </a:r>
            <a:r>
              <a:rPr lang="en-US" dirty="0"/>
              <a:t>Post-DSA / 250-nautical-mile era</a:t>
            </a:r>
            <a:r>
              <a:rPr lang="en-US" b="1" dirty="0"/>
              <a:t>28 of 52</a:t>
            </a:r>
            <a:r>
              <a:rPr lang="en-US" dirty="0"/>
              <a:t>CAS era</a:t>
            </a:r>
            <a:r>
              <a:rPr lang="en-US" b="1" dirty="0"/>
              <a:t>35 of 54</a:t>
            </a:r>
            <a:endParaRPr lang="en-US" dirty="0"/>
          </a:p>
          <a:p>
            <a:r>
              <a:rPr lang="en-US" dirty="0"/>
              <a:t>That means the number of programs operating above the empirical quality threshold increased after each allocation reform.</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endParaRPr 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policy quadrant categorizes all 51 centers by how they fared under each reform. Double Winners (20 centers): benefited from both — examples include Vanderbilt (+384%) and Cedars-Sinai (+461%). These programs had strong clinical infrastructure that was previously suppressed by geography. DSA Win / CAS Loss (16 centers): expanded geographically under the 250nm rule but lost share when acuity scoring took over. Duke (-11% net) and Pittsburgh (-14%) are prime examples — they expanded by pulling organs from a wider radius, but aren't as acuity-optimized as competitors. DSA Loss / CAS Win (11 centers): had their geographic advantage stripped in 2017 but recovered under acuity scoring. Mayo Minnesota (+509% net) and Utah (+125%) are the standout cases. Double Losers (only 4 centers): the most strategically concerning group — Ochsner, Penn/HUP, Barnes-Jewish, and University of Chicago. Both reforms hurt them, which requires structural explanation beyond bad luck.</a:t>
            </a:r>
          </a:p>
          <a:p>
            <a:endParaRPr 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Temple University leads nationally at 178 cases in 2025, followed by Vanderbilt (149) and Cleveland Clinic (143). The Double Losers deserve particular attention as cautionary cases. Ochsner in New Orleans is the most alarming: a program averaging only 10 cases/year in the CAS era is operating well below the 33-case quality threshold — their Gulf South OPO geographic advantage was stripped under DSA removal and CAS compounded it. Penn/HUP fell from 86 cases/year pre-DSA to 59 average — Temple University, in the same city, now dominates on CAS urgency scoring and captures intra-city organ share. Barnes-Jewish lost its large Midwest OPO catchment advantage — their geography no longer confers any benefit. University of Chicago at 12 cases/year is a competitor-squeeze story — Loyola in the same metro has been stable, and neither policy rewarded their geographic position. The key insight from Double Losers: these are not random — they represent programs whose historical advantages were geography-based rather than clinical-quality-based.</a:t>
            </a:r>
          </a:p>
          <a:p>
            <a:endParaRPr 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Part 2 — the ALUA-specific deep dive. The University of Alabama at Birmingham (ALUA) is a mid-tier program that has had a turbulent history but is now showing promising signs. The five headline metrics set the frame: 31 cases in 2025 (best since 2007), 95.7% one-year survival (significantly above the 89.6% national rate), a PSR hazard ratio of 0.69 (well below the 2.25 MPSC flag threshold), an offer acceptance ratio of 0.62 (38% below national — a key volume lever), and 9 cases already in Q1 2026. The 7 sections of the ALUA analysis build from the historical record through outcomes data to forward-looking projections and operational recommendations. Note that the SRTR data cutoff is October 31, 2025, and the Rolling PSR is from April 3, 2026.</a:t>
            </a:r>
          </a:p>
          <a:p>
            <a:endParaRPr 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January 2026 PSR covers the cohort from July 2022 through December 2024 — 52 transplants since medical staffing transition . Every short-term metric is better than expected. One-year graft survival is 95.7% vs 89.6% nationally — a 6 percentage-point advantage. The hazard ratio for both 1-year graft and patient survival is 0.68–0.69, meaning roughly 32% fewer failures than expected for a program this size. Actual 1-year failures were only 2 vs 3.91 expected. The one flag is 3-year graft survival at 70.3% with an HR of 1.17 — this cohort (2020–2022) partially overlaps the COVID period and the leadership crisis trough, so these cases may not represent current program performance. Critically, all short-term HRs are well below the MPSC review threshold of 2.25. This PSR is an unambiguously strong result for the new medical leadership era.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ALUA's clinical profile explains both its excellent outcomes and its rising HR projections. </a:t>
            </a:r>
          </a:p>
          <a:p>
            <a:r>
              <a:rPr lang="en-US" sz="1200" dirty="0"/>
              <a:t>The most important number: 46.2% of ALUA recipients were transplanted from the ICU, versus 20.5% nationally. That is 2.3 times the national rate. </a:t>
            </a:r>
          </a:p>
          <a:p>
            <a:r>
              <a:rPr lang="en-US" sz="1200" dirty="0"/>
              <a:t>CAS explicitly incentivizes accepting the sickest patients — ALUA is responding correctly to the policy design. This high-acuity case mix drives excellent short-term outcomes because these patients have no other option (selection effect) but also elevates raw mortality risk because ICU patients are fragile. </a:t>
            </a:r>
          </a:p>
          <a:p>
            <a:endParaRPr lang="en-US" sz="1200" dirty="0"/>
          </a:p>
          <a:p>
            <a:r>
              <a:rPr lang="en-US" sz="1200" dirty="0"/>
              <a:t>On donor profile: 50% of ALUA donors are age 18-34 versus 33.9% nationally, and zero ALUA donors were age 50 or older. </a:t>
            </a:r>
          </a:p>
          <a:p>
            <a:r>
              <a:rPr lang="en-US" sz="1200" dirty="0"/>
              <a:t>Younger donor lungs have lower ischemic injury and better one-year outcomes — this is a deliberate procurement strategy that contributes to the strong PSR. </a:t>
            </a:r>
          </a:p>
          <a:p>
            <a:endParaRPr lang="en-US" sz="1200" dirty="0"/>
          </a:p>
          <a:p>
            <a:r>
              <a:rPr lang="en-US" sz="1200" dirty="0"/>
              <a:t>The offer acceptance analysis on the next slide explains where volume growth opportunity lies. </a:t>
            </a:r>
          </a:p>
          <a:p>
            <a:endParaRPr lang="en-US" sz="1200" dirty="0"/>
          </a:p>
          <a:p>
            <a:r>
              <a:rPr lang="en-US" sz="1200" dirty="0"/>
              <a:t>The integrated takeaway: ALUA's clinical choices are strategically coherent — high-acuity recipients, young donors — but they create a surveillance obligation around outcomes monitoring.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This is the most forward-looking and surveillance-critical slide in the deck. The current PSR (January 2026) is excellent at HR=0.69. However, rolling projections show the HR trajectory rising: SRTR 7/26 is projected at 1.25 (approaching zone), SRTR 1/27 at 1.56, and SRTR 1/28 at 1.79 — all in the 'approaching flag' zone of 1.50–2.25. The MPSC flag threshold is 2.25; none of the projections breach it, but the trend warrants monitoring. </a:t>
            </a:r>
          </a:p>
          <a:p>
            <a:endParaRPr lang="en-US" sz="1200" dirty="0"/>
          </a:p>
          <a:p>
            <a:r>
              <a:rPr lang="en-US" sz="1200" dirty="0"/>
              <a:t>The causal mechanism is not surgical quality decline — it is case mix. ALUA transplants 46.2% of recipients from the ICU versus 20.5% nationally (2.3x higher acuity). </a:t>
            </a:r>
          </a:p>
          <a:p>
            <a:endParaRPr lang="en-US" sz="1200" dirty="0"/>
          </a:p>
          <a:p>
            <a:r>
              <a:rPr lang="en-US" sz="1200" dirty="0"/>
              <a:t>CAS incentivizes accepting the sickest patients; ALUA appears to be responding to those incentives. </a:t>
            </a:r>
          </a:p>
          <a:p>
            <a:r>
              <a:rPr lang="en-US" sz="1200" dirty="0"/>
              <a:t>Additionally, 2025 cases have incomplete 1-year follow-up that hasn't been adjudicated yet. </a:t>
            </a:r>
          </a:p>
          <a:p>
            <a:endParaRPr lang="en-US" sz="1200" dirty="0"/>
          </a:p>
          <a:p>
            <a:r>
              <a:rPr lang="en-US" sz="1200" dirty="0"/>
              <a:t>The waitlist mortality concern (HR peaked at 2.16 in SRTR 7/25 due to the surgeon transition trough) has resolved — projected WLM HR for 7/27 is 0.94. The critical decision point is the SRTR 7/26 report in July 2026.</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ALUA received 730 organ offers in the reporting period and accepted only 25 — a 3.4% acceptance rate. The overall acceptance ratio of 0.62 means ALUA accepts 38% fewer offers than the national average. This is the primary volume lever available to the program. </a:t>
            </a:r>
          </a:p>
          <a:p>
            <a:r>
              <a:rPr lang="en-US" sz="1200" dirty="0"/>
              <a:t>Breaking it down: the hard-to-place lung ratio is 0.46 (more selective than average on difficult organs), </a:t>
            </a:r>
          </a:p>
          <a:p>
            <a:endParaRPr lang="en-US" sz="1200" dirty="0"/>
          </a:p>
          <a:p>
            <a:r>
              <a:rPr lang="en-US" sz="1200" dirty="0"/>
              <a:t>the distance ratio for offers over 500 miles is 0.60 (room for expansion here), the PHS risk organ ratio is 0.52 but the confidence interval crosses 1.0, suggesting they could selectively expand here. Critically, ALUA accepted zero of 104 marginal offers — the lowest-risk area to avoid during surgical ramp. </a:t>
            </a:r>
          </a:p>
          <a:p>
            <a:endParaRPr lang="en-US" sz="1200" dirty="0"/>
          </a:p>
          <a:p>
            <a:r>
              <a:rPr lang="en-US" sz="1200" dirty="0"/>
              <a:t>The MPSC trigger for acceptance ratio is below 0.30 — ALUA at 0.62 is not at regulatory risk. </a:t>
            </a:r>
          </a:p>
          <a:p>
            <a:endParaRPr lang="en-US" sz="1200" dirty="0"/>
          </a:p>
          <a:p>
            <a:r>
              <a:rPr lang="en-US" sz="1200" dirty="0"/>
              <a:t>The recommended strategy: target well-matched younger donors at 250–400 miles, where ischemic time is manageable and risk is low. </a:t>
            </a:r>
          </a:p>
          <a:p>
            <a:endParaRPr lang="en-US" sz="1200" dirty="0"/>
          </a:p>
          <a:p>
            <a:r>
              <a:rPr lang="en-US" sz="1200" dirty="0"/>
              <a:t>Avoid marginal and hard-to-place offers until the new surgeon reaches 24-month maturity (April 2027).</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ALUA does not behave like a steadily growing program. It behaves like a program whose volume changes when leadership, staffing, policy environment, surgical stability, and referral dynamics change.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M4 parsimonious regression model is the best of four models tested — lowest AIC (70.6), best adjusted R-squared (0.448). </a:t>
            </a:r>
          </a:p>
          <a:p>
            <a:br>
              <a:rPr lang="en-US" sz="1200" dirty="0"/>
            </a:br>
            <a:r>
              <a:rPr lang="en-US" dirty="0"/>
              <a:t>The ALUA volume regression shows that ALUA’s historical volume is not explained by a simple time trend. The best model is a parsimonious structural model because leadership and operational events explain far more variance than time alone. The new medical leadership era is the strongest statistically significant positive factor, while the 2025 new-surgeon effect is promising but not yet statistically durable. The base forecast remains below the 33-case threshold, but Q1 2026 volume is running above model expectations, making Q2 2026 the critical validation point.</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sz="1200" dirty="0"/>
              <a:t>The variance decomposition tells the story clearly: a simple time trend (M1) explains essentially nothing (R2=0.011). </a:t>
            </a:r>
          </a:p>
          <a:p>
            <a:endParaRPr lang="en-US" sz="1200" dirty="0"/>
          </a:p>
          <a:p>
            <a:r>
              <a:rPr lang="en-US" sz="1200" dirty="0"/>
              <a:t>Adding the new medical leadership effect (Dec 2020) adds delta R2=0.138 — confirming the new MD is the second most significant structural factor. The forecasts are sober: base case projects 22 cases/year through 2026-2030, with wide 80% prediction intervals (15-30 for 2026). </a:t>
            </a:r>
          </a:p>
          <a:p>
            <a:endParaRPr lang="en-US" sz="1200" dirty="0"/>
          </a:p>
          <a:p>
            <a:r>
              <a:rPr lang="en-US" sz="1200" dirty="0"/>
              <a:t>Adding the 2019 leadership crisis dummy contributes the single largest explanatory variable (delta R2=0.204).</a:t>
            </a:r>
          </a:p>
          <a:p>
            <a:endParaRPr lang="en-US" sz="1200" dirty="0"/>
          </a:p>
          <a:p>
            <a:r>
              <a:rPr lang="en-US" sz="1200" dirty="0"/>
              <a:t>The critical caveat: Q1 2026 actual of 9 cases annualizes to roughly 36 — above the 80% PI upper bound of 30. This means the current trajectory is outperforming the model, but it's only Q1. </a:t>
            </a:r>
            <a:endParaRPr lang="en-US" dirty="0"/>
          </a:p>
          <a:p>
            <a:endParaRPr lang="en-US" sz="1200" dirty="0"/>
          </a:p>
          <a:p>
            <a:r>
              <a:rPr lang="en-US" sz="1200" dirty="0"/>
              <a:t>The model's verdict: in 21 years of data, ALUA has never demonstrated a trajectory capable of sustaining 33+ cases without a specific structural positive shock. The new surgeon represents exactly that kind of positive shock — but the model can't confirm durability from one year of data.</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Monte Carlo model</a:t>
            </a:r>
            <a:r>
              <a:rPr lang="en-US" dirty="0"/>
              <a:t> answers:</a:t>
            </a:r>
          </a:p>
          <a:p>
            <a:r>
              <a:rPr lang="en-US" dirty="0"/>
              <a:t>“Given ALUA’s historical volatility and known structural risks, what is the probability that ALUA reaches or sustains ≥33 lung transplants/year?”</a:t>
            </a:r>
          </a:p>
          <a:p>
            <a:r>
              <a:rPr lang="en-US" dirty="0"/>
              <a:t>The </a:t>
            </a:r>
            <a:r>
              <a:rPr lang="en-US" b="1" dirty="0"/>
              <a:t>Bayesian update</a:t>
            </a:r>
            <a:r>
              <a:rPr lang="en-US" dirty="0"/>
              <a:t> answers:</a:t>
            </a:r>
          </a:p>
          <a:p>
            <a:r>
              <a:rPr lang="en-US" dirty="0"/>
              <a:t>“Now that we observed 9 actual cases in Q1 2026, how should we revise our prior forecast for full-year 2026?”</a:t>
            </a:r>
            <a:endParaRPr lang="en-US" sz="1200" dirty="0"/>
          </a:p>
          <a:p>
            <a:endParaRPr lang="en-US" sz="1200" dirty="0"/>
          </a:p>
          <a:p>
            <a:r>
              <a:rPr lang="en-US" sz="1200" dirty="0"/>
              <a:t>The Monte Carlo analysis used 100,000 simulated paths with a regime-switching model that accounts for structural disruptions — leadership transitions — rather than treating all volatility as random. </a:t>
            </a:r>
          </a:p>
          <a:p>
            <a:r>
              <a:rPr lang="en-US" sz="1200" dirty="0"/>
              <a:t>Three scenarios: </a:t>
            </a:r>
          </a:p>
          <a:p>
            <a:r>
              <a:rPr lang="en-US" sz="1200" dirty="0"/>
              <a:t>Conservative (starting at 31 cases, 10% annual disruption probability): 1-year P(&gt;=33) = 27%, 3-year sustained = 13%, 5-year = 8%. </a:t>
            </a:r>
          </a:p>
          <a:p>
            <a:endParaRPr lang="en-US" sz="1200" dirty="0"/>
          </a:p>
          <a:p>
            <a:r>
              <a:rPr lang="en-US" sz="1200" dirty="0"/>
              <a:t>Base case (starting at 36 annualized from Q1, 10% disruption): 1-year = 54%, 3-year = 28%, 5-year = 18%.</a:t>
            </a:r>
          </a:p>
          <a:p>
            <a:endParaRPr lang="en-US" sz="1200" dirty="0"/>
          </a:p>
          <a:p>
            <a:r>
              <a:rPr lang="en-US" sz="1200" dirty="0"/>
              <a:t>Bull — no disruption scenario (stable leadership, start 36): 1-year = 60%, 3-year = 38%, 5-year = 29%. </a:t>
            </a:r>
          </a:p>
          <a:p>
            <a:endParaRPr lang="en-US" sz="1200" dirty="0"/>
          </a:p>
          <a:p>
            <a:r>
              <a:rPr lang="en-US" sz="1200" dirty="0"/>
              <a:t>The Bayesian Q1 update is important: given the observed 9 cases in Q1 2026, the posterior probability of hitting 33+ for the full year rises from 27% to 38%, with expected annual volume rising to 32.3. </a:t>
            </a:r>
          </a:p>
          <a:p>
            <a:endParaRPr lang="en-US" sz="1200" dirty="0"/>
          </a:p>
          <a:p>
            <a:r>
              <a:rPr lang="en-US" sz="1200" dirty="0"/>
              <a:t>The operational target ladder: to achieve 30% probability of sustaining 33+ cases for three consecutive years, ALUA needs to begin a year at 38 cases. </a:t>
            </a:r>
          </a:p>
          <a:p>
            <a:endParaRPr lang="en-US" sz="1200" dirty="0"/>
          </a:p>
          <a:p>
            <a:r>
              <a:rPr lang="en-US" sz="1200" dirty="0"/>
              <a:t>For 50% probability, the starting point needed is 43.</a:t>
            </a:r>
          </a:p>
          <a:p>
            <a:endParaRPr lang="en-US" sz="1200" dirty="0"/>
          </a:p>
          <a:p>
            <a:r>
              <a:rPr lang="en-US" sz="1200" dirty="0"/>
              <a:t>The single most important model variable is not the growth rate — it is disruption probability. Retaining the new surgeon through April 2027 is the highest-leverage action.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Five prioritized action items derived from the quantitative analysis. Priority 1 — SRTR 7/26 Review (July 2026): This is the most time-sensitive item. The July 2026 PSR will be the first full 12-month follow-up on the 2025 surge cohort. If HR remains above 1.5, trigger a formal quality review that includes acuity-adjusted analysis — because the raw HR inflated by ICU case mix is not an apples-to-apples comparison with peer programs. Priority 2 — Retain Surgical Team through April 2027: The disruption probability is the dominant model parameter. Every leadership transition in ALUA's history produced a 22–58% single-year volume decline. Retention to the 24-month milestone shifts the 3-year probability of sustaining 33+ cases from 28% to 38%. Priority 3 — Expand Offer Acceptance Selectively: Target well-matched younger donors at 250-400 miles. This is the lowest-risk expansion lever — longer distances than currently accepted but manageable ischemic time. Hold off on marginal offers until surgical maturity. Priority 4 — Monitor Acuity-Adjusted Metrics: Request SRTR to run sensitivity analysis with updated acuity covariates. ALUA's 2.3x ICU rate inflates raw HR — the program needs the adjusted number to make fair comparisons. Priority 5 — Q2 2026 Bayesian Update: 8 or more Q2 cases tips P(2026 &gt;= 33) above 50%. 6 or fewer cases means the model base case of 22 is the realistic anchor. This is a critical data point.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closing summary frames four key takeaways. National Market: 3,083 transplants in 2025 — 158% growth since 2005. Both the DSA removal and CAS implementation improved equity and access. CAS produced the largest policy-driven volume uplift in program history. The post-CAS growth slope is more than double the long-run average. Policy Impact: Only 4 of 51 centers lost volume under both reforms — demonstrating that both policies were genuinely market-expanding. CAS specifically rewards acuity-optimized programs. The Southeast access gap — Alabama, Louisiana, Georgia — remains a structural equity concern that is unlikely to be addressed without programmatic investment in the region. ALUA Current State: The PSR is outstanding (1-year survival 95.7% vs 89.6% national, HR=0.69). The rising projected HRs (1.56–1.79 range) are driven by a 2.3x ICU case mix and incomplete 2025 follow-up — not a confirmed quality failure. This must be monitored but should not be misread as a deteriorating program. ALUA Trajectory: The regression base case is 22 cases/year, but Q1 2026 annualizes to 36 — above the model. The 3-year probability of sustaining 33+ cases is 28–38% depending on scenario. The two levers are surgical team retention through April 2027 and selective offer acceptance expansion at 250–400 miles.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185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315968"/>
            <a:ext cx="12188952" cy="2542032"/>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279392"/>
            <a:ext cx="12188952" cy="64008"/>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40080"/>
            <a:ext cx="11247120" cy="800219"/>
          </a:xfrm>
          <a:prstGeom prst="rect">
            <a:avLst/>
          </a:prstGeom>
          <a:noFill/>
        </p:spPr>
        <p:txBody>
          <a:bodyPr wrap="square">
            <a:spAutoFit/>
          </a:bodyPr>
          <a:lstStyle/>
          <a:p>
            <a:pPr algn="ctr"/>
            <a:r>
              <a:rPr sz="4600" b="1" i="0" dirty="0">
                <a:solidFill>
                  <a:srgbClr val="FFFFFF"/>
                </a:solidFill>
              </a:rPr>
              <a:t>Lung Transplant</a:t>
            </a:r>
          </a:p>
        </p:txBody>
      </p:sp>
      <p:sp>
        <p:nvSpPr>
          <p:cNvPr id="6" name="TextBox 5"/>
          <p:cNvSpPr txBox="1"/>
          <p:nvPr/>
        </p:nvSpPr>
        <p:spPr>
          <a:xfrm>
            <a:off x="457200" y="1435608"/>
            <a:ext cx="11247120" cy="492443"/>
          </a:xfrm>
          <a:prstGeom prst="rect">
            <a:avLst/>
          </a:prstGeom>
          <a:noFill/>
        </p:spPr>
        <p:txBody>
          <a:bodyPr wrap="square">
            <a:spAutoFit/>
          </a:bodyPr>
          <a:lstStyle/>
          <a:p>
            <a:pPr algn="ctr"/>
            <a:r>
              <a:rPr sz="2600" b="0" i="0" dirty="0">
                <a:solidFill>
                  <a:srgbClr val="E8F2FA"/>
                </a:solidFill>
              </a:rPr>
              <a:t>Analytics Report</a:t>
            </a:r>
          </a:p>
        </p:txBody>
      </p:sp>
      <p:sp>
        <p:nvSpPr>
          <p:cNvPr id="7" name="TextBox 6"/>
          <p:cNvSpPr txBox="1"/>
          <p:nvPr/>
        </p:nvSpPr>
        <p:spPr>
          <a:xfrm>
            <a:off x="457199" y="2176272"/>
            <a:ext cx="11731625" cy="292388"/>
          </a:xfrm>
          <a:prstGeom prst="rect">
            <a:avLst/>
          </a:prstGeom>
          <a:noFill/>
        </p:spPr>
        <p:txBody>
          <a:bodyPr wrap="square">
            <a:spAutoFit/>
          </a:bodyPr>
          <a:lstStyle/>
          <a:p>
            <a:pPr algn="ctr"/>
            <a:r>
              <a:rPr sz="1300" b="0" i="0" dirty="0">
                <a:solidFill>
                  <a:srgbClr val="9BC4E2"/>
                </a:solidFill>
              </a:rPr>
              <a:t>National Insights · ALUA Program Analysis · Policy Impact · Forecasts</a:t>
            </a:r>
          </a:p>
        </p:txBody>
      </p:sp>
      <p:sp>
        <p:nvSpPr>
          <p:cNvPr id="23" name="TextBox 22"/>
          <p:cNvSpPr txBox="1"/>
          <p:nvPr/>
        </p:nvSpPr>
        <p:spPr>
          <a:xfrm>
            <a:off x="457200" y="4462272"/>
            <a:ext cx="5394960" cy="347472"/>
          </a:xfrm>
          <a:prstGeom prst="rect">
            <a:avLst/>
          </a:prstGeom>
          <a:noFill/>
        </p:spPr>
        <p:txBody>
          <a:bodyPr wrap="square">
            <a:spAutoFit/>
          </a:bodyPr>
          <a:lstStyle/>
          <a:p>
            <a:pPr algn="l"/>
            <a:r>
              <a:rPr sz="1000" b="1" i="0">
                <a:solidFill>
                  <a:srgbClr val="9BC4E2"/>
                </a:solidFill>
              </a:rPr>
              <a:t>PART 1 — NATIONAL ANALYSIS</a:t>
            </a:r>
          </a:p>
        </p:txBody>
      </p:sp>
      <p:sp>
        <p:nvSpPr>
          <p:cNvPr id="24" name="TextBox 23"/>
          <p:cNvSpPr txBox="1"/>
          <p:nvPr/>
        </p:nvSpPr>
        <p:spPr>
          <a:xfrm>
            <a:off x="6309360" y="4462272"/>
            <a:ext cx="5394960" cy="347472"/>
          </a:xfrm>
          <a:prstGeom prst="rect">
            <a:avLst/>
          </a:prstGeom>
          <a:noFill/>
        </p:spPr>
        <p:txBody>
          <a:bodyPr wrap="square">
            <a:spAutoFit/>
          </a:bodyPr>
          <a:lstStyle/>
          <a:p>
            <a:pPr algn="l"/>
            <a:r>
              <a:rPr sz="1000" b="1" i="0">
                <a:solidFill>
                  <a:srgbClr val="9BC4E2"/>
                </a:solidFill>
              </a:rPr>
              <a:t>PART 2 — ALUA PROGRAM</a:t>
            </a:r>
          </a:p>
        </p:txBody>
      </p:sp>
      <p:sp>
        <p:nvSpPr>
          <p:cNvPr id="25" name="TextBox 24"/>
          <p:cNvSpPr txBox="1"/>
          <p:nvPr/>
        </p:nvSpPr>
        <p:spPr>
          <a:xfrm>
            <a:off x="548640" y="4864608"/>
            <a:ext cx="5029200" cy="320040"/>
          </a:xfrm>
          <a:prstGeom prst="rect">
            <a:avLst/>
          </a:prstGeom>
          <a:noFill/>
        </p:spPr>
        <p:txBody>
          <a:bodyPr wrap="square">
            <a:spAutoFit/>
          </a:bodyPr>
          <a:lstStyle/>
          <a:p>
            <a:pPr algn="l"/>
            <a:r>
              <a:rPr sz="950" b="0" i="0">
                <a:solidFill>
                  <a:srgbClr val="FFFFFF"/>
                </a:solidFill>
              </a:rPr>
              <a:t>▸  National volume 2005–2025</a:t>
            </a:r>
          </a:p>
        </p:txBody>
      </p:sp>
      <p:sp>
        <p:nvSpPr>
          <p:cNvPr id="26" name="TextBox 25"/>
          <p:cNvSpPr txBox="1"/>
          <p:nvPr/>
        </p:nvSpPr>
        <p:spPr>
          <a:xfrm>
            <a:off x="548640" y="5212080"/>
            <a:ext cx="5029200" cy="320040"/>
          </a:xfrm>
          <a:prstGeom prst="rect">
            <a:avLst/>
          </a:prstGeom>
          <a:noFill/>
        </p:spPr>
        <p:txBody>
          <a:bodyPr wrap="square">
            <a:spAutoFit/>
          </a:bodyPr>
          <a:lstStyle/>
          <a:p>
            <a:pPr algn="l"/>
            <a:r>
              <a:rPr sz="950" b="0" i="0">
                <a:solidFill>
                  <a:srgbClr val="FFFFFF"/>
                </a:solidFill>
              </a:rPr>
              <a:t>▸  DSA &amp; CAS policy impact</a:t>
            </a:r>
          </a:p>
        </p:txBody>
      </p:sp>
      <p:sp>
        <p:nvSpPr>
          <p:cNvPr id="27" name="TextBox 26"/>
          <p:cNvSpPr txBox="1"/>
          <p:nvPr/>
        </p:nvSpPr>
        <p:spPr>
          <a:xfrm>
            <a:off x="548640" y="5559552"/>
            <a:ext cx="5029200" cy="320040"/>
          </a:xfrm>
          <a:prstGeom prst="rect">
            <a:avLst/>
          </a:prstGeom>
          <a:noFill/>
        </p:spPr>
        <p:txBody>
          <a:bodyPr wrap="square">
            <a:spAutoFit/>
          </a:bodyPr>
          <a:lstStyle/>
          <a:p>
            <a:pPr algn="l"/>
            <a:r>
              <a:rPr sz="950" b="0" i="0">
                <a:solidFill>
                  <a:srgbClr val="FFFFFF"/>
                </a:solidFill>
              </a:rPr>
              <a:t>▸  Program quadrant analysis</a:t>
            </a:r>
          </a:p>
        </p:txBody>
      </p:sp>
      <p:sp>
        <p:nvSpPr>
          <p:cNvPr id="28" name="TextBox 27"/>
          <p:cNvSpPr txBox="1"/>
          <p:nvPr/>
        </p:nvSpPr>
        <p:spPr>
          <a:xfrm>
            <a:off x="548640" y="5907024"/>
            <a:ext cx="5029200" cy="320040"/>
          </a:xfrm>
          <a:prstGeom prst="rect">
            <a:avLst/>
          </a:prstGeom>
          <a:noFill/>
        </p:spPr>
        <p:txBody>
          <a:bodyPr wrap="square">
            <a:spAutoFit/>
          </a:bodyPr>
          <a:lstStyle/>
          <a:p>
            <a:pPr algn="l"/>
            <a:r>
              <a:rPr sz="950" b="0" i="0">
                <a:solidFill>
                  <a:srgbClr val="FFFFFF"/>
                </a:solidFill>
              </a:rPr>
              <a:t>▸  Equity &amp; access metrics</a:t>
            </a:r>
          </a:p>
        </p:txBody>
      </p:sp>
      <p:sp>
        <p:nvSpPr>
          <p:cNvPr id="29" name="TextBox 28"/>
          <p:cNvSpPr txBox="1"/>
          <p:nvPr/>
        </p:nvSpPr>
        <p:spPr>
          <a:xfrm>
            <a:off x="6355080" y="4864608"/>
            <a:ext cx="5029200" cy="320040"/>
          </a:xfrm>
          <a:prstGeom prst="rect">
            <a:avLst/>
          </a:prstGeom>
          <a:noFill/>
        </p:spPr>
        <p:txBody>
          <a:bodyPr wrap="square">
            <a:spAutoFit/>
          </a:bodyPr>
          <a:lstStyle/>
          <a:p>
            <a:pPr algn="l"/>
            <a:r>
              <a:rPr sz="950" b="0" i="0">
                <a:solidFill>
                  <a:srgbClr val="FFFFFF"/>
                </a:solidFill>
              </a:rPr>
              <a:t>▸  Historical volume &amp; events</a:t>
            </a:r>
          </a:p>
        </p:txBody>
      </p:sp>
      <p:sp>
        <p:nvSpPr>
          <p:cNvPr id="30" name="TextBox 29"/>
          <p:cNvSpPr txBox="1"/>
          <p:nvPr/>
        </p:nvSpPr>
        <p:spPr>
          <a:xfrm>
            <a:off x="6355080" y="5212080"/>
            <a:ext cx="5029200" cy="320040"/>
          </a:xfrm>
          <a:prstGeom prst="rect">
            <a:avLst/>
          </a:prstGeom>
          <a:noFill/>
        </p:spPr>
        <p:txBody>
          <a:bodyPr wrap="square">
            <a:spAutoFit/>
          </a:bodyPr>
          <a:lstStyle/>
          <a:p>
            <a:pPr algn="l"/>
            <a:r>
              <a:rPr sz="950" b="0" i="0">
                <a:solidFill>
                  <a:srgbClr val="FFFFFF"/>
                </a:solidFill>
              </a:rPr>
              <a:t>▸  SRTR outcomes (PSR Jan 2026)</a:t>
            </a:r>
          </a:p>
        </p:txBody>
      </p:sp>
      <p:sp>
        <p:nvSpPr>
          <p:cNvPr id="31" name="TextBox 30"/>
          <p:cNvSpPr txBox="1"/>
          <p:nvPr/>
        </p:nvSpPr>
        <p:spPr>
          <a:xfrm>
            <a:off x="6355080" y="5559552"/>
            <a:ext cx="5029200" cy="320040"/>
          </a:xfrm>
          <a:prstGeom prst="rect">
            <a:avLst/>
          </a:prstGeom>
          <a:noFill/>
        </p:spPr>
        <p:txBody>
          <a:bodyPr wrap="square">
            <a:spAutoFit/>
          </a:bodyPr>
          <a:lstStyle/>
          <a:p>
            <a:pPr algn="l"/>
            <a:r>
              <a:rPr sz="950" b="0" i="0">
                <a:solidFill>
                  <a:srgbClr val="FFFFFF"/>
                </a:solidFill>
              </a:rPr>
              <a:t>▸  Rolling HR surveillance</a:t>
            </a:r>
          </a:p>
        </p:txBody>
      </p:sp>
      <p:sp>
        <p:nvSpPr>
          <p:cNvPr id="32" name="TextBox 31"/>
          <p:cNvSpPr txBox="1"/>
          <p:nvPr/>
        </p:nvSpPr>
        <p:spPr>
          <a:xfrm>
            <a:off x="6355080" y="5907024"/>
            <a:ext cx="5029200" cy="320040"/>
          </a:xfrm>
          <a:prstGeom prst="rect">
            <a:avLst/>
          </a:prstGeom>
          <a:noFill/>
        </p:spPr>
        <p:txBody>
          <a:bodyPr wrap="square">
            <a:spAutoFit/>
          </a:bodyPr>
          <a:lstStyle/>
          <a:p>
            <a:pPr algn="l"/>
            <a:r>
              <a:rPr sz="950" b="0" i="0">
                <a:solidFill>
                  <a:srgbClr val="FFFFFF"/>
                </a:solidFill>
              </a:rPr>
              <a:t>▸  Regression &amp; Monte Carlo</a:t>
            </a:r>
          </a:p>
        </p:txBody>
      </p:sp>
      <p:sp>
        <p:nvSpPr>
          <p:cNvPr id="33" name="TextBox 32"/>
          <p:cNvSpPr txBox="1"/>
          <p:nvPr/>
        </p:nvSpPr>
        <p:spPr>
          <a:xfrm>
            <a:off x="457200" y="6473952"/>
            <a:ext cx="11247120" cy="320040"/>
          </a:xfrm>
          <a:prstGeom prst="rect">
            <a:avLst/>
          </a:prstGeom>
          <a:noFill/>
        </p:spPr>
        <p:txBody>
          <a:bodyPr wrap="square">
            <a:spAutoFit/>
          </a:bodyPr>
          <a:lstStyle/>
          <a:p>
            <a:pPr algn="ctr"/>
            <a:r>
              <a:rPr sz="800" b="0" i="0">
                <a:solidFill>
                  <a:srgbClr val="7090B0"/>
                </a:solidFill>
              </a:rPr>
              <a:t>OPTN 2005–2025 · SRTR PSR January 2026 · Rolling PSR April 2026</a:t>
            </a:r>
          </a:p>
        </p:txBody>
      </p:sp>
    </p:spTree>
    <p:extLst>
      <p:ext uri="{BB962C8B-B14F-4D97-AF65-F5344CB8AC3E}">
        <p14:creationId xmlns:p14="http://schemas.microsoft.com/office/powerpoint/2010/main" val="2290802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CB48D7-383B-B74C-AC0D-E363558FDFF1}"/>
              </a:ext>
            </a:extLst>
          </p:cNvPr>
          <p:cNvSpPr/>
          <p:nvPr/>
        </p:nvSpPr>
        <p:spPr>
          <a:xfrm>
            <a:off x="0" y="6489700"/>
            <a:ext cx="12192000" cy="368300"/>
          </a:xfrm>
          <a:prstGeom prst="rect">
            <a:avLst/>
          </a:prstGeom>
          <a:solidFill>
            <a:srgbClr val="1E3A5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5911A908-2F19-014E-A787-8A23A63D5D4C}"/>
              </a:ext>
            </a:extLst>
          </p:cNvPr>
          <p:cNvSpPr/>
          <p:nvPr/>
        </p:nvSpPr>
        <p:spPr>
          <a:xfrm>
            <a:off x="0" y="0"/>
            <a:ext cx="12192000" cy="508000"/>
          </a:xfrm>
          <a:prstGeom prst="rect">
            <a:avLst/>
          </a:prstGeom>
          <a:solidFill>
            <a:srgbClr val="1E3A5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pic>
        <p:nvPicPr>
          <p:cNvPr id="2" name="Picture 1">
            <a:extLst>
              <a:ext uri="{FF2B5EF4-FFF2-40B4-BE49-F238E27FC236}">
                <a16:creationId xmlns:a16="http://schemas.microsoft.com/office/drawing/2014/main" id="{8D8F9F97-3921-DA98-E0F5-D191B32E7266}"/>
              </a:ext>
            </a:extLst>
          </p:cNvPr>
          <p:cNvPicPr>
            <a:picLocks noChangeAspect="1"/>
          </p:cNvPicPr>
          <p:nvPr/>
        </p:nvPicPr>
        <p:blipFill>
          <a:blip r:embed="rId3"/>
          <a:stretch>
            <a:fillRect/>
          </a:stretch>
        </p:blipFill>
        <p:spPr>
          <a:xfrm>
            <a:off x="4509027" y="655377"/>
            <a:ext cx="6961484" cy="5778031"/>
          </a:xfrm>
          <a:prstGeom prst="rect">
            <a:avLst/>
          </a:prstGeom>
          <a:ln>
            <a:noFill/>
          </a:ln>
        </p:spPr>
      </p:pic>
      <p:sp>
        <p:nvSpPr>
          <p:cNvPr id="3" name="Title 2">
            <a:extLst>
              <a:ext uri="{FF2B5EF4-FFF2-40B4-BE49-F238E27FC236}">
                <a16:creationId xmlns:a16="http://schemas.microsoft.com/office/drawing/2014/main" id="{97D11437-C940-1438-7E28-11D7A9342413}"/>
              </a:ext>
            </a:extLst>
          </p:cNvPr>
          <p:cNvSpPr>
            <a:spLocks noGrp="1"/>
          </p:cNvSpPr>
          <p:nvPr>
            <p:ph type="title"/>
          </p:nvPr>
        </p:nvSpPr>
        <p:spPr>
          <a:xfrm>
            <a:off x="566737" y="-23149"/>
            <a:ext cx="3008313" cy="1162050"/>
          </a:xfrm>
        </p:spPr>
        <p:txBody>
          <a:bodyPr/>
          <a:lstStyle/>
          <a:p>
            <a:r>
              <a:rPr lang="en-US" dirty="0"/>
              <a:t>Web-scraped data </a:t>
            </a:r>
          </a:p>
        </p:txBody>
      </p:sp>
      <p:sp>
        <p:nvSpPr>
          <p:cNvPr id="4" name="Content Placeholder 3">
            <a:extLst>
              <a:ext uri="{FF2B5EF4-FFF2-40B4-BE49-F238E27FC236}">
                <a16:creationId xmlns:a16="http://schemas.microsoft.com/office/drawing/2014/main" id="{31B57477-2B3F-698F-CC0D-7AF793C2E7E1}"/>
              </a:ext>
            </a:extLst>
          </p:cNvPr>
          <p:cNvSpPr>
            <a:spLocks noGrp="1"/>
          </p:cNvSpPr>
          <p:nvPr>
            <p:ph idx="1"/>
          </p:nvPr>
        </p:nvSpPr>
        <p:spPr/>
        <p:txBody>
          <a:bodyPr/>
          <a:lstStyle/>
          <a:p>
            <a:endParaRPr lang="en-US"/>
          </a:p>
        </p:txBody>
      </p:sp>
      <p:sp>
        <p:nvSpPr>
          <p:cNvPr id="5" name="Text Placeholder 4">
            <a:extLst>
              <a:ext uri="{FF2B5EF4-FFF2-40B4-BE49-F238E27FC236}">
                <a16:creationId xmlns:a16="http://schemas.microsoft.com/office/drawing/2014/main" id="{002034A5-04BD-65C3-38CD-28187A93122E}"/>
              </a:ext>
            </a:extLst>
          </p:cNvPr>
          <p:cNvSpPr>
            <a:spLocks noGrp="1"/>
          </p:cNvSpPr>
          <p:nvPr>
            <p:ph type="body" sz="half" idx="2"/>
          </p:nvPr>
        </p:nvSpPr>
        <p:spPr>
          <a:xfrm>
            <a:off x="417372" y="1198862"/>
            <a:ext cx="3008313" cy="4691063"/>
          </a:xfrm>
        </p:spPr>
        <p:txBody>
          <a:bodyPr>
            <a:normAutofit fontScale="92500" lnSpcReduction="20000"/>
          </a:bodyPr>
          <a:lstStyle/>
          <a:p>
            <a:r>
              <a:rPr lang="en-US" b="1" dirty="0"/>
              <a:t>Personal project to apply text /data mining tools with AI help</a:t>
            </a:r>
          </a:p>
          <a:p>
            <a:endParaRPr lang="en-US" b="1" dirty="0"/>
          </a:p>
          <a:p>
            <a:r>
              <a:rPr lang="en-US" b="1" dirty="0"/>
              <a:t>OPTN-HRSA website:</a:t>
            </a:r>
          </a:p>
          <a:p>
            <a:r>
              <a:rPr lang="en-US" b="1" dirty="0"/>
              <a:t>Used AI to vibe code program to  web scrape the lung transplant data on 54 US centers (active adult programs &gt; 3 years)</a:t>
            </a:r>
          </a:p>
          <a:p>
            <a:endParaRPr lang="en-US" b="1" dirty="0"/>
          </a:p>
          <a:p>
            <a:r>
              <a:rPr lang="en-US" b="1" dirty="0"/>
              <a:t>Period 2005- Mar 2026</a:t>
            </a:r>
            <a:br>
              <a:rPr lang="en-US" b="1" dirty="0"/>
            </a:br>
            <a:br>
              <a:rPr lang="en-US" b="1" dirty="0"/>
            </a:br>
            <a:r>
              <a:rPr lang="en-US" b="1" dirty="0"/>
              <a:t>ALUA current PSR, SRTR report Jan 2026</a:t>
            </a:r>
          </a:p>
          <a:p>
            <a:br>
              <a:rPr lang="en-US" b="1" dirty="0"/>
            </a:br>
            <a:r>
              <a:rPr lang="en-US" b="1" dirty="0"/>
              <a:t>Key Questions:</a:t>
            </a:r>
          </a:p>
          <a:p>
            <a:br>
              <a:rPr lang="en-US" b="1" dirty="0"/>
            </a:br>
            <a:r>
              <a:rPr lang="en-US" b="1" dirty="0"/>
              <a:t>How has the U.S. lung transplant system changed over the past 20 years?</a:t>
            </a:r>
            <a:r>
              <a:rPr lang="en-US" dirty="0"/>
              <a:t> </a:t>
            </a:r>
          </a:p>
          <a:p>
            <a:br>
              <a:rPr lang="en-US" b="1" dirty="0"/>
            </a:br>
            <a:r>
              <a:rPr lang="en-US" b="1" dirty="0"/>
              <a:t>How did major allocation policy reforms — DSA removal and CAS implementation — redistribute volume and access across centers?</a:t>
            </a:r>
            <a:r>
              <a:rPr lang="en-US" dirty="0"/>
              <a:t> </a:t>
            </a:r>
          </a:p>
          <a:p>
            <a:br>
              <a:rPr lang="en-US" b="1" dirty="0"/>
            </a:br>
            <a:r>
              <a:rPr lang="en-US" b="1" dirty="0"/>
              <a:t>Where does ALUA stand now, what explains its recent volume recovery, and what are the major surveillance risks for 2026–2028?</a:t>
            </a:r>
            <a:r>
              <a:rPr lang="en-US" dirty="0"/>
              <a:t> </a:t>
            </a:r>
          </a:p>
          <a:p>
            <a:endParaRPr lang="en-US" dirty="0"/>
          </a:p>
        </p:txBody>
      </p:sp>
    </p:spTree>
    <p:extLst>
      <p:ext uri="{BB962C8B-B14F-4D97-AF65-F5344CB8AC3E}">
        <p14:creationId xmlns:p14="http://schemas.microsoft.com/office/powerpoint/2010/main" val="2776880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E003-B476-D697-BFE9-B4655AA717D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C5D02FF-7590-D05E-36B7-9FCFC1517FE3}"/>
              </a:ext>
            </a:extLst>
          </p:cNvPr>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1986A5C-3E87-1DE1-9CC8-801B5817F171}"/>
              </a:ext>
            </a:extLst>
          </p:cNvPr>
          <p:cNvSpPr/>
          <p:nvPr/>
        </p:nvSpPr>
        <p:spPr>
          <a:xfrm>
            <a:off x="0" y="4315968"/>
            <a:ext cx="12188952" cy="2542032"/>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4BF46E8C-E04B-0366-5202-0B6556215F56}"/>
              </a:ext>
            </a:extLst>
          </p:cNvPr>
          <p:cNvSpPr/>
          <p:nvPr/>
        </p:nvSpPr>
        <p:spPr>
          <a:xfrm>
            <a:off x="0" y="4279392"/>
            <a:ext cx="12188952" cy="64008"/>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DB0AD7A5-90FA-2B0A-2A86-9D131DE335BB}"/>
              </a:ext>
            </a:extLst>
          </p:cNvPr>
          <p:cNvSpPr txBox="1"/>
          <p:nvPr/>
        </p:nvSpPr>
        <p:spPr>
          <a:xfrm>
            <a:off x="457200" y="640080"/>
            <a:ext cx="11247120" cy="1005840"/>
          </a:xfrm>
          <a:prstGeom prst="rect">
            <a:avLst/>
          </a:prstGeom>
          <a:noFill/>
        </p:spPr>
        <p:txBody>
          <a:bodyPr wrap="square">
            <a:spAutoFit/>
          </a:bodyPr>
          <a:lstStyle/>
          <a:p>
            <a:pPr algn="ctr"/>
            <a:r>
              <a:rPr sz="4600" b="1" i="0">
                <a:solidFill>
                  <a:srgbClr val="FFFFFF"/>
                </a:solidFill>
              </a:rPr>
              <a:t>US Lung Transplant</a:t>
            </a:r>
          </a:p>
        </p:txBody>
      </p:sp>
      <p:sp>
        <p:nvSpPr>
          <p:cNvPr id="6" name="TextBox 5">
            <a:extLst>
              <a:ext uri="{FF2B5EF4-FFF2-40B4-BE49-F238E27FC236}">
                <a16:creationId xmlns:a16="http://schemas.microsoft.com/office/drawing/2014/main" id="{B92BBEFE-2DED-4E0E-7575-CD8878C17C3A}"/>
              </a:ext>
            </a:extLst>
          </p:cNvPr>
          <p:cNvSpPr txBox="1"/>
          <p:nvPr/>
        </p:nvSpPr>
        <p:spPr>
          <a:xfrm>
            <a:off x="457200" y="1435608"/>
            <a:ext cx="11247120" cy="685800"/>
          </a:xfrm>
          <a:prstGeom prst="rect">
            <a:avLst/>
          </a:prstGeom>
          <a:noFill/>
        </p:spPr>
        <p:txBody>
          <a:bodyPr wrap="square">
            <a:spAutoFit/>
          </a:bodyPr>
          <a:lstStyle/>
          <a:p>
            <a:pPr algn="ctr"/>
            <a:r>
              <a:rPr sz="2600" b="0" i="0">
                <a:solidFill>
                  <a:srgbClr val="E8F2FA"/>
                </a:solidFill>
              </a:rPr>
              <a:t>Comprehensive Analytics Report</a:t>
            </a:r>
          </a:p>
        </p:txBody>
      </p:sp>
      <p:sp>
        <p:nvSpPr>
          <p:cNvPr id="7" name="TextBox 6">
            <a:extLst>
              <a:ext uri="{FF2B5EF4-FFF2-40B4-BE49-F238E27FC236}">
                <a16:creationId xmlns:a16="http://schemas.microsoft.com/office/drawing/2014/main" id="{EF0E2924-F6C0-1D65-DD36-1A3C4F339ADF}"/>
              </a:ext>
            </a:extLst>
          </p:cNvPr>
          <p:cNvSpPr txBox="1"/>
          <p:nvPr/>
        </p:nvSpPr>
        <p:spPr>
          <a:xfrm>
            <a:off x="457200" y="2176272"/>
            <a:ext cx="11247120" cy="438912"/>
          </a:xfrm>
          <a:prstGeom prst="rect">
            <a:avLst/>
          </a:prstGeom>
          <a:noFill/>
        </p:spPr>
        <p:txBody>
          <a:bodyPr wrap="square">
            <a:spAutoFit/>
          </a:bodyPr>
          <a:lstStyle/>
          <a:p>
            <a:pPr algn="ctr"/>
            <a:r>
              <a:rPr sz="1300" b="0" i="0">
                <a:solidFill>
                  <a:srgbClr val="9BC4E2"/>
                </a:solidFill>
              </a:rPr>
              <a:t>National Insights · ALUA Program Analysis · Policy Impact · Forecasts</a:t>
            </a:r>
          </a:p>
        </p:txBody>
      </p:sp>
      <p:sp>
        <p:nvSpPr>
          <p:cNvPr id="8" name="Rectangle 7">
            <a:extLst>
              <a:ext uri="{FF2B5EF4-FFF2-40B4-BE49-F238E27FC236}">
                <a16:creationId xmlns:a16="http://schemas.microsoft.com/office/drawing/2014/main" id="{E9478873-F25F-0EA1-8A98-05AC1E2E5F95}"/>
              </a:ext>
            </a:extLst>
          </p:cNvPr>
          <p:cNvSpPr/>
          <p:nvPr/>
        </p:nvSpPr>
        <p:spPr>
          <a:xfrm>
            <a:off x="320040" y="2834640"/>
            <a:ext cx="2103120" cy="1005840"/>
          </a:xfrm>
          <a:prstGeom prst="rect">
            <a:avLst/>
          </a:prstGeom>
          <a:solidFill>
            <a:srgbClr val="0E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D54598D3-75E8-41A6-341E-B97544245990}"/>
              </a:ext>
            </a:extLst>
          </p:cNvPr>
          <p:cNvSpPr txBox="1"/>
          <p:nvPr/>
        </p:nvSpPr>
        <p:spPr>
          <a:xfrm>
            <a:off x="320040" y="2898648"/>
            <a:ext cx="2103120" cy="553212"/>
          </a:xfrm>
          <a:prstGeom prst="rect">
            <a:avLst/>
          </a:prstGeom>
          <a:noFill/>
        </p:spPr>
        <p:txBody>
          <a:bodyPr wrap="square">
            <a:spAutoFit/>
          </a:bodyPr>
          <a:lstStyle/>
          <a:p>
            <a:pPr algn="ctr"/>
            <a:r>
              <a:rPr sz="2100" b="1" i="0">
                <a:solidFill>
                  <a:srgbClr val="FFFFFF"/>
                </a:solidFill>
              </a:rPr>
              <a:t>3,083</a:t>
            </a:r>
          </a:p>
        </p:txBody>
      </p:sp>
      <p:sp>
        <p:nvSpPr>
          <p:cNvPr id="10" name="TextBox 9">
            <a:extLst>
              <a:ext uri="{FF2B5EF4-FFF2-40B4-BE49-F238E27FC236}">
                <a16:creationId xmlns:a16="http://schemas.microsoft.com/office/drawing/2014/main" id="{A9119664-DECD-0CA7-EAFC-B1B9AAB42195}"/>
              </a:ext>
            </a:extLst>
          </p:cNvPr>
          <p:cNvSpPr txBox="1"/>
          <p:nvPr/>
        </p:nvSpPr>
        <p:spPr>
          <a:xfrm>
            <a:off x="320040" y="3273552"/>
            <a:ext cx="2103120" cy="422452"/>
          </a:xfrm>
          <a:prstGeom prst="rect">
            <a:avLst/>
          </a:prstGeom>
          <a:noFill/>
        </p:spPr>
        <p:txBody>
          <a:bodyPr wrap="square">
            <a:spAutoFit/>
          </a:bodyPr>
          <a:lstStyle/>
          <a:p>
            <a:pPr algn="ctr"/>
            <a:r>
              <a:rPr sz="850" b="0" i="0">
                <a:solidFill>
                  <a:srgbClr val="C8DEF5"/>
                </a:solidFill>
              </a:rPr>
              <a:t>2025 National Volume</a:t>
            </a:r>
          </a:p>
        </p:txBody>
      </p:sp>
      <p:sp>
        <p:nvSpPr>
          <p:cNvPr id="11" name="Rectangle 10">
            <a:extLst>
              <a:ext uri="{FF2B5EF4-FFF2-40B4-BE49-F238E27FC236}">
                <a16:creationId xmlns:a16="http://schemas.microsoft.com/office/drawing/2014/main" id="{E86FE150-E2DD-D24F-EA6A-BD2CF425288F}"/>
              </a:ext>
            </a:extLst>
          </p:cNvPr>
          <p:cNvSpPr/>
          <p:nvPr/>
        </p:nvSpPr>
        <p:spPr>
          <a:xfrm>
            <a:off x="2578608" y="2834640"/>
            <a:ext cx="2103120" cy="1005840"/>
          </a:xfrm>
          <a:prstGeom prst="rect">
            <a:avLst/>
          </a:prstGeom>
          <a:solidFill>
            <a:srgbClr val="0E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217BC86B-31FA-04D2-415B-AA4064B4E5C0}"/>
              </a:ext>
            </a:extLst>
          </p:cNvPr>
          <p:cNvSpPr txBox="1"/>
          <p:nvPr/>
        </p:nvSpPr>
        <p:spPr>
          <a:xfrm>
            <a:off x="2578608" y="2898648"/>
            <a:ext cx="2103120" cy="553212"/>
          </a:xfrm>
          <a:prstGeom prst="rect">
            <a:avLst/>
          </a:prstGeom>
          <a:noFill/>
        </p:spPr>
        <p:txBody>
          <a:bodyPr wrap="square">
            <a:spAutoFit/>
          </a:bodyPr>
          <a:lstStyle/>
          <a:p>
            <a:pPr algn="ctr"/>
            <a:r>
              <a:rPr sz="2100" b="1" i="0">
                <a:solidFill>
                  <a:srgbClr val="FFFFFF"/>
                </a:solidFill>
              </a:rPr>
              <a:t>+158%</a:t>
            </a:r>
          </a:p>
        </p:txBody>
      </p:sp>
      <p:sp>
        <p:nvSpPr>
          <p:cNvPr id="13" name="TextBox 12">
            <a:extLst>
              <a:ext uri="{FF2B5EF4-FFF2-40B4-BE49-F238E27FC236}">
                <a16:creationId xmlns:a16="http://schemas.microsoft.com/office/drawing/2014/main" id="{60BEB466-5FC5-B0F8-965D-AC57651CFD7C}"/>
              </a:ext>
            </a:extLst>
          </p:cNvPr>
          <p:cNvSpPr txBox="1"/>
          <p:nvPr/>
        </p:nvSpPr>
        <p:spPr>
          <a:xfrm>
            <a:off x="2578608" y="3273552"/>
            <a:ext cx="2103120" cy="422452"/>
          </a:xfrm>
          <a:prstGeom prst="rect">
            <a:avLst/>
          </a:prstGeom>
          <a:noFill/>
        </p:spPr>
        <p:txBody>
          <a:bodyPr wrap="square">
            <a:spAutoFit/>
          </a:bodyPr>
          <a:lstStyle/>
          <a:p>
            <a:pPr algn="ctr"/>
            <a:r>
              <a:rPr sz="850" b="0" i="0">
                <a:solidFill>
                  <a:srgbClr val="C8DEF5"/>
                </a:solidFill>
              </a:rPr>
              <a:t>20-Year Growth</a:t>
            </a:r>
          </a:p>
        </p:txBody>
      </p:sp>
      <p:sp>
        <p:nvSpPr>
          <p:cNvPr id="14" name="Rectangle 13">
            <a:extLst>
              <a:ext uri="{FF2B5EF4-FFF2-40B4-BE49-F238E27FC236}">
                <a16:creationId xmlns:a16="http://schemas.microsoft.com/office/drawing/2014/main" id="{27DDADAA-4201-7B7C-C930-93ADD38AD846}"/>
              </a:ext>
            </a:extLst>
          </p:cNvPr>
          <p:cNvSpPr/>
          <p:nvPr/>
        </p:nvSpPr>
        <p:spPr>
          <a:xfrm>
            <a:off x="4828032" y="2834640"/>
            <a:ext cx="2103120" cy="1005840"/>
          </a:xfrm>
          <a:prstGeom prst="rect">
            <a:avLst/>
          </a:prstGeom>
          <a:solidFill>
            <a:srgbClr val="0E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39F577CF-4FEC-4F65-0F14-F9A0B5BE026E}"/>
              </a:ext>
            </a:extLst>
          </p:cNvPr>
          <p:cNvSpPr txBox="1"/>
          <p:nvPr/>
        </p:nvSpPr>
        <p:spPr>
          <a:xfrm>
            <a:off x="4828032" y="2898648"/>
            <a:ext cx="2103120" cy="553212"/>
          </a:xfrm>
          <a:prstGeom prst="rect">
            <a:avLst/>
          </a:prstGeom>
          <a:noFill/>
        </p:spPr>
        <p:txBody>
          <a:bodyPr wrap="square">
            <a:spAutoFit/>
          </a:bodyPr>
          <a:lstStyle/>
          <a:p>
            <a:pPr algn="ctr"/>
            <a:r>
              <a:rPr sz="2100" b="1" i="0">
                <a:solidFill>
                  <a:srgbClr val="FFFFFF"/>
                </a:solidFill>
              </a:rPr>
              <a:t>54</a:t>
            </a:r>
          </a:p>
        </p:txBody>
      </p:sp>
      <p:sp>
        <p:nvSpPr>
          <p:cNvPr id="16" name="TextBox 15">
            <a:extLst>
              <a:ext uri="{FF2B5EF4-FFF2-40B4-BE49-F238E27FC236}">
                <a16:creationId xmlns:a16="http://schemas.microsoft.com/office/drawing/2014/main" id="{5BFF1872-FCEC-E1F2-08C6-A1887798B06E}"/>
              </a:ext>
            </a:extLst>
          </p:cNvPr>
          <p:cNvSpPr txBox="1"/>
          <p:nvPr/>
        </p:nvSpPr>
        <p:spPr>
          <a:xfrm>
            <a:off x="4828032" y="3273552"/>
            <a:ext cx="2103120" cy="422452"/>
          </a:xfrm>
          <a:prstGeom prst="rect">
            <a:avLst/>
          </a:prstGeom>
          <a:noFill/>
        </p:spPr>
        <p:txBody>
          <a:bodyPr wrap="square">
            <a:spAutoFit/>
          </a:bodyPr>
          <a:lstStyle/>
          <a:p>
            <a:pPr algn="ctr"/>
            <a:r>
              <a:rPr sz="850" b="0" i="0">
                <a:solidFill>
                  <a:srgbClr val="C8DEF5"/>
                </a:solidFill>
              </a:rPr>
              <a:t>Active Centers</a:t>
            </a:r>
          </a:p>
        </p:txBody>
      </p:sp>
      <p:sp>
        <p:nvSpPr>
          <p:cNvPr id="17" name="Rectangle 16">
            <a:extLst>
              <a:ext uri="{FF2B5EF4-FFF2-40B4-BE49-F238E27FC236}">
                <a16:creationId xmlns:a16="http://schemas.microsoft.com/office/drawing/2014/main" id="{D6CFBA4C-5C19-1D51-0ED8-3A777D9F8F7C}"/>
              </a:ext>
            </a:extLst>
          </p:cNvPr>
          <p:cNvSpPr/>
          <p:nvPr/>
        </p:nvSpPr>
        <p:spPr>
          <a:xfrm>
            <a:off x="7086600" y="2834640"/>
            <a:ext cx="2103120" cy="1005840"/>
          </a:xfrm>
          <a:prstGeom prst="rect">
            <a:avLst/>
          </a:prstGeom>
          <a:solidFill>
            <a:srgbClr val="0E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28B13628-B73F-C2BF-23FE-AE3DB9A0AA51}"/>
              </a:ext>
            </a:extLst>
          </p:cNvPr>
          <p:cNvSpPr txBox="1"/>
          <p:nvPr/>
        </p:nvSpPr>
        <p:spPr>
          <a:xfrm>
            <a:off x="7086600" y="2898648"/>
            <a:ext cx="2103120" cy="553212"/>
          </a:xfrm>
          <a:prstGeom prst="rect">
            <a:avLst/>
          </a:prstGeom>
          <a:noFill/>
        </p:spPr>
        <p:txBody>
          <a:bodyPr wrap="square">
            <a:spAutoFit/>
          </a:bodyPr>
          <a:lstStyle/>
          <a:p>
            <a:pPr algn="ctr"/>
            <a:r>
              <a:rPr sz="2100" b="1" i="0">
                <a:solidFill>
                  <a:srgbClr val="FFFFFF"/>
                </a:solidFill>
              </a:rPr>
              <a:t>31</a:t>
            </a:r>
          </a:p>
        </p:txBody>
      </p:sp>
      <p:sp>
        <p:nvSpPr>
          <p:cNvPr id="19" name="TextBox 18">
            <a:extLst>
              <a:ext uri="{FF2B5EF4-FFF2-40B4-BE49-F238E27FC236}">
                <a16:creationId xmlns:a16="http://schemas.microsoft.com/office/drawing/2014/main" id="{150A7A3F-B6A8-873A-3F11-9EE8AB30C8BC}"/>
              </a:ext>
            </a:extLst>
          </p:cNvPr>
          <p:cNvSpPr txBox="1"/>
          <p:nvPr/>
        </p:nvSpPr>
        <p:spPr>
          <a:xfrm>
            <a:off x="7086600" y="3273552"/>
            <a:ext cx="2103120" cy="422452"/>
          </a:xfrm>
          <a:prstGeom prst="rect">
            <a:avLst/>
          </a:prstGeom>
          <a:noFill/>
        </p:spPr>
        <p:txBody>
          <a:bodyPr wrap="square">
            <a:spAutoFit/>
          </a:bodyPr>
          <a:lstStyle/>
          <a:p>
            <a:pPr algn="ctr"/>
            <a:r>
              <a:rPr sz="850" b="0" i="0">
                <a:solidFill>
                  <a:srgbClr val="C8DEF5"/>
                </a:solidFill>
              </a:rPr>
              <a:t>ALUA 2025 Volume</a:t>
            </a:r>
          </a:p>
        </p:txBody>
      </p:sp>
      <p:sp>
        <p:nvSpPr>
          <p:cNvPr id="20" name="Rectangle 19">
            <a:extLst>
              <a:ext uri="{FF2B5EF4-FFF2-40B4-BE49-F238E27FC236}">
                <a16:creationId xmlns:a16="http://schemas.microsoft.com/office/drawing/2014/main" id="{FD6339B6-D33C-A4AA-C061-3C9AA4FA3FDE}"/>
              </a:ext>
            </a:extLst>
          </p:cNvPr>
          <p:cNvSpPr/>
          <p:nvPr/>
        </p:nvSpPr>
        <p:spPr>
          <a:xfrm>
            <a:off x="9326880" y="2834640"/>
            <a:ext cx="2560320" cy="1005840"/>
          </a:xfrm>
          <a:prstGeom prst="rect">
            <a:avLst/>
          </a:prstGeom>
          <a:solidFill>
            <a:srgbClr val="0E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A396DF2F-D67D-DD6D-7909-94C50EDA2B1C}"/>
              </a:ext>
            </a:extLst>
          </p:cNvPr>
          <p:cNvSpPr txBox="1"/>
          <p:nvPr/>
        </p:nvSpPr>
        <p:spPr>
          <a:xfrm>
            <a:off x="9326880" y="2898648"/>
            <a:ext cx="2560320" cy="553212"/>
          </a:xfrm>
          <a:prstGeom prst="rect">
            <a:avLst/>
          </a:prstGeom>
          <a:noFill/>
        </p:spPr>
        <p:txBody>
          <a:bodyPr wrap="square">
            <a:spAutoFit/>
          </a:bodyPr>
          <a:lstStyle/>
          <a:p>
            <a:pPr algn="ctr"/>
            <a:r>
              <a:rPr sz="2100" b="1" i="0">
                <a:solidFill>
                  <a:srgbClr val="FFFFFF"/>
                </a:solidFill>
              </a:rPr>
              <a:t>95.7%</a:t>
            </a:r>
          </a:p>
        </p:txBody>
      </p:sp>
      <p:sp>
        <p:nvSpPr>
          <p:cNvPr id="22" name="TextBox 21">
            <a:extLst>
              <a:ext uri="{FF2B5EF4-FFF2-40B4-BE49-F238E27FC236}">
                <a16:creationId xmlns:a16="http://schemas.microsoft.com/office/drawing/2014/main" id="{02070199-6E60-920A-CE7B-F58307ADF0FC}"/>
              </a:ext>
            </a:extLst>
          </p:cNvPr>
          <p:cNvSpPr txBox="1"/>
          <p:nvPr/>
        </p:nvSpPr>
        <p:spPr>
          <a:xfrm>
            <a:off x="9326880" y="3273552"/>
            <a:ext cx="2560320" cy="422452"/>
          </a:xfrm>
          <a:prstGeom prst="rect">
            <a:avLst/>
          </a:prstGeom>
          <a:noFill/>
        </p:spPr>
        <p:txBody>
          <a:bodyPr wrap="square">
            <a:spAutoFit/>
          </a:bodyPr>
          <a:lstStyle/>
          <a:p>
            <a:pPr algn="ctr"/>
            <a:r>
              <a:rPr sz="850" b="0" i="0">
                <a:solidFill>
                  <a:srgbClr val="C8DEF5"/>
                </a:solidFill>
              </a:rPr>
              <a:t>ALUA 1-yr Survival</a:t>
            </a:r>
          </a:p>
        </p:txBody>
      </p:sp>
      <p:sp>
        <p:nvSpPr>
          <p:cNvPr id="33" name="TextBox 32">
            <a:extLst>
              <a:ext uri="{FF2B5EF4-FFF2-40B4-BE49-F238E27FC236}">
                <a16:creationId xmlns:a16="http://schemas.microsoft.com/office/drawing/2014/main" id="{A0F34B0B-43E2-31C8-B1D3-8F986A373FEA}"/>
              </a:ext>
            </a:extLst>
          </p:cNvPr>
          <p:cNvSpPr txBox="1"/>
          <p:nvPr/>
        </p:nvSpPr>
        <p:spPr>
          <a:xfrm>
            <a:off x="457200" y="6473952"/>
            <a:ext cx="11247120" cy="320040"/>
          </a:xfrm>
          <a:prstGeom prst="rect">
            <a:avLst/>
          </a:prstGeom>
          <a:noFill/>
        </p:spPr>
        <p:txBody>
          <a:bodyPr wrap="square">
            <a:spAutoFit/>
          </a:bodyPr>
          <a:lstStyle/>
          <a:p>
            <a:pPr algn="ctr"/>
            <a:r>
              <a:rPr sz="800" b="0" i="0">
                <a:solidFill>
                  <a:srgbClr val="7090B0"/>
                </a:solidFill>
              </a:rPr>
              <a:t>OPTN 2005–2025 · SRTR PSR January 2026 · Rolling PSR April 2026</a:t>
            </a:r>
          </a:p>
        </p:txBody>
      </p:sp>
    </p:spTree>
    <p:extLst>
      <p:ext uri="{BB962C8B-B14F-4D97-AF65-F5344CB8AC3E}">
        <p14:creationId xmlns:p14="http://schemas.microsoft.com/office/powerpoint/2010/main" val="829750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Part 1 — National Market</a:t>
            </a:r>
          </a:p>
        </p:txBody>
      </p:sp>
      <p:sp>
        <p:nvSpPr>
          <p:cNvPr id="4" name="TextBox 3"/>
          <p:cNvSpPr txBox="1"/>
          <p:nvPr/>
        </p:nvSpPr>
        <p:spPr>
          <a:xfrm>
            <a:off x="228600" y="289342"/>
            <a:ext cx="11430000" cy="274320"/>
          </a:xfrm>
          <a:prstGeom prst="rect">
            <a:avLst/>
          </a:prstGeom>
          <a:noFill/>
        </p:spPr>
        <p:txBody>
          <a:bodyPr wrap="square">
            <a:spAutoFit/>
          </a:bodyPr>
          <a:lstStyle/>
          <a:p>
            <a:pPr algn="l"/>
            <a:r>
              <a:rPr sz="950" b="0" i="0" dirty="0">
                <a:solidFill>
                  <a:srgbClr val="C8DEF5"/>
                </a:solidFill>
              </a:rPr>
              <a:t>US Lung Transplant Volume 2005–2025 with Policy Inflection Points</a:t>
            </a:r>
          </a:p>
        </p:txBody>
      </p:sp>
      <p:pic>
        <p:nvPicPr>
          <p:cNvPr id="5" name="Picture 4" descr="nat_volume.png"/>
          <p:cNvPicPr>
            <a:picLocks noChangeAspect="1"/>
          </p:cNvPicPr>
          <p:nvPr/>
        </p:nvPicPr>
        <p:blipFill>
          <a:blip r:embed="rId3"/>
          <a:stretch>
            <a:fillRect/>
          </a:stretch>
        </p:blipFill>
        <p:spPr>
          <a:xfrm>
            <a:off x="182880" y="1106424"/>
            <a:ext cx="8229600" cy="4114800"/>
          </a:xfrm>
          <a:prstGeom prst="rect">
            <a:avLst/>
          </a:prstGeom>
        </p:spPr>
      </p:pic>
      <p:sp>
        <p:nvSpPr>
          <p:cNvPr id="6" name="Rectangle 5"/>
          <p:cNvSpPr/>
          <p:nvPr/>
        </p:nvSpPr>
        <p:spPr>
          <a:xfrm>
            <a:off x="8549640" y="507641"/>
            <a:ext cx="3383280" cy="1923880"/>
          </a:xfrm>
          <a:prstGeom prst="rect">
            <a:avLst/>
          </a:prstGeom>
          <a:solidFill>
            <a:srgbClr val="E8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32520" y="658368"/>
            <a:ext cx="3154680" cy="347472"/>
          </a:xfrm>
          <a:prstGeom prst="rect">
            <a:avLst/>
          </a:prstGeom>
          <a:noFill/>
        </p:spPr>
        <p:txBody>
          <a:bodyPr wrap="square">
            <a:spAutoFit/>
          </a:bodyPr>
          <a:lstStyle/>
          <a:p>
            <a:pPr algn="l"/>
            <a:r>
              <a:rPr sz="1100" b="1" i="0">
                <a:solidFill>
                  <a:srgbClr val="1E3A5F"/>
                </a:solidFill>
              </a:rPr>
              <a:t>Era Averages</a:t>
            </a:r>
          </a:p>
        </p:txBody>
      </p:sp>
      <p:sp>
        <p:nvSpPr>
          <p:cNvPr id="8" name="TextBox 7"/>
          <p:cNvSpPr txBox="1"/>
          <p:nvPr/>
        </p:nvSpPr>
        <p:spPr>
          <a:xfrm>
            <a:off x="8732520" y="978408"/>
            <a:ext cx="3200400" cy="256032"/>
          </a:xfrm>
          <a:prstGeom prst="rect">
            <a:avLst/>
          </a:prstGeom>
          <a:noFill/>
        </p:spPr>
        <p:txBody>
          <a:bodyPr wrap="square">
            <a:spAutoFit/>
          </a:bodyPr>
          <a:lstStyle/>
          <a:p>
            <a:pPr algn="l"/>
            <a:r>
              <a:rPr sz="950" b="0" i="0">
                <a:solidFill>
                  <a:srgbClr val="1E3A5F"/>
                </a:solidFill>
              </a:rPr>
              <a:t>DSA Era (2010–17):   2,006/yr</a:t>
            </a:r>
          </a:p>
        </p:txBody>
      </p:sp>
      <p:sp>
        <p:nvSpPr>
          <p:cNvPr id="9" name="TextBox 8"/>
          <p:cNvSpPr txBox="1"/>
          <p:nvPr/>
        </p:nvSpPr>
        <p:spPr>
          <a:xfrm>
            <a:off x="8732520" y="1188720"/>
            <a:ext cx="3200400" cy="238527"/>
          </a:xfrm>
          <a:prstGeom prst="rect">
            <a:avLst/>
          </a:prstGeom>
          <a:noFill/>
        </p:spPr>
        <p:txBody>
          <a:bodyPr wrap="square">
            <a:spAutoFit/>
          </a:bodyPr>
          <a:lstStyle/>
          <a:p>
            <a:pPr algn="l"/>
            <a:r>
              <a:rPr sz="950" b="0" i="0" dirty="0">
                <a:solidFill>
                  <a:srgbClr val="C47A00"/>
                </a:solidFill>
              </a:rPr>
              <a:t>250</a:t>
            </a:r>
            <a:r>
              <a:rPr lang="en-US" sz="950" b="0" i="0" dirty="0">
                <a:solidFill>
                  <a:srgbClr val="C47A00"/>
                </a:solidFill>
              </a:rPr>
              <a:t> NM </a:t>
            </a:r>
            <a:r>
              <a:rPr sz="950" b="0" i="0" dirty="0">
                <a:solidFill>
                  <a:srgbClr val="C47A00"/>
                </a:solidFill>
              </a:rPr>
              <a:t> Era (2018–22): 2,333/yr (+16%)</a:t>
            </a:r>
          </a:p>
        </p:txBody>
      </p:sp>
      <p:sp>
        <p:nvSpPr>
          <p:cNvPr id="10" name="TextBox 9"/>
          <p:cNvSpPr txBox="1"/>
          <p:nvPr/>
        </p:nvSpPr>
        <p:spPr>
          <a:xfrm>
            <a:off x="8732520" y="1399032"/>
            <a:ext cx="3200400" cy="256032"/>
          </a:xfrm>
          <a:prstGeom prst="rect">
            <a:avLst/>
          </a:prstGeom>
          <a:noFill/>
        </p:spPr>
        <p:txBody>
          <a:bodyPr wrap="square">
            <a:spAutoFit/>
          </a:bodyPr>
          <a:lstStyle/>
          <a:p>
            <a:pPr algn="l"/>
            <a:r>
              <a:rPr sz="950" b="0" i="0" dirty="0">
                <a:solidFill>
                  <a:srgbClr val="1A7A4A"/>
                </a:solidFill>
              </a:rPr>
              <a:t>CAS Era (2023–25):   2,888/yr (+24%)</a:t>
            </a:r>
          </a:p>
        </p:txBody>
      </p:sp>
      <p:sp>
        <p:nvSpPr>
          <p:cNvPr id="11" name="TextBox 10"/>
          <p:cNvSpPr txBox="1"/>
          <p:nvPr/>
        </p:nvSpPr>
        <p:spPr>
          <a:xfrm>
            <a:off x="8531352" y="3429000"/>
            <a:ext cx="3401568" cy="1723549"/>
          </a:xfrm>
          <a:prstGeom prst="rect">
            <a:avLst/>
          </a:prstGeom>
          <a:noFill/>
        </p:spPr>
        <p:txBody>
          <a:bodyPr wrap="square">
            <a:spAutoFit/>
          </a:bodyPr>
          <a:lstStyle/>
          <a:p>
            <a:pPr algn="l">
              <a:spcBef>
                <a:spcPts val="300"/>
              </a:spcBef>
            </a:pPr>
            <a:r>
              <a:rPr sz="1200" b="1" dirty="0">
                <a:solidFill>
                  <a:srgbClr val="2D3A4A"/>
                </a:solidFill>
              </a:rPr>
              <a:t>▸  158% growth: 1,196 → 3,083 transplants over 20 years</a:t>
            </a:r>
          </a:p>
          <a:p>
            <a:pPr algn="l">
              <a:spcBef>
                <a:spcPts val="300"/>
              </a:spcBef>
            </a:pPr>
            <a:r>
              <a:rPr sz="1200" b="0" dirty="0">
                <a:solidFill>
                  <a:srgbClr val="2D3A4A"/>
                </a:solidFill>
              </a:rPr>
              <a:t>▸  2023: largest single-year jump (+10.9%) — CAS effect</a:t>
            </a:r>
          </a:p>
          <a:p>
            <a:pPr algn="l">
              <a:spcBef>
                <a:spcPts val="300"/>
              </a:spcBef>
            </a:pPr>
            <a:r>
              <a:rPr sz="1200" b="0" dirty="0">
                <a:solidFill>
                  <a:srgbClr val="2D3A4A"/>
                </a:solidFill>
              </a:rPr>
              <a:t>▸  COVID 2020 dip (−6.5%) recovered fully by 2022</a:t>
            </a:r>
          </a:p>
          <a:p>
            <a:pPr algn="l">
              <a:spcBef>
                <a:spcPts val="300"/>
              </a:spcBef>
            </a:pPr>
            <a:r>
              <a:rPr sz="1200" b="0" dirty="0">
                <a:solidFill>
                  <a:srgbClr val="2D3A4A"/>
                </a:solidFill>
              </a:rPr>
              <a:t>▸  Post-CAS slope: +216/yr vs long-run +89/yr</a:t>
            </a:r>
          </a:p>
          <a:p>
            <a:pPr algn="l">
              <a:spcBef>
                <a:spcPts val="300"/>
              </a:spcBef>
            </a:pPr>
            <a:r>
              <a:rPr sz="1200" b="0" dirty="0">
                <a:solidFill>
                  <a:srgbClr val="2D3A4A"/>
                </a:solidFill>
              </a:rPr>
              <a:t>▸  2026 YTD annualizes ~3,012 — tracking conservative model</a:t>
            </a:r>
          </a:p>
        </p:txBody>
      </p:sp>
      <p:sp>
        <p:nvSpPr>
          <p:cNvPr id="12" name="Rectangle 11"/>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National Volume Trend</a:t>
            </a:r>
          </a:p>
        </p:txBody>
      </p:sp>
      <p:sp>
        <p:nvSpPr>
          <p:cNvPr id="14" name="TextBox 13"/>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2</a:t>
            </a:r>
          </a:p>
        </p:txBody>
      </p:sp>
    </p:spTree>
    <p:extLst>
      <p:ext uri="{BB962C8B-B14F-4D97-AF65-F5344CB8AC3E}">
        <p14:creationId xmlns:p14="http://schemas.microsoft.com/office/powerpoint/2010/main" val="2205663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93"/>
            <a:ext cx="12188520" cy="566780"/>
          </a:xfrm>
          <a:prstGeom prst="rect">
            <a:avLst/>
          </a:prstGeom>
          <a:solidFill>
            <a:srgbClr val="153B5C"/>
          </a:solidFill>
          <a:ln w="12700">
            <a:solidFill>
              <a:srgbClr val="153B5C"/>
            </a:solidFill>
            <a:prstDash val="solid"/>
          </a:ln>
        </p:spPr>
        <p:txBody>
          <a:bodyPr/>
          <a:lstStyle/>
          <a:p>
            <a:endParaRPr lang="en-US" sz="1799"/>
          </a:p>
        </p:txBody>
      </p:sp>
      <p:sp>
        <p:nvSpPr>
          <p:cNvPr id="3" name="Text 1"/>
          <p:cNvSpPr/>
          <p:nvPr/>
        </p:nvSpPr>
        <p:spPr>
          <a:xfrm>
            <a:off x="319956" y="119734"/>
            <a:ext cx="8867370" cy="329098"/>
          </a:xfrm>
          <a:prstGeom prst="rect">
            <a:avLst/>
          </a:prstGeom>
          <a:noFill/>
          <a:ln/>
        </p:spPr>
        <p:txBody>
          <a:bodyPr wrap="square" lIns="0" tIns="0" rIns="0" bIns="0" rtlCol="0" anchor="ctr">
            <a:normAutofit/>
          </a:bodyPr>
          <a:lstStyle/>
          <a:p>
            <a:r>
              <a:rPr lang="en-US" sz="2099" b="1" dirty="0">
                <a:solidFill>
                  <a:srgbClr val="FFFFFF"/>
                </a:solidFill>
                <a:latin typeface="Aptos Display" pitchFamily="34" charset="0"/>
                <a:ea typeface="Aptos Display" pitchFamily="34" charset="-122"/>
                <a:cs typeface="Aptos Display" pitchFamily="34" charset="-120"/>
              </a:rPr>
              <a:t>Competitive landscape: concentration is moderate, but leaders matter</a:t>
            </a:r>
            <a:endParaRPr lang="en-US" sz="2099" dirty="0"/>
          </a:p>
        </p:txBody>
      </p:sp>
      <p:sp>
        <p:nvSpPr>
          <p:cNvPr id="4" name="Text 2"/>
          <p:cNvSpPr/>
          <p:nvPr/>
        </p:nvSpPr>
        <p:spPr>
          <a:xfrm>
            <a:off x="9690115" y="165442"/>
            <a:ext cx="1874032" cy="228540"/>
          </a:xfrm>
          <a:prstGeom prst="rect">
            <a:avLst/>
          </a:prstGeom>
          <a:noFill/>
          <a:ln/>
        </p:spPr>
        <p:txBody>
          <a:bodyPr wrap="square" lIns="0" tIns="0" rIns="0" bIns="0" rtlCol="0" anchor="ctr"/>
          <a:lstStyle/>
          <a:p>
            <a:pPr algn="r"/>
            <a:r>
              <a:rPr lang="en-US" sz="950" dirty="0">
                <a:solidFill>
                  <a:srgbClr val="CFE3F5"/>
                </a:solidFill>
              </a:rPr>
              <a:t>National market</a:t>
            </a:r>
            <a:endParaRPr lang="en-US" sz="950" dirty="0"/>
          </a:p>
        </p:txBody>
      </p:sp>
      <p:sp>
        <p:nvSpPr>
          <p:cNvPr id="5" name="Shape 3"/>
          <p:cNvSpPr/>
          <p:nvPr/>
        </p:nvSpPr>
        <p:spPr>
          <a:xfrm>
            <a:off x="0" y="6564575"/>
            <a:ext cx="12188520" cy="292532"/>
          </a:xfrm>
          <a:prstGeom prst="rect">
            <a:avLst/>
          </a:prstGeom>
          <a:solidFill>
            <a:srgbClr val="153B5C"/>
          </a:solidFill>
          <a:ln w="12700">
            <a:solidFill>
              <a:srgbClr val="153B5C"/>
            </a:solidFill>
            <a:prstDash val="solid"/>
          </a:ln>
        </p:spPr>
        <p:txBody>
          <a:bodyPr/>
          <a:lstStyle/>
          <a:p>
            <a:endParaRPr lang="en-US" sz="1799"/>
          </a:p>
        </p:txBody>
      </p:sp>
      <p:sp>
        <p:nvSpPr>
          <p:cNvPr id="6" name="Text 4"/>
          <p:cNvSpPr/>
          <p:nvPr/>
        </p:nvSpPr>
        <p:spPr>
          <a:xfrm>
            <a:off x="319956" y="6646850"/>
            <a:ext cx="3656648" cy="137124"/>
          </a:xfrm>
          <a:prstGeom prst="rect">
            <a:avLst/>
          </a:prstGeom>
          <a:noFill/>
          <a:ln/>
        </p:spPr>
        <p:txBody>
          <a:bodyPr wrap="square" lIns="0" tIns="0" rIns="0" bIns="0" rtlCol="0" anchor="ctr"/>
          <a:lstStyle/>
          <a:p>
            <a:r>
              <a:rPr lang="en-US" sz="680" dirty="0">
                <a:solidFill>
                  <a:srgbClr val="CFE3F5"/>
                </a:solidFill>
              </a:rPr>
              <a:t>US Lung Transplant Analytics | ALUA Program Assessment</a:t>
            </a:r>
            <a:endParaRPr lang="en-US" sz="680" dirty="0"/>
          </a:p>
        </p:txBody>
      </p:sp>
      <p:sp>
        <p:nvSpPr>
          <p:cNvPr id="7" name="Text 5"/>
          <p:cNvSpPr/>
          <p:nvPr/>
        </p:nvSpPr>
        <p:spPr>
          <a:xfrm>
            <a:off x="4250852" y="6646850"/>
            <a:ext cx="7039046" cy="137124"/>
          </a:xfrm>
          <a:prstGeom prst="rect">
            <a:avLst/>
          </a:prstGeom>
          <a:noFill/>
          <a:ln/>
        </p:spPr>
        <p:txBody>
          <a:bodyPr wrap="square" lIns="0" tIns="0" rIns="0" bIns="0" rtlCol="0" anchor="ctr"/>
          <a:lstStyle/>
          <a:p>
            <a:pPr algn="r"/>
            <a:r>
              <a:rPr lang="en-US" sz="660" dirty="0">
                <a:solidFill>
                  <a:srgbClr val="CFE3F5"/>
                </a:solidFill>
              </a:rPr>
              <a:t>Sources: OPTN-style volume workbook, SRTR PSR Jan 2026, Rolling SRTR Apr 2026, project analysis files.</a:t>
            </a:r>
            <a:endParaRPr lang="en-US" sz="660" dirty="0"/>
          </a:p>
        </p:txBody>
      </p:sp>
      <p:sp>
        <p:nvSpPr>
          <p:cNvPr id="8" name="Text 6"/>
          <p:cNvSpPr/>
          <p:nvPr/>
        </p:nvSpPr>
        <p:spPr>
          <a:xfrm>
            <a:off x="11564147" y="6637708"/>
            <a:ext cx="274249" cy="137124"/>
          </a:xfrm>
          <a:prstGeom prst="rect">
            <a:avLst/>
          </a:prstGeom>
          <a:noFill/>
          <a:ln/>
        </p:spPr>
        <p:txBody>
          <a:bodyPr wrap="square" lIns="0" tIns="0" rIns="0" bIns="0" rtlCol="0" anchor="ctr"/>
          <a:lstStyle/>
          <a:p>
            <a:pPr algn="r"/>
            <a:r>
              <a:rPr lang="en-US" sz="680" dirty="0">
                <a:solidFill>
                  <a:srgbClr val="FFFFFF"/>
                </a:solidFill>
              </a:rPr>
              <a:t>8</a:t>
            </a:r>
            <a:endParaRPr lang="en-US" sz="680" dirty="0"/>
          </a:p>
        </p:txBody>
      </p:sp>
      <p:graphicFrame>
        <p:nvGraphicFramePr>
          <p:cNvPr id="9" name="Chart 0"/>
          <p:cNvGraphicFramePr/>
          <p:nvPr/>
        </p:nvGraphicFramePr>
        <p:xfrm>
          <a:off x="594205" y="915055"/>
          <a:ext cx="6673382" cy="4387977"/>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8090332" y="1006471"/>
            <a:ext cx="2833902" cy="868454"/>
          </a:xfrm>
          <a:prstGeom prst="rect">
            <a:avLst/>
          </a:prstGeom>
          <a:solidFill>
            <a:srgbClr val="F3F6F8"/>
          </a:solidFill>
          <a:ln>
            <a:solidFill>
              <a:srgbClr val="D8E0E8">
                <a:alpha val="90000"/>
              </a:srgbClr>
            </a:solidFill>
          </a:ln>
        </p:spPr>
        <p:txBody>
          <a:bodyPr wrap="square" lIns="508" tIns="508" rIns="508" bIns="508" rtlCol="0" anchor="ctr">
            <a:normAutofit/>
          </a:bodyPr>
          <a:lstStyle/>
          <a:p>
            <a:pPr algn="ctr"/>
            <a:r>
              <a:rPr lang="en-US" sz="2399" b="1" dirty="0">
                <a:solidFill>
                  <a:srgbClr val="0F766E"/>
                </a:solidFill>
                <a:latin typeface="Aptos" pitchFamily="34" charset="0"/>
                <a:ea typeface="Aptos" pitchFamily="34" charset="-122"/>
                <a:cs typeface="Aptos" pitchFamily="34" charset="-120"/>
              </a:rPr>
              <a:t>36.6%</a:t>
            </a:r>
            <a:endParaRPr lang="en-US" sz="1799" dirty="0"/>
          </a:p>
        </p:txBody>
      </p:sp>
      <p:sp>
        <p:nvSpPr>
          <p:cNvPr id="11" name="Text 8"/>
          <p:cNvSpPr/>
          <p:nvPr/>
        </p:nvSpPr>
        <p:spPr>
          <a:xfrm>
            <a:off x="8136040" y="1070462"/>
            <a:ext cx="2742486" cy="146266"/>
          </a:xfrm>
          <a:prstGeom prst="rect">
            <a:avLst/>
          </a:prstGeom>
          <a:noFill/>
          <a:ln/>
        </p:spPr>
        <p:txBody>
          <a:bodyPr wrap="square" lIns="0" tIns="0" rIns="0" bIns="0" rtlCol="0" anchor="ctr">
            <a:normAutofit/>
          </a:bodyPr>
          <a:lstStyle/>
          <a:p>
            <a:pPr algn="ctr"/>
            <a:r>
              <a:rPr lang="en-US" sz="750" dirty="0">
                <a:solidFill>
                  <a:srgbClr val="5D6D7E"/>
                </a:solidFill>
              </a:rPr>
              <a:t>Top 10 share of 2025 national volume</a:t>
            </a:r>
            <a:endParaRPr lang="en-US" sz="750" dirty="0"/>
          </a:p>
        </p:txBody>
      </p:sp>
      <p:sp>
        <p:nvSpPr>
          <p:cNvPr id="12" name="Text 9"/>
          <p:cNvSpPr/>
          <p:nvPr/>
        </p:nvSpPr>
        <p:spPr>
          <a:xfrm>
            <a:off x="8090332" y="2313723"/>
            <a:ext cx="1325535" cy="914162"/>
          </a:xfrm>
          <a:prstGeom prst="rect">
            <a:avLst/>
          </a:prstGeom>
          <a:solidFill>
            <a:srgbClr val="F3F6F8"/>
          </a:solidFill>
          <a:ln>
            <a:solidFill>
              <a:srgbClr val="D8E0E8">
                <a:alpha val="90000"/>
              </a:srgbClr>
            </a:solidFill>
          </a:ln>
        </p:spPr>
        <p:txBody>
          <a:bodyPr wrap="square" lIns="508" tIns="508" rIns="508" bIns="508" rtlCol="0" anchor="ctr">
            <a:normAutofit/>
          </a:bodyPr>
          <a:lstStyle/>
          <a:p>
            <a:pPr algn="ctr"/>
            <a:r>
              <a:rPr lang="en-US" sz="2399" b="1" dirty="0">
                <a:solidFill>
                  <a:srgbClr val="2F5597"/>
                </a:solidFill>
                <a:latin typeface="Aptos" pitchFamily="34" charset="0"/>
                <a:ea typeface="Aptos" pitchFamily="34" charset="-122"/>
                <a:cs typeface="Aptos" pitchFamily="34" charset="-120"/>
              </a:rPr>
              <a:t>Temple</a:t>
            </a:r>
            <a:endParaRPr lang="en-US" sz="1799" dirty="0"/>
          </a:p>
          <a:p>
            <a:pPr algn="ctr"/>
            <a:r>
              <a:rPr lang="en-US" sz="2399" b="1" dirty="0">
                <a:solidFill>
                  <a:srgbClr val="2F5597"/>
                </a:solidFill>
                <a:latin typeface="Aptos" pitchFamily="34" charset="0"/>
                <a:ea typeface="Aptos" pitchFamily="34" charset="-122"/>
                <a:cs typeface="Aptos" pitchFamily="34" charset="-120"/>
              </a:rPr>
              <a:t>178</a:t>
            </a:r>
            <a:endParaRPr lang="en-US" sz="1799" dirty="0"/>
          </a:p>
          <a:p>
            <a:pPr algn="ctr"/>
            <a:endParaRPr lang="en-US" sz="1799" dirty="0"/>
          </a:p>
        </p:txBody>
      </p:sp>
      <p:sp>
        <p:nvSpPr>
          <p:cNvPr id="13" name="Text 10"/>
          <p:cNvSpPr/>
          <p:nvPr/>
        </p:nvSpPr>
        <p:spPr>
          <a:xfrm>
            <a:off x="8090332" y="1996400"/>
            <a:ext cx="1234119" cy="146266"/>
          </a:xfrm>
          <a:prstGeom prst="rect">
            <a:avLst/>
          </a:prstGeom>
          <a:noFill/>
          <a:ln/>
        </p:spPr>
        <p:txBody>
          <a:bodyPr wrap="square" lIns="0" tIns="0" rIns="0" bIns="0" rtlCol="0" anchor="ctr">
            <a:noAutofit/>
          </a:bodyPr>
          <a:lstStyle/>
          <a:p>
            <a:pPr algn="ctr"/>
            <a:r>
              <a:rPr lang="en-US" sz="1200" dirty="0">
                <a:solidFill>
                  <a:srgbClr val="5D6D7E"/>
                </a:solidFill>
              </a:rPr>
              <a:t>Largest center</a:t>
            </a:r>
            <a:endParaRPr lang="en-US" sz="1200" dirty="0"/>
          </a:p>
        </p:txBody>
      </p:sp>
      <p:sp>
        <p:nvSpPr>
          <p:cNvPr id="14" name="Text 11"/>
          <p:cNvSpPr/>
          <p:nvPr/>
        </p:nvSpPr>
        <p:spPr>
          <a:xfrm>
            <a:off x="9598699" y="2343792"/>
            <a:ext cx="1325535" cy="914162"/>
          </a:xfrm>
          <a:prstGeom prst="rect">
            <a:avLst/>
          </a:prstGeom>
          <a:solidFill>
            <a:srgbClr val="F3F6F8"/>
          </a:solidFill>
          <a:ln>
            <a:solidFill>
              <a:srgbClr val="D8E0E8">
                <a:alpha val="90000"/>
              </a:srgbClr>
            </a:solidFill>
          </a:ln>
        </p:spPr>
        <p:txBody>
          <a:bodyPr wrap="square" lIns="508" tIns="508" rIns="508" bIns="508" rtlCol="0" anchor="ctr">
            <a:normAutofit/>
          </a:bodyPr>
          <a:lstStyle/>
          <a:p>
            <a:pPr algn="ctr"/>
            <a:r>
              <a:rPr lang="en-US" sz="2399" b="1" dirty="0">
                <a:solidFill>
                  <a:srgbClr val="198754"/>
                </a:solidFill>
                <a:latin typeface="Aptos" pitchFamily="34" charset="0"/>
                <a:ea typeface="Aptos" pitchFamily="34" charset="-122"/>
                <a:cs typeface="Aptos" pitchFamily="34" charset="-120"/>
              </a:rPr>
              <a:t>470</a:t>
            </a:r>
            <a:endParaRPr lang="en-US" sz="1799" dirty="0"/>
          </a:p>
        </p:txBody>
      </p:sp>
      <p:sp>
        <p:nvSpPr>
          <p:cNvPr id="15" name="Text 12"/>
          <p:cNvSpPr/>
          <p:nvPr/>
        </p:nvSpPr>
        <p:spPr>
          <a:xfrm>
            <a:off x="9644407" y="1996399"/>
            <a:ext cx="1325535" cy="274259"/>
          </a:xfrm>
          <a:prstGeom prst="rect">
            <a:avLst/>
          </a:prstGeom>
          <a:noFill/>
          <a:ln/>
        </p:spPr>
        <p:txBody>
          <a:bodyPr wrap="square" lIns="0" tIns="0" rIns="0" bIns="0" rtlCol="0" anchor="ctr">
            <a:noAutofit/>
          </a:bodyPr>
          <a:lstStyle/>
          <a:p>
            <a:pPr algn="ctr"/>
            <a:r>
              <a:rPr lang="en-US" sz="1200" dirty="0">
                <a:solidFill>
                  <a:srgbClr val="5D6D7E"/>
                </a:solidFill>
              </a:rPr>
              <a:t>Top three combined</a:t>
            </a:r>
            <a:endParaRPr lang="en-US" sz="1200" dirty="0"/>
          </a:p>
        </p:txBody>
      </p:sp>
      <p:sp>
        <p:nvSpPr>
          <p:cNvPr id="16" name="Text 13"/>
          <p:cNvSpPr/>
          <p:nvPr/>
        </p:nvSpPr>
        <p:spPr>
          <a:xfrm>
            <a:off x="7816083" y="3429000"/>
            <a:ext cx="3656648" cy="1371243"/>
          </a:xfrm>
          <a:prstGeom prst="rect">
            <a:avLst/>
          </a:prstGeom>
          <a:noFill/>
          <a:ln/>
        </p:spPr>
        <p:txBody>
          <a:bodyPr wrap="square" lIns="635" tIns="635" rIns="635" bIns="635" rtlCol="0" anchor="ctr">
            <a:normAutofit/>
          </a:bodyPr>
          <a:lstStyle/>
          <a:p>
            <a:r>
              <a:rPr lang="en-US" sz="1250" dirty="0">
                <a:solidFill>
                  <a:srgbClr val="263238"/>
                </a:solidFill>
                <a:latin typeface="Aptos" pitchFamily="34" charset="0"/>
                <a:ea typeface="Aptos" pitchFamily="34" charset="-122"/>
                <a:cs typeface="Aptos" pitchFamily="34" charset="-120"/>
              </a:rPr>
              <a:t>Market is not monopolistic, but center-specific capability matters.</a:t>
            </a:r>
            <a:endParaRPr lang="en-US" sz="1250" dirty="0"/>
          </a:p>
          <a:p>
            <a:r>
              <a:rPr lang="en-US" sz="1250" dirty="0">
                <a:solidFill>
                  <a:srgbClr val="263238"/>
                </a:solidFill>
                <a:latin typeface="Aptos" pitchFamily="34" charset="0"/>
                <a:ea typeface="Aptos" pitchFamily="34" charset="-122"/>
                <a:cs typeface="Aptos" pitchFamily="34" charset="-120"/>
              </a:rPr>
              <a:t>Leaders combine referral depth, high-acuity candidate management, donor acceptance, and surgical throughput.</a:t>
            </a:r>
            <a:endParaRPr lang="en-US" sz="1250" dirty="0"/>
          </a:p>
          <a:p>
            <a:r>
              <a:rPr lang="en-US" sz="1250" dirty="0">
                <a:solidFill>
                  <a:srgbClr val="263238"/>
                </a:solidFill>
                <a:latin typeface="Aptos" pitchFamily="34" charset="0"/>
                <a:ea typeface="Aptos" pitchFamily="34" charset="-122"/>
                <a:cs typeface="Aptos" pitchFamily="34" charset="-120"/>
              </a:rPr>
              <a:t>ALUA competes in a system where the benchmark is no longer only local geography.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Policy Era Comparison &amp; Equity Impact</a:t>
            </a:r>
          </a:p>
        </p:txBody>
      </p:sp>
      <p:sp>
        <p:nvSpPr>
          <p:cNvPr id="4" name="TextBox 3"/>
          <p:cNvSpPr txBox="1"/>
          <p:nvPr/>
        </p:nvSpPr>
        <p:spPr>
          <a:xfrm>
            <a:off x="228600" y="310896"/>
            <a:ext cx="11430000" cy="274320"/>
          </a:xfrm>
          <a:prstGeom prst="rect">
            <a:avLst/>
          </a:prstGeom>
          <a:noFill/>
        </p:spPr>
        <p:txBody>
          <a:bodyPr wrap="square">
            <a:spAutoFit/>
          </a:bodyPr>
          <a:lstStyle/>
          <a:p>
            <a:pPr algn="l"/>
            <a:r>
              <a:rPr sz="950" b="0" i="0">
                <a:solidFill>
                  <a:srgbClr val="C8DEF5"/>
                </a:solidFill>
              </a:rPr>
              <a:t>DSA Removal (Nov 2017) · CAS Implementation (Mar 2023)</a:t>
            </a:r>
          </a:p>
        </p:txBody>
      </p:sp>
      <p:pic>
        <p:nvPicPr>
          <p:cNvPr id="5" name="Picture 4" descr="era_comparison.png"/>
          <p:cNvPicPr>
            <a:picLocks noChangeAspect="1"/>
          </p:cNvPicPr>
          <p:nvPr/>
        </p:nvPicPr>
        <p:blipFill>
          <a:blip r:embed="rId3"/>
          <a:stretch>
            <a:fillRect/>
          </a:stretch>
        </p:blipFill>
        <p:spPr>
          <a:xfrm>
            <a:off x="137160" y="566928"/>
            <a:ext cx="6035040" cy="3127248"/>
          </a:xfrm>
          <a:prstGeom prst="rect">
            <a:avLst/>
          </a:prstGeom>
        </p:spPr>
      </p:pic>
      <p:pic>
        <p:nvPicPr>
          <p:cNvPr id="6" name="Picture 5" descr="equity_metrics.png"/>
          <p:cNvPicPr>
            <a:picLocks noChangeAspect="1"/>
          </p:cNvPicPr>
          <p:nvPr/>
        </p:nvPicPr>
        <p:blipFill>
          <a:blip r:embed="rId4"/>
          <a:stretch>
            <a:fillRect/>
          </a:stretch>
        </p:blipFill>
        <p:spPr>
          <a:xfrm>
            <a:off x="6309360" y="566928"/>
            <a:ext cx="5760720" cy="3127248"/>
          </a:xfrm>
          <a:prstGeom prst="rect">
            <a:avLst/>
          </a:prstGeom>
        </p:spPr>
      </p:pic>
      <p:sp>
        <p:nvSpPr>
          <p:cNvPr id="7" name="Rectangle 6"/>
          <p:cNvSpPr/>
          <p:nvPr/>
        </p:nvSpPr>
        <p:spPr>
          <a:xfrm>
            <a:off x="137160" y="3767328"/>
            <a:ext cx="11887200" cy="26060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3840480"/>
            <a:ext cx="11430000" cy="347472"/>
          </a:xfrm>
          <a:prstGeom prst="rect">
            <a:avLst/>
          </a:prstGeom>
          <a:noFill/>
        </p:spPr>
        <p:txBody>
          <a:bodyPr wrap="square">
            <a:spAutoFit/>
          </a:bodyPr>
          <a:lstStyle/>
          <a:p>
            <a:pPr algn="l"/>
            <a:r>
              <a:rPr sz="1100" b="1" i="0">
                <a:solidFill>
                  <a:srgbClr val="1E3A5F"/>
                </a:solidFill>
              </a:rPr>
              <a:t>Key Policy Findings</a:t>
            </a:r>
          </a:p>
        </p:txBody>
      </p:sp>
      <p:sp>
        <p:nvSpPr>
          <p:cNvPr id="9" name="TextBox 8"/>
          <p:cNvSpPr txBox="1"/>
          <p:nvPr/>
        </p:nvSpPr>
        <p:spPr>
          <a:xfrm>
            <a:off x="274320" y="4206240"/>
            <a:ext cx="11704320" cy="2103120"/>
          </a:xfrm>
          <a:prstGeom prst="rect">
            <a:avLst/>
          </a:prstGeom>
          <a:noFill/>
        </p:spPr>
        <p:txBody>
          <a:bodyPr wrap="square">
            <a:spAutoFit/>
          </a:bodyPr>
          <a:lstStyle/>
          <a:p>
            <a:pPr algn="l">
              <a:spcBef>
                <a:spcPts val="300"/>
              </a:spcBef>
            </a:pPr>
            <a:r>
              <a:rPr sz="1050" b="0" dirty="0">
                <a:solidFill>
                  <a:srgbClr val="2D3A4A"/>
                </a:solidFill>
              </a:rPr>
              <a:t>▸  DSA removal: median waitlist time fell 9 days; transplant rate rose nationally; LOS increased 2 days (transport distance)</a:t>
            </a:r>
          </a:p>
          <a:p>
            <a:pPr algn="l">
              <a:spcBef>
                <a:spcPts val="300"/>
              </a:spcBef>
            </a:pPr>
            <a:r>
              <a:rPr sz="1050" b="1" dirty="0">
                <a:solidFill>
                  <a:srgbClr val="2D3A4A"/>
                </a:solidFill>
              </a:rPr>
              <a:t>▸  CAS (Mar 2023): acuity-first composite scoring. Waitlist mortality: 11.2% → 8.4% → 4.1%. Largest YoY volume jump on record.</a:t>
            </a:r>
          </a:p>
          <a:p>
            <a:pPr algn="l">
              <a:spcBef>
                <a:spcPts val="300"/>
              </a:spcBef>
            </a:pPr>
            <a:r>
              <a:rPr sz="1050" b="0" dirty="0">
                <a:solidFill>
                  <a:srgbClr val="2D3A4A"/>
                </a:solidFill>
              </a:rPr>
              <a:t>▸  Gini: 0.384→0.364→0.340. CV: 71.9%→61.4%. Centers ≥33/yr: 23→28→35. System measurably more equitable under CAS.</a:t>
            </a:r>
          </a:p>
          <a:p>
            <a:pPr algn="l">
              <a:spcBef>
                <a:spcPts val="300"/>
              </a:spcBef>
            </a:pPr>
            <a:r>
              <a:rPr sz="1050" b="0" dirty="0">
                <a:solidFill>
                  <a:srgbClr val="2D3A4A"/>
                </a:solidFill>
              </a:rPr>
              <a:t>▸  Both reforms market-expanding: only 4 of 51 centers declined under BOTH policies (the Double Losers).</a:t>
            </a:r>
          </a:p>
        </p:txBody>
      </p:sp>
      <p:sp>
        <p:nvSpPr>
          <p:cNvPr id="10" name="Rectangle 9"/>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Policy Era Analysis</a:t>
            </a:r>
          </a:p>
        </p:txBody>
      </p:sp>
      <p:sp>
        <p:nvSpPr>
          <p:cNvPr id="12" name="TextBox 11"/>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3</a:t>
            </a:r>
          </a:p>
        </p:txBody>
      </p:sp>
    </p:spTree>
    <p:extLst>
      <p:ext uri="{BB962C8B-B14F-4D97-AF65-F5344CB8AC3E}">
        <p14:creationId xmlns:p14="http://schemas.microsoft.com/office/powerpoint/2010/main" val="1016240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Policy Quadrant — All 51 Centers</a:t>
            </a:r>
          </a:p>
        </p:txBody>
      </p:sp>
      <p:sp>
        <p:nvSpPr>
          <p:cNvPr id="4" name="TextBox 3"/>
          <p:cNvSpPr txBox="1"/>
          <p:nvPr/>
        </p:nvSpPr>
        <p:spPr>
          <a:xfrm>
            <a:off x="228600" y="294811"/>
            <a:ext cx="11430000" cy="274320"/>
          </a:xfrm>
          <a:prstGeom prst="rect">
            <a:avLst/>
          </a:prstGeom>
          <a:noFill/>
        </p:spPr>
        <p:txBody>
          <a:bodyPr wrap="square">
            <a:spAutoFit/>
          </a:bodyPr>
          <a:lstStyle/>
          <a:p>
            <a:pPr algn="l"/>
            <a:r>
              <a:rPr sz="950" b="0" i="0" dirty="0">
                <a:solidFill>
                  <a:srgbClr val="C8DEF5"/>
                </a:solidFill>
              </a:rPr>
              <a:t>Which programs won or lost under each allocation reform?</a:t>
            </a:r>
          </a:p>
        </p:txBody>
      </p:sp>
      <p:pic>
        <p:nvPicPr>
          <p:cNvPr id="5" name="Picture 4" descr="policy_quadrant.png"/>
          <p:cNvPicPr>
            <a:picLocks noChangeAspect="1"/>
          </p:cNvPicPr>
          <p:nvPr/>
        </p:nvPicPr>
        <p:blipFill>
          <a:blip r:embed="rId3"/>
          <a:stretch>
            <a:fillRect/>
          </a:stretch>
        </p:blipFill>
        <p:spPr>
          <a:xfrm>
            <a:off x="137160" y="566928"/>
            <a:ext cx="7269480" cy="4645152"/>
          </a:xfrm>
          <a:prstGeom prst="rect">
            <a:avLst/>
          </a:prstGeom>
        </p:spPr>
      </p:pic>
      <p:sp>
        <p:nvSpPr>
          <p:cNvPr id="6" name="Rectangle 5"/>
          <p:cNvSpPr/>
          <p:nvPr/>
        </p:nvSpPr>
        <p:spPr>
          <a:xfrm>
            <a:off x="7589520" y="594360"/>
            <a:ext cx="4434840" cy="13075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54112" y="658368"/>
            <a:ext cx="4206240" cy="384048"/>
          </a:xfrm>
          <a:prstGeom prst="rect">
            <a:avLst/>
          </a:prstGeom>
          <a:noFill/>
        </p:spPr>
        <p:txBody>
          <a:bodyPr wrap="square">
            <a:spAutoFit/>
          </a:bodyPr>
          <a:lstStyle/>
          <a:p>
            <a:pPr algn="l"/>
            <a:r>
              <a:rPr sz="1000" b="1" i="0">
                <a:solidFill>
                  <a:srgbClr val="FFFFFF"/>
                </a:solidFill>
              </a:rPr>
              <a:t>Double Winner (20)</a:t>
            </a:r>
          </a:p>
        </p:txBody>
      </p:sp>
      <p:sp>
        <p:nvSpPr>
          <p:cNvPr id="8" name="TextBox 7"/>
          <p:cNvSpPr txBox="1"/>
          <p:nvPr/>
        </p:nvSpPr>
        <p:spPr>
          <a:xfrm>
            <a:off x="7754112" y="1005840"/>
            <a:ext cx="4206240" cy="841248"/>
          </a:xfrm>
          <a:prstGeom prst="rect">
            <a:avLst/>
          </a:prstGeom>
          <a:noFill/>
        </p:spPr>
        <p:txBody>
          <a:bodyPr wrap="square">
            <a:spAutoFit/>
          </a:bodyPr>
          <a:lstStyle/>
          <a:p>
            <a:pPr algn="l"/>
            <a:r>
              <a:rPr sz="950" b="0" i="0">
                <a:solidFill>
                  <a:srgbClr val="FFFFFF"/>
                </a:solidFill>
              </a:rPr>
              <a:t>Benefited from both reforms
Ex: Vanderbilt +384%, Cedars-Sinai +461%</a:t>
            </a:r>
          </a:p>
        </p:txBody>
      </p:sp>
      <p:sp>
        <p:nvSpPr>
          <p:cNvPr id="9" name="Rectangle 8"/>
          <p:cNvSpPr/>
          <p:nvPr/>
        </p:nvSpPr>
        <p:spPr>
          <a:xfrm>
            <a:off x="7589520" y="1993392"/>
            <a:ext cx="4434840" cy="1307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54112" y="2057400"/>
            <a:ext cx="4206240" cy="384048"/>
          </a:xfrm>
          <a:prstGeom prst="rect">
            <a:avLst/>
          </a:prstGeom>
          <a:noFill/>
        </p:spPr>
        <p:txBody>
          <a:bodyPr wrap="square">
            <a:spAutoFit/>
          </a:bodyPr>
          <a:lstStyle/>
          <a:p>
            <a:pPr algn="l"/>
            <a:r>
              <a:rPr sz="1000" b="1" i="0">
                <a:solidFill>
                  <a:srgbClr val="FFFFFF"/>
                </a:solidFill>
              </a:rPr>
              <a:t>DSA Win / CAS Loss (16)</a:t>
            </a:r>
          </a:p>
        </p:txBody>
      </p:sp>
      <p:sp>
        <p:nvSpPr>
          <p:cNvPr id="11" name="TextBox 10"/>
          <p:cNvSpPr txBox="1"/>
          <p:nvPr/>
        </p:nvSpPr>
        <p:spPr>
          <a:xfrm>
            <a:off x="7754112" y="2404872"/>
            <a:ext cx="4206240" cy="841248"/>
          </a:xfrm>
          <a:prstGeom prst="rect">
            <a:avLst/>
          </a:prstGeom>
          <a:noFill/>
        </p:spPr>
        <p:txBody>
          <a:bodyPr wrap="square">
            <a:spAutoFit/>
          </a:bodyPr>
          <a:lstStyle/>
          <a:p>
            <a:pPr algn="l"/>
            <a:r>
              <a:rPr sz="950" b="0" i="0">
                <a:solidFill>
                  <a:srgbClr val="FFFFFF"/>
                </a:solidFill>
              </a:rPr>
              <a:t>Geographic expansion; lost on acuity
Ex: Duke −11% net, Pittsburgh −14%</a:t>
            </a:r>
          </a:p>
        </p:txBody>
      </p:sp>
      <p:sp>
        <p:nvSpPr>
          <p:cNvPr id="12" name="Rectangle 11"/>
          <p:cNvSpPr/>
          <p:nvPr/>
        </p:nvSpPr>
        <p:spPr>
          <a:xfrm>
            <a:off x="7589520" y="3392424"/>
            <a:ext cx="4434840" cy="1307592"/>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54112" y="3456432"/>
            <a:ext cx="4206240" cy="384048"/>
          </a:xfrm>
          <a:prstGeom prst="rect">
            <a:avLst/>
          </a:prstGeom>
          <a:noFill/>
        </p:spPr>
        <p:txBody>
          <a:bodyPr wrap="square">
            <a:spAutoFit/>
          </a:bodyPr>
          <a:lstStyle/>
          <a:p>
            <a:pPr algn="l"/>
            <a:r>
              <a:rPr sz="1000" b="1" i="0">
                <a:solidFill>
                  <a:srgbClr val="FFFFFF"/>
                </a:solidFill>
              </a:rPr>
              <a:t>DSA Loss / CAS Win (11)</a:t>
            </a:r>
          </a:p>
        </p:txBody>
      </p:sp>
      <p:sp>
        <p:nvSpPr>
          <p:cNvPr id="14" name="TextBox 13"/>
          <p:cNvSpPr txBox="1"/>
          <p:nvPr/>
        </p:nvSpPr>
        <p:spPr>
          <a:xfrm>
            <a:off x="7754112" y="3803904"/>
            <a:ext cx="4206240" cy="841248"/>
          </a:xfrm>
          <a:prstGeom prst="rect">
            <a:avLst/>
          </a:prstGeom>
          <a:noFill/>
        </p:spPr>
        <p:txBody>
          <a:bodyPr wrap="square">
            <a:spAutoFit/>
          </a:bodyPr>
          <a:lstStyle/>
          <a:p>
            <a:pPr algn="l"/>
            <a:r>
              <a:rPr sz="950" b="0" i="0">
                <a:solidFill>
                  <a:srgbClr val="FFFFFF"/>
                </a:solidFill>
              </a:rPr>
              <a:t>Recovered under acuity scoring
Ex: Mayo MN +509%, Utah +125%</a:t>
            </a:r>
          </a:p>
        </p:txBody>
      </p:sp>
      <p:sp>
        <p:nvSpPr>
          <p:cNvPr id="15" name="Rectangle 14"/>
          <p:cNvSpPr/>
          <p:nvPr/>
        </p:nvSpPr>
        <p:spPr>
          <a:xfrm>
            <a:off x="7589520" y="4791456"/>
            <a:ext cx="4434840" cy="1307592"/>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54112" y="4855464"/>
            <a:ext cx="4206240" cy="384048"/>
          </a:xfrm>
          <a:prstGeom prst="rect">
            <a:avLst/>
          </a:prstGeom>
          <a:noFill/>
        </p:spPr>
        <p:txBody>
          <a:bodyPr wrap="square">
            <a:spAutoFit/>
          </a:bodyPr>
          <a:lstStyle/>
          <a:p>
            <a:pPr algn="l"/>
            <a:r>
              <a:rPr sz="1000" b="1" i="0">
                <a:solidFill>
                  <a:srgbClr val="FFFFFF"/>
                </a:solidFill>
              </a:rPr>
              <a:t>Double Loser (4)</a:t>
            </a:r>
          </a:p>
        </p:txBody>
      </p:sp>
      <p:sp>
        <p:nvSpPr>
          <p:cNvPr id="17" name="TextBox 16"/>
          <p:cNvSpPr txBox="1"/>
          <p:nvPr/>
        </p:nvSpPr>
        <p:spPr>
          <a:xfrm>
            <a:off x="7754112" y="5202936"/>
            <a:ext cx="4206240" cy="841248"/>
          </a:xfrm>
          <a:prstGeom prst="rect">
            <a:avLst/>
          </a:prstGeom>
          <a:noFill/>
        </p:spPr>
        <p:txBody>
          <a:bodyPr wrap="square">
            <a:spAutoFit/>
          </a:bodyPr>
          <a:lstStyle/>
          <a:p>
            <a:pPr algn="l"/>
            <a:r>
              <a:rPr sz="950" b="0" i="0">
                <a:solidFill>
                  <a:srgbClr val="FFFFFF"/>
                </a:solidFill>
              </a:rPr>
              <a:t>Both reforms hurt — structural risk
Ex: Ochsner −69%, Penn −31%</a:t>
            </a:r>
          </a:p>
        </p:txBody>
      </p:sp>
      <p:sp>
        <p:nvSpPr>
          <p:cNvPr id="18" name="Rectangle 17"/>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Policy Quadrant Analysis</a:t>
            </a:r>
          </a:p>
        </p:txBody>
      </p:sp>
      <p:sp>
        <p:nvSpPr>
          <p:cNvPr id="20" name="TextBox 19"/>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4</a:t>
            </a:r>
          </a:p>
        </p:txBody>
      </p:sp>
    </p:spTree>
    <p:extLst>
      <p:ext uri="{BB962C8B-B14F-4D97-AF65-F5344CB8AC3E}">
        <p14:creationId xmlns:p14="http://schemas.microsoft.com/office/powerpoint/2010/main" val="1910115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Top Centers &amp; Double Loser Profile</a:t>
            </a:r>
          </a:p>
        </p:txBody>
      </p:sp>
      <p:sp>
        <p:nvSpPr>
          <p:cNvPr id="4" name="Rectangle 3"/>
          <p:cNvSpPr/>
          <p:nvPr/>
        </p:nvSpPr>
        <p:spPr>
          <a:xfrm>
            <a:off x="182880" y="566928"/>
            <a:ext cx="5486400"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612648"/>
            <a:ext cx="868680" cy="274320"/>
          </a:xfrm>
          <a:prstGeom prst="rect">
            <a:avLst/>
          </a:prstGeom>
          <a:noFill/>
        </p:spPr>
        <p:txBody>
          <a:bodyPr wrap="square">
            <a:spAutoFit/>
          </a:bodyPr>
          <a:lstStyle/>
          <a:p>
            <a:pPr algn="l"/>
            <a:r>
              <a:rPr sz="850" b="1" i="0">
                <a:solidFill>
                  <a:srgbClr val="FFFFFF"/>
                </a:solidFill>
              </a:rPr>
              <a:t>Center</a:t>
            </a:r>
          </a:p>
        </p:txBody>
      </p:sp>
      <p:sp>
        <p:nvSpPr>
          <p:cNvPr id="6" name="TextBox 5"/>
          <p:cNvSpPr txBox="1"/>
          <p:nvPr/>
        </p:nvSpPr>
        <p:spPr>
          <a:xfrm>
            <a:off x="3017520" y="612648"/>
            <a:ext cx="868680" cy="274320"/>
          </a:xfrm>
          <a:prstGeom prst="rect">
            <a:avLst/>
          </a:prstGeom>
          <a:noFill/>
        </p:spPr>
        <p:txBody>
          <a:bodyPr wrap="square">
            <a:spAutoFit/>
          </a:bodyPr>
          <a:lstStyle/>
          <a:p>
            <a:pPr algn="ctr"/>
            <a:r>
              <a:rPr sz="850" b="1" i="0">
                <a:solidFill>
                  <a:srgbClr val="FFFFFF"/>
                </a:solidFill>
              </a:rPr>
              <a:t>2025 Vol</a:t>
            </a:r>
          </a:p>
        </p:txBody>
      </p:sp>
      <p:sp>
        <p:nvSpPr>
          <p:cNvPr id="7" name="TextBox 6"/>
          <p:cNvSpPr txBox="1"/>
          <p:nvPr/>
        </p:nvSpPr>
        <p:spPr>
          <a:xfrm>
            <a:off x="3950208" y="612648"/>
            <a:ext cx="868680" cy="274320"/>
          </a:xfrm>
          <a:prstGeom prst="rect">
            <a:avLst/>
          </a:prstGeom>
          <a:noFill/>
        </p:spPr>
        <p:txBody>
          <a:bodyPr wrap="square">
            <a:spAutoFit/>
          </a:bodyPr>
          <a:lstStyle/>
          <a:p>
            <a:pPr algn="ctr"/>
            <a:r>
              <a:rPr sz="850" b="1" i="0">
                <a:solidFill>
                  <a:srgbClr val="FFFFFF"/>
                </a:solidFill>
              </a:rPr>
              <a:t>CAS Avg</a:t>
            </a:r>
          </a:p>
        </p:txBody>
      </p:sp>
      <p:sp>
        <p:nvSpPr>
          <p:cNvPr id="8" name="TextBox 7"/>
          <p:cNvSpPr txBox="1"/>
          <p:nvPr/>
        </p:nvSpPr>
        <p:spPr>
          <a:xfrm>
            <a:off x="4892040" y="612648"/>
            <a:ext cx="868680" cy="274320"/>
          </a:xfrm>
          <a:prstGeom prst="rect">
            <a:avLst/>
          </a:prstGeom>
          <a:noFill/>
        </p:spPr>
        <p:txBody>
          <a:bodyPr wrap="square">
            <a:spAutoFit/>
          </a:bodyPr>
          <a:lstStyle/>
          <a:p>
            <a:pPr algn="ctr"/>
            <a:r>
              <a:rPr sz="850" b="1" i="0">
                <a:solidFill>
                  <a:srgbClr val="FFFFFF"/>
                </a:solidFill>
              </a:rPr>
              <a:t>Net Δ</a:t>
            </a:r>
          </a:p>
        </p:txBody>
      </p:sp>
      <p:sp>
        <p:nvSpPr>
          <p:cNvPr id="9" name="Rectangle 8"/>
          <p:cNvSpPr/>
          <p:nvPr/>
        </p:nvSpPr>
        <p:spPr>
          <a:xfrm>
            <a:off x="182880" y="932688"/>
            <a:ext cx="5486400" cy="3474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960120"/>
            <a:ext cx="2514600" cy="274320"/>
          </a:xfrm>
          <a:prstGeom prst="rect">
            <a:avLst/>
          </a:prstGeom>
          <a:noFill/>
        </p:spPr>
        <p:txBody>
          <a:bodyPr wrap="square">
            <a:spAutoFit/>
          </a:bodyPr>
          <a:lstStyle/>
          <a:p>
            <a:pPr algn="l"/>
            <a:r>
              <a:rPr sz="850" b="0" i="0">
                <a:solidFill>
                  <a:srgbClr val="2D3A4A"/>
                </a:solidFill>
              </a:rPr>
              <a:t>Temple University</a:t>
            </a:r>
          </a:p>
        </p:txBody>
      </p:sp>
      <p:sp>
        <p:nvSpPr>
          <p:cNvPr id="11" name="TextBox 10"/>
          <p:cNvSpPr txBox="1"/>
          <p:nvPr/>
        </p:nvSpPr>
        <p:spPr>
          <a:xfrm>
            <a:off x="2999232" y="960120"/>
            <a:ext cx="713232" cy="274320"/>
          </a:xfrm>
          <a:prstGeom prst="rect">
            <a:avLst/>
          </a:prstGeom>
          <a:noFill/>
        </p:spPr>
        <p:txBody>
          <a:bodyPr wrap="square">
            <a:spAutoFit/>
          </a:bodyPr>
          <a:lstStyle/>
          <a:p>
            <a:pPr algn="ctr"/>
            <a:r>
              <a:rPr sz="900" b="1" i="0">
                <a:solidFill>
                  <a:srgbClr val="1E3A5F"/>
                </a:solidFill>
              </a:rPr>
              <a:t>178</a:t>
            </a:r>
          </a:p>
        </p:txBody>
      </p:sp>
      <p:sp>
        <p:nvSpPr>
          <p:cNvPr id="12" name="TextBox 11"/>
          <p:cNvSpPr txBox="1"/>
          <p:nvPr/>
        </p:nvSpPr>
        <p:spPr>
          <a:xfrm>
            <a:off x="3931920" y="960120"/>
            <a:ext cx="713232" cy="274320"/>
          </a:xfrm>
          <a:prstGeom prst="rect">
            <a:avLst/>
          </a:prstGeom>
          <a:noFill/>
        </p:spPr>
        <p:txBody>
          <a:bodyPr wrap="square">
            <a:spAutoFit/>
          </a:bodyPr>
          <a:lstStyle/>
          <a:p>
            <a:pPr algn="ctr"/>
            <a:r>
              <a:rPr sz="850" b="0" i="0">
                <a:solidFill>
                  <a:srgbClr val="6B7280"/>
                </a:solidFill>
              </a:rPr>
              <a:t>140</a:t>
            </a:r>
          </a:p>
        </p:txBody>
      </p:sp>
      <p:sp>
        <p:nvSpPr>
          <p:cNvPr id="13" name="TextBox 12"/>
          <p:cNvSpPr txBox="1"/>
          <p:nvPr/>
        </p:nvSpPr>
        <p:spPr>
          <a:xfrm>
            <a:off x="4846320" y="960120"/>
            <a:ext cx="713232" cy="274320"/>
          </a:xfrm>
          <a:prstGeom prst="rect">
            <a:avLst/>
          </a:prstGeom>
          <a:noFill/>
        </p:spPr>
        <p:txBody>
          <a:bodyPr wrap="square">
            <a:spAutoFit/>
          </a:bodyPr>
          <a:lstStyle/>
          <a:p>
            <a:pPr algn="ctr"/>
            <a:r>
              <a:rPr sz="900" b="1" i="0">
                <a:solidFill>
                  <a:srgbClr val="1A7A4A"/>
                </a:solidFill>
              </a:rPr>
              <a:t>+39%</a:t>
            </a:r>
          </a:p>
        </p:txBody>
      </p:sp>
      <p:sp>
        <p:nvSpPr>
          <p:cNvPr id="14" name="Rectangle 13"/>
          <p:cNvSpPr/>
          <p:nvPr/>
        </p:nvSpPr>
        <p:spPr>
          <a:xfrm>
            <a:off x="182880" y="1280160"/>
            <a:ext cx="54864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1307592"/>
            <a:ext cx="2514600" cy="274320"/>
          </a:xfrm>
          <a:prstGeom prst="rect">
            <a:avLst/>
          </a:prstGeom>
          <a:noFill/>
        </p:spPr>
        <p:txBody>
          <a:bodyPr wrap="square">
            <a:spAutoFit/>
          </a:bodyPr>
          <a:lstStyle/>
          <a:p>
            <a:pPr algn="l"/>
            <a:r>
              <a:rPr sz="850" b="0" i="0">
                <a:solidFill>
                  <a:srgbClr val="2D3A4A"/>
                </a:solidFill>
              </a:rPr>
              <a:t>Vanderbilt</a:t>
            </a:r>
          </a:p>
        </p:txBody>
      </p:sp>
      <p:sp>
        <p:nvSpPr>
          <p:cNvPr id="16" name="TextBox 15"/>
          <p:cNvSpPr txBox="1"/>
          <p:nvPr/>
        </p:nvSpPr>
        <p:spPr>
          <a:xfrm>
            <a:off x="2999232" y="1307592"/>
            <a:ext cx="713232" cy="274320"/>
          </a:xfrm>
          <a:prstGeom prst="rect">
            <a:avLst/>
          </a:prstGeom>
          <a:noFill/>
        </p:spPr>
        <p:txBody>
          <a:bodyPr wrap="square">
            <a:spAutoFit/>
          </a:bodyPr>
          <a:lstStyle/>
          <a:p>
            <a:pPr algn="ctr"/>
            <a:r>
              <a:rPr sz="900" b="1" i="0">
                <a:solidFill>
                  <a:srgbClr val="1E3A5F"/>
                </a:solidFill>
              </a:rPr>
              <a:t>149</a:t>
            </a:r>
          </a:p>
        </p:txBody>
      </p:sp>
      <p:sp>
        <p:nvSpPr>
          <p:cNvPr id="17" name="TextBox 16"/>
          <p:cNvSpPr txBox="1"/>
          <p:nvPr/>
        </p:nvSpPr>
        <p:spPr>
          <a:xfrm>
            <a:off x="3931920" y="1307592"/>
            <a:ext cx="713232" cy="274320"/>
          </a:xfrm>
          <a:prstGeom prst="rect">
            <a:avLst/>
          </a:prstGeom>
          <a:noFill/>
        </p:spPr>
        <p:txBody>
          <a:bodyPr wrap="square">
            <a:spAutoFit/>
          </a:bodyPr>
          <a:lstStyle/>
          <a:p>
            <a:pPr algn="ctr"/>
            <a:r>
              <a:rPr sz="850" b="0" i="0">
                <a:solidFill>
                  <a:srgbClr val="6B7280"/>
                </a:solidFill>
              </a:rPr>
              <a:t>113</a:t>
            </a:r>
          </a:p>
        </p:txBody>
      </p:sp>
      <p:sp>
        <p:nvSpPr>
          <p:cNvPr id="18" name="TextBox 17"/>
          <p:cNvSpPr txBox="1"/>
          <p:nvPr/>
        </p:nvSpPr>
        <p:spPr>
          <a:xfrm>
            <a:off x="4846320" y="1307592"/>
            <a:ext cx="713232" cy="274320"/>
          </a:xfrm>
          <a:prstGeom prst="rect">
            <a:avLst/>
          </a:prstGeom>
          <a:noFill/>
        </p:spPr>
        <p:txBody>
          <a:bodyPr wrap="square">
            <a:spAutoFit/>
          </a:bodyPr>
          <a:lstStyle/>
          <a:p>
            <a:pPr algn="ctr"/>
            <a:r>
              <a:rPr sz="900" b="1" i="0">
                <a:solidFill>
                  <a:srgbClr val="1A7A4A"/>
                </a:solidFill>
              </a:rPr>
              <a:t>+384%</a:t>
            </a:r>
          </a:p>
        </p:txBody>
      </p:sp>
      <p:sp>
        <p:nvSpPr>
          <p:cNvPr id="19" name="Rectangle 18"/>
          <p:cNvSpPr/>
          <p:nvPr/>
        </p:nvSpPr>
        <p:spPr>
          <a:xfrm>
            <a:off x="182880" y="1627632"/>
            <a:ext cx="5486400" cy="3474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4320" y="1655064"/>
            <a:ext cx="2514600" cy="274320"/>
          </a:xfrm>
          <a:prstGeom prst="rect">
            <a:avLst/>
          </a:prstGeom>
          <a:noFill/>
        </p:spPr>
        <p:txBody>
          <a:bodyPr wrap="square">
            <a:spAutoFit/>
          </a:bodyPr>
          <a:lstStyle/>
          <a:p>
            <a:pPr algn="l"/>
            <a:r>
              <a:rPr sz="850" b="0" i="0">
                <a:solidFill>
                  <a:srgbClr val="2D3A4A"/>
                </a:solidFill>
              </a:rPr>
              <a:t>Cleveland Clinic</a:t>
            </a:r>
          </a:p>
        </p:txBody>
      </p:sp>
      <p:sp>
        <p:nvSpPr>
          <p:cNvPr id="21" name="TextBox 20"/>
          <p:cNvSpPr txBox="1"/>
          <p:nvPr/>
        </p:nvSpPr>
        <p:spPr>
          <a:xfrm>
            <a:off x="2999232" y="1655064"/>
            <a:ext cx="713232" cy="274320"/>
          </a:xfrm>
          <a:prstGeom prst="rect">
            <a:avLst/>
          </a:prstGeom>
          <a:noFill/>
        </p:spPr>
        <p:txBody>
          <a:bodyPr wrap="square">
            <a:spAutoFit/>
          </a:bodyPr>
          <a:lstStyle/>
          <a:p>
            <a:pPr algn="ctr"/>
            <a:r>
              <a:rPr sz="900" b="1" i="0">
                <a:solidFill>
                  <a:srgbClr val="1E3A5F"/>
                </a:solidFill>
              </a:rPr>
              <a:t>143</a:t>
            </a:r>
          </a:p>
        </p:txBody>
      </p:sp>
      <p:sp>
        <p:nvSpPr>
          <p:cNvPr id="22" name="TextBox 21"/>
          <p:cNvSpPr txBox="1"/>
          <p:nvPr/>
        </p:nvSpPr>
        <p:spPr>
          <a:xfrm>
            <a:off x="3931920" y="1655064"/>
            <a:ext cx="713232" cy="274320"/>
          </a:xfrm>
          <a:prstGeom prst="rect">
            <a:avLst/>
          </a:prstGeom>
          <a:noFill/>
        </p:spPr>
        <p:txBody>
          <a:bodyPr wrap="square">
            <a:spAutoFit/>
          </a:bodyPr>
          <a:lstStyle/>
          <a:p>
            <a:pPr algn="ctr"/>
            <a:r>
              <a:rPr sz="850" b="0" i="0">
                <a:solidFill>
                  <a:srgbClr val="6B7280"/>
                </a:solidFill>
              </a:rPr>
              <a:t>137</a:t>
            </a:r>
          </a:p>
        </p:txBody>
      </p:sp>
      <p:sp>
        <p:nvSpPr>
          <p:cNvPr id="23" name="TextBox 22"/>
          <p:cNvSpPr txBox="1"/>
          <p:nvPr/>
        </p:nvSpPr>
        <p:spPr>
          <a:xfrm>
            <a:off x="4846320" y="1655064"/>
            <a:ext cx="713232" cy="274320"/>
          </a:xfrm>
          <a:prstGeom prst="rect">
            <a:avLst/>
          </a:prstGeom>
          <a:noFill/>
        </p:spPr>
        <p:txBody>
          <a:bodyPr wrap="square">
            <a:spAutoFit/>
          </a:bodyPr>
          <a:lstStyle/>
          <a:p>
            <a:pPr algn="ctr"/>
            <a:r>
              <a:rPr sz="900" b="1" i="0">
                <a:solidFill>
                  <a:srgbClr val="1A7A4A"/>
                </a:solidFill>
              </a:rPr>
              <a:t>+24%</a:t>
            </a:r>
          </a:p>
        </p:txBody>
      </p:sp>
      <p:sp>
        <p:nvSpPr>
          <p:cNvPr id="24" name="Rectangle 23"/>
          <p:cNvSpPr/>
          <p:nvPr/>
        </p:nvSpPr>
        <p:spPr>
          <a:xfrm>
            <a:off x="182880" y="1975104"/>
            <a:ext cx="54864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2002536"/>
            <a:ext cx="2514600" cy="274320"/>
          </a:xfrm>
          <a:prstGeom prst="rect">
            <a:avLst/>
          </a:prstGeom>
          <a:noFill/>
        </p:spPr>
        <p:txBody>
          <a:bodyPr wrap="square">
            <a:spAutoFit/>
          </a:bodyPr>
          <a:lstStyle/>
          <a:p>
            <a:pPr algn="l"/>
            <a:r>
              <a:rPr sz="850" b="0" i="0">
                <a:solidFill>
                  <a:srgbClr val="2D3A4A"/>
                </a:solidFill>
              </a:rPr>
              <a:t>Duke</a:t>
            </a:r>
          </a:p>
        </p:txBody>
      </p:sp>
      <p:sp>
        <p:nvSpPr>
          <p:cNvPr id="26" name="TextBox 25"/>
          <p:cNvSpPr txBox="1"/>
          <p:nvPr/>
        </p:nvSpPr>
        <p:spPr>
          <a:xfrm>
            <a:off x="2999232" y="2002536"/>
            <a:ext cx="713232" cy="274320"/>
          </a:xfrm>
          <a:prstGeom prst="rect">
            <a:avLst/>
          </a:prstGeom>
          <a:noFill/>
        </p:spPr>
        <p:txBody>
          <a:bodyPr wrap="square">
            <a:spAutoFit/>
          </a:bodyPr>
          <a:lstStyle/>
          <a:p>
            <a:pPr algn="ctr"/>
            <a:r>
              <a:rPr sz="900" b="1" i="0">
                <a:solidFill>
                  <a:srgbClr val="1E3A5F"/>
                </a:solidFill>
              </a:rPr>
              <a:t>104</a:t>
            </a:r>
          </a:p>
        </p:txBody>
      </p:sp>
      <p:sp>
        <p:nvSpPr>
          <p:cNvPr id="27" name="TextBox 26"/>
          <p:cNvSpPr txBox="1"/>
          <p:nvPr/>
        </p:nvSpPr>
        <p:spPr>
          <a:xfrm>
            <a:off x="3931920" y="2002536"/>
            <a:ext cx="713232" cy="274320"/>
          </a:xfrm>
          <a:prstGeom prst="rect">
            <a:avLst/>
          </a:prstGeom>
          <a:noFill/>
        </p:spPr>
        <p:txBody>
          <a:bodyPr wrap="square">
            <a:spAutoFit/>
          </a:bodyPr>
          <a:lstStyle/>
          <a:p>
            <a:pPr algn="ctr"/>
            <a:r>
              <a:rPr sz="850" b="0" i="0">
                <a:solidFill>
                  <a:srgbClr val="6B7280"/>
                </a:solidFill>
              </a:rPr>
              <a:t>91</a:t>
            </a:r>
          </a:p>
        </p:txBody>
      </p:sp>
      <p:sp>
        <p:nvSpPr>
          <p:cNvPr id="28" name="TextBox 27"/>
          <p:cNvSpPr txBox="1"/>
          <p:nvPr/>
        </p:nvSpPr>
        <p:spPr>
          <a:xfrm>
            <a:off x="4846320" y="2002536"/>
            <a:ext cx="713232" cy="274320"/>
          </a:xfrm>
          <a:prstGeom prst="rect">
            <a:avLst/>
          </a:prstGeom>
          <a:noFill/>
        </p:spPr>
        <p:txBody>
          <a:bodyPr wrap="square">
            <a:spAutoFit/>
          </a:bodyPr>
          <a:lstStyle/>
          <a:p>
            <a:pPr algn="ctr"/>
            <a:r>
              <a:rPr sz="900" b="1" i="0">
                <a:solidFill>
                  <a:srgbClr val="B83232"/>
                </a:solidFill>
              </a:rPr>
              <a:t>−11%</a:t>
            </a:r>
          </a:p>
        </p:txBody>
      </p:sp>
      <p:sp>
        <p:nvSpPr>
          <p:cNvPr id="29" name="Rectangle 28"/>
          <p:cNvSpPr/>
          <p:nvPr/>
        </p:nvSpPr>
        <p:spPr>
          <a:xfrm>
            <a:off x="182880" y="2322576"/>
            <a:ext cx="5486400" cy="3474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4320" y="2350008"/>
            <a:ext cx="2514600" cy="274320"/>
          </a:xfrm>
          <a:prstGeom prst="rect">
            <a:avLst/>
          </a:prstGeom>
          <a:noFill/>
        </p:spPr>
        <p:txBody>
          <a:bodyPr wrap="square">
            <a:spAutoFit/>
          </a:bodyPr>
          <a:lstStyle/>
          <a:p>
            <a:pPr algn="l"/>
            <a:r>
              <a:rPr sz="850" b="0" i="0">
                <a:solidFill>
                  <a:srgbClr val="2D3A4A"/>
                </a:solidFill>
              </a:rPr>
              <a:t>Baylor/St. Luke's</a:t>
            </a:r>
          </a:p>
        </p:txBody>
      </p:sp>
      <p:sp>
        <p:nvSpPr>
          <p:cNvPr id="31" name="TextBox 30"/>
          <p:cNvSpPr txBox="1"/>
          <p:nvPr/>
        </p:nvSpPr>
        <p:spPr>
          <a:xfrm>
            <a:off x="2999232" y="2350008"/>
            <a:ext cx="713232" cy="274320"/>
          </a:xfrm>
          <a:prstGeom prst="rect">
            <a:avLst/>
          </a:prstGeom>
          <a:noFill/>
        </p:spPr>
        <p:txBody>
          <a:bodyPr wrap="square">
            <a:spAutoFit/>
          </a:bodyPr>
          <a:lstStyle/>
          <a:p>
            <a:pPr algn="ctr"/>
            <a:r>
              <a:rPr sz="900" b="1" i="0">
                <a:solidFill>
                  <a:srgbClr val="1E3A5F"/>
                </a:solidFill>
              </a:rPr>
              <a:t>102</a:t>
            </a:r>
          </a:p>
        </p:txBody>
      </p:sp>
      <p:sp>
        <p:nvSpPr>
          <p:cNvPr id="32" name="TextBox 31"/>
          <p:cNvSpPr txBox="1"/>
          <p:nvPr/>
        </p:nvSpPr>
        <p:spPr>
          <a:xfrm>
            <a:off x="3931920" y="2350008"/>
            <a:ext cx="713232" cy="274320"/>
          </a:xfrm>
          <a:prstGeom prst="rect">
            <a:avLst/>
          </a:prstGeom>
          <a:noFill/>
        </p:spPr>
        <p:txBody>
          <a:bodyPr wrap="square">
            <a:spAutoFit/>
          </a:bodyPr>
          <a:lstStyle/>
          <a:p>
            <a:pPr algn="ctr"/>
            <a:r>
              <a:rPr sz="850" b="0" i="0">
                <a:solidFill>
                  <a:srgbClr val="6B7280"/>
                </a:solidFill>
              </a:rPr>
              <a:t>94</a:t>
            </a:r>
          </a:p>
        </p:txBody>
      </p:sp>
      <p:sp>
        <p:nvSpPr>
          <p:cNvPr id="33" name="TextBox 32"/>
          <p:cNvSpPr txBox="1"/>
          <p:nvPr/>
        </p:nvSpPr>
        <p:spPr>
          <a:xfrm>
            <a:off x="4846320" y="2350008"/>
            <a:ext cx="713232" cy="274320"/>
          </a:xfrm>
          <a:prstGeom prst="rect">
            <a:avLst/>
          </a:prstGeom>
          <a:noFill/>
        </p:spPr>
        <p:txBody>
          <a:bodyPr wrap="square">
            <a:spAutoFit/>
          </a:bodyPr>
          <a:lstStyle/>
          <a:p>
            <a:pPr algn="ctr"/>
            <a:r>
              <a:rPr sz="900" b="1" i="0">
                <a:solidFill>
                  <a:srgbClr val="1A7A4A"/>
                </a:solidFill>
              </a:rPr>
              <a:t>+170%</a:t>
            </a:r>
          </a:p>
        </p:txBody>
      </p:sp>
      <p:sp>
        <p:nvSpPr>
          <p:cNvPr id="34" name="Rectangle 33"/>
          <p:cNvSpPr/>
          <p:nvPr/>
        </p:nvSpPr>
        <p:spPr>
          <a:xfrm>
            <a:off x="182880" y="2670048"/>
            <a:ext cx="54864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74320" y="2697480"/>
            <a:ext cx="2514600" cy="274320"/>
          </a:xfrm>
          <a:prstGeom prst="rect">
            <a:avLst/>
          </a:prstGeom>
          <a:noFill/>
        </p:spPr>
        <p:txBody>
          <a:bodyPr wrap="square">
            <a:spAutoFit/>
          </a:bodyPr>
          <a:lstStyle/>
          <a:p>
            <a:pPr algn="l"/>
            <a:r>
              <a:rPr sz="850" b="0" i="0">
                <a:solidFill>
                  <a:srgbClr val="2D3A4A"/>
                </a:solidFill>
              </a:rPr>
              <a:t>NY Presbyterian</a:t>
            </a:r>
          </a:p>
        </p:txBody>
      </p:sp>
      <p:sp>
        <p:nvSpPr>
          <p:cNvPr id="36" name="TextBox 35"/>
          <p:cNvSpPr txBox="1"/>
          <p:nvPr/>
        </p:nvSpPr>
        <p:spPr>
          <a:xfrm>
            <a:off x="2999232" y="2697480"/>
            <a:ext cx="713232" cy="274320"/>
          </a:xfrm>
          <a:prstGeom prst="rect">
            <a:avLst/>
          </a:prstGeom>
          <a:noFill/>
        </p:spPr>
        <p:txBody>
          <a:bodyPr wrap="square">
            <a:spAutoFit/>
          </a:bodyPr>
          <a:lstStyle/>
          <a:p>
            <a:pPr algn="ctr"/>
            <a:r>
              <a:rPr sz="900" b="1" i="0">
                <a:solidFill>
                  <a:srgbClr val="1E3A5F"/>
                </a:solidFill>
              </a:rPr>
              <a:t>101</a:t>
            </a:r>
          </a:p>
        </p:txBody>
      </p:sp>
      <p:sp>
        <p:nvSpPr>
          <p:cNvPr id="37" name="TextBox 36"/>
          <p:cNvSpPr txBox="1"/>
          <p:nvPr/>
        </p:nvSpPr>
        <p:spPr>
          <a:xfrm>
            <a:off x="3931920" y="2697480"/>
            <a:ext cx="713232" cy="274320"/>
          </a:xfrm>
          <a:prstGeom prst="rect">
            <a:avLst/>
          </a:prstGeom>
          <a:noFill/>
        </p:spPr>
        <p:txBody>
          <a:bodyPr wrap="square">
            <a:spAutoFit/>
          </a:bodyPr>
          <a:lstStyle/>
          <a:p>
            <a:pPr algn="ctr"/>
            <a:r>
              <a:rPr sz="850" b="0" i="0">
                <a:solidFill>
                  <a:srgbClr val="6B7280"/>
                </a:solidFill>
              </a:rPr>
              <a:t>109</a:t>
            </a:r>
          </a:p>
        </p:txBody>
      </p:sp>
      <p:sp>
        <p:nvSpPr>
          <p:cNvPr id="38" name="TextBox 37"/>
          <p:cNvSpPr txBox="1"/>
          <p:nvPr/>
        </p:nvSpPr>
        <p:spPr>
          <a:xfrm>
            <a:off x="4846320" y="2697480"/>
            <a:ext cx="713232" cy="274320"/>
          </a:xfrm>
          <a:prstGeom prst="rect">
            <a:avLst/>
          </a:prstGeom>
          <a:noFill/>
        </p:spPr>
        <p:txBody>
          <a:bodyPr wrap="square">
            <a:spAutoFit/>
          </a:bodyPr>
          <a:lstStyle/>
          <a:p>
            <a:pPr algn="ctr"/>
            <a:r>
              <a:rPr sz="900" b="1" i="0">
                <a:solidFill>
                  <a:srgbClr val="1A7A4A"/>
                </a:solidFill>
              </a:rPr>
              <a:t>+62%</a:t>
            </a:r>
          </a:p>
        </p:txBody>
      </p:sp>
      <p:sp>
        <p:nvSpPr>
          <p:cNvPr id="39" name="Rectangle 38"/>
          <p:cNvSpPr/>
          <p:nvPr/>
        </p:nvSpPr>
        <p:spPr>
          <a:xfrm>
            <a:off x="182880" y="3017520"/>
            <a:ext cx="5486400" cy="3474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4320" y="3044952"/>
            <a:ext cx="2514600" cy="274320"/>
          </a:xfrm>
          <a:prstGeom prst="rect">
            <a:avLst/>
          </a:prstGeom>
          <a:noFill/>
        </p:spPr>
        <p:txBody>
          <a:bodyPr wrap="square">
            <a:spAutoFit/>
          </a:bodyPr>
          <a:lstStyle/>
          <a:p>
            <a:pPr algn="l"/>
            <a:r>
              <a:rPr sz="850" b="0" i="0">
                <a:solidFill>
                  <a:srgbClr val="2D3A4A"/>
                </a:solidFill>
              </a:rPr>
              <a:t>Cedars-Sinai</a:t>
            </a:r>
          </a:p>
        </p:txBody>
      </p:sp>
      <p:sp>
        <p:nvSpPr>
          <p:cNvPr id="41" name="TextBox 40"/>
          <p:cNvSpPr txBox="1"/>
          <p:nvPr/>
        </p:nvSpPr>
        <p:spPr>
          <a:xfrm>
            <a:off x="2999232" y="3044952"/>
            <a:ext cx="713232" cy="274320"/>
          </a:xfrm>
          <a:prstGeom prst="rect">
            <a:avLst/>
          </a:prstGeom>
          <a:noFill/>
        </p:spPr>
        <p:txBody>
          <a:bodyPr wrap="square">
            <a:spAutoFit/>
          </a:bodyPr>
          <a:lstStyle/>
          <a:p>
            <a:pPr algn="ctr"/>
            <a:r>
              <a:rPr sz="900" b="1" i="0">
                <a:solidFill>
                  <a:srgbClr val="1E3A5F"/>
                </a:solidFill>
              </a:rPr>
              <a:t>93</a:t>
            </a:r>
          </a:p>
        </p:txBody>
      </p:sp>
      <p:sp>
        <p:nvSpPr>
          <p:cNvPr id="42" name="TextBox 41"/>
          <p:cNvSpPr txBox="1"/>
          <p:nvPr/>
        </p:nvSpPr>
        <p:spPr>
          <a:xfrm>
            <a:off x="3931920" y="3044952"/>
            <a:ext cx="713232" cy="274320"/>
          </a:xfrm>
          <a:prstGeom prst="rect">
            <a:avLst/>
          </a:prstGeom>
          <a:noFill/>
        </p:spPr>
        <p:txBody>
          <a:bodyPr wrap="square">
            <a:spAutoFit/>
          </a:bodyPr>
          <a:lstStyle/>
          <a:p>
            <a:pPr algn="ctr"/>
            <a:r>
              <a:rPr sz="850" b="0" i="0">
                <a:solidFill>
                  <a:srgbClr val="6B7280"/>
                </a:solidFill>
              </a:rPr>
              <a:t>86</a:t>
            </a:r>
          </a:p>
        </p:txBody>
      </p:sp>
      <p:sp>
        <p:nvSpPr>
          <p:cNvPr id="43" name="TextBox 42"/>
          <p:cNvSpPr txBox="1"/>
          <p:nvPr/>
        </p:nvSpPr>
        <p:spPr>
          <a:xfrm>
            <a:off x="4846320" y="3044952"/>
            <a:ext cx="713232" cy="274320"/>
          </a:xfrm>
          <a:prstGeom prst="rect">
            <a:avLst/>
          </a:prstGeom>
          <a:noFill/>
        </p:spPr>
        <p:txBody>
          <a:bodyPr wrap="square">
            <a:spAutoFit/>
          </a:bodyPr>
          <a:lstStyle/>
          <a:p>
            <a:pPr algn="ctr"/>
            <a:r>
              <a:rPr sz="900" b="1" i="0">
                <a:solidFill>
                  <a:srgbClr val="1A7A4A"/>
                </a:solidFill>
              </a:rPr>
              <a:t>+461%</a:t>
            </a:r>
          </a:p>
        </p:txBody>
      </p:sp>
      <p:sp>
        <p:nvSpPr>
          <p:cNvPr id="44" name="Rectangle 43"/>
          <p:cNvSpPr/>
          <p:nvPr/>
        </p:nvSpPr>
        <p:spPr>
          <a:xfrm>
            <a:off x="182880" y="3364992"/>
            <a:ext cx="54864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74320" y="3392424"/>
            <a:ext cx="2514600" cy="274320"/>
          </a:xfrm>
          <a:prstGeom prst="rect">
            <a:avLst/>
          </a:prstGeom>
          <a:noFill/>
        </p:spPr>
        <p:txBody>
          <a:bodyPr wrap="square">
            <a:spAutoFit/>
          </a:bodyPr>
          <a:lstStyle/>
          <a:p>
            <a:pPr algn="l"/>
            <a:r>
              <a:rPr sz="850" b="0" i="0">
                <a:solidFill>
                  <a:srgbClr val="2D3A4A"/>
                </a:solidFill>
              </a:rPr>
              <a:t>UCSF</a:t>
            </a:r>
          </a:p>
        </p:txBody>
      </p:sp>
      <p:sp>
        <p:nvSpPr>
          <p:cNvPr id="46" name="TextBox 45"/>
          <p:cNvSpPr txBox="1"/>
          <p:nvPr/>
        </p:nvSpPr>
        <p:spPr>
          <a:xfrm>
            <a:off x="2999232" y="3392424"/>
            <a:ext cx="713232" cy="274320"/>
          </a:xfrm>
          <a:prstGeom prst="rect">
            <a:avLst/>
          </a:prstGeom>
          <a:noFill/>
        </p:spPr>
        <p:txBody>
          <a:bodyPr wrap="square">
            <a:spAutoFit/>
          </a:bodyPr>
          <a:lstStyle/>
          <a:p>
            <a:pPr algn="ctr"/>
            <a:r>
              <a:rPr sz="900" b="1" i="0">
                <a:solidFill>
                  <a:srgbClr val="1E3A5F"/>
                </a:solidFill>
              </a:rPr>
              <a:t>89</a:t>
            </a:r>
          </a:p>
        </p:txBody>
      </p:sp>
      <p:sp>
        <p:nvSpPr>
          <p:cNvPr id="47" name="TextBox 46"/>
          <p:cNvSpPr txBox="1"/>
          <p:nvPr/>
        </p:nvSpPr>
        <p:spPr>
          <a:xfrm>
            <a:off x="3931920" y="3392424"/>
            <a:ext cx="713232" cy="274320"/>
          </a:xfrm>
          <a:prstGeom prst="rect">
            <a:avLst/>
          </a:prstGeom>
          <a:noFill/>
        </p:spPr>
        <p:txBody>
          <a:bodyPr wrap="square">
            <a:spAutoFit/>
          </a:bodyPr>
          <a:lstStyle/>
          <a:p>
            <a:pPr algn="ctr"/>
            <a:r>
              <a:rPr sz="850" b="0" i="0">
                <a:solidFill>
                  <a:srgbClr val="6B7280"/>
                </a:solidFill>
              </a:rPr>
              <a:t>95</a:t>
            </a:r>
          </a:p>
        </p:txBody>
      </p:sp>
      <p:sp>
        <p:nvSpPr>
          <p:cNvPr id="48" name="TextBox 47"/>
          <p:cNvSpPr txBox="1"/>
          <p:nvPr/>
        </p:nvSpPr>
        <p:spPr>
          <a:xfrm>
            <a:off x="4846320" y="3392424"/>
            <a:ext cx="713232" cy="274320"/>
          </a:xfrm>
          <a:prstGeom prst="rect">
            <a:avLst/>
          </a:prstGeom>
          <a:noFill/>
        </p:spPr>
        <p:txBody>
          <a:bodyPr wrap="square">
            <a:spAutoFit/>
          </a:bodyPr>
          <a:lstStyle/>
          <a:p>
            <a:pPr algn="ctr"/>
            <a:r>
              <a:rPr sz="900" b="1" i="0">
                <a:solidFill>
                  <a:srgbClr val="1A7A4A"/>
                </a:solidFill>
              </a:rPr>
              <a:t>+82%</a:t>
            </a:r>
          </a:p>
        </p:txBody>
      </p:sp>
      <p:sp>
        <p:nvSpPr>
          <p:cNvPr id="49" name="Rectangle 48"/>
          <p:cNvSpPr/>
          <p:nvPr/>
        </p:nvSpPr>
        <p:spPr>
          <a:xfrm>
            <a:off x="182880" y="3712464"/>
            <a:ext cx="5486400" cy="347472"/>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74320" y="3739896"/>
            <a:ext cx="2514600" cy="274320"/>
          </a:xfrm>
          <a:prstGeom prst="rect">
            <a:avLst/>
          </a:prstGeom>
          <a:noFill/>
        </p:spPr>
        <p:txBody>
          <a:bodyPr wrap="square">
            <a:spAutoFit/>
          </a:bodyPr>
          <a:lstStyle/>
          <a:p>
            <a:pPr algn="l"/>
            <a:r>
              <a:rPr sz="850" b="0" i="0">
                <a:solidFill>
                  <a:srgbClr val="2D3A4A"/>
                </a:solidFill>
              </a:rPr>
              <a:t>Jackson Miami</a:t>
            </a:r>
          </a:p>
        </p:txBody>
      </p:sp>
      <p:sp>
        <p:nvSpPr>
          <p:cNvPr id="51" name="TextBox 50"/>
          <p:cNvSpPr txBox="1"/>
          <p:nvPr/>
        </p:nvSpPr>
        <p:spPr>
          <a:xfrm>
            <a:off x="2999232" y="3739896"/>
            <a:ext cx="713232" cy="274320"/>
          </a:xfrm>
          <a:prstGeom prst="rect">
            <a:avLst/>
          </a:prstGeom>
          <a:noFill/>
        </p:spPr>
        <p:txBody>
          <a:bodyPr wrap="square">
            <a:spAutoFit/>
          </a:bodyPr>
          <a:lstStyle/>
          <a:p>
            <a:pPr algn="ctr"/>
            <a:r>
              <a:rPr sz="900" b="1" i="0">
                <a:solidFill>
                  <a:srgbClr val="1E3A5F"/>
                </a:solidFill>
              </a:rPr>
              <a:t>85</a:t>
            </a:r>
          </a:p>
        </p:txBody>
      </p:sp>
      <p:sp>
        <p:nvSpPr>
          <p:cNvPr id="52" name="TextBox 51"/>
          <p:cNvSpPr txBox="1"/>
          <p:nvPr/>
        </p:nvSpPr>
        <p:spPr>
          <a:xfrm>
            <a:off x="3931920" y="3739896"/>
            <a:ext cx="713232" cy="274320"/>
          </a:xfrm>
          <a:prstGeom prst="rect">
            <a:avLst/>
          </a:prstGeom>
          <a:noFill/>
        </p:spPr>
        <p:txBody>
          <a:bodyPr wrap="square">
            <a:spAutoFit/>
          </a:bodyPr>
          <a:lstStyle/>
          <a:p>
            <a:pPr algn="ctr"/>
            <a:r>
              <a:rPr sz="850" b="0" i="0">
                <a:solidFill>
                  <a:srgbClr val="6B7280"/>
                </a:solidFill>
              </a:rPr>
              <a:t>75</a:t>
            </a:r>
          </a:p>
        </p:txBody>
      </p:sp>
      <p:sp>
        <p:nvSpPr>
          <p:cNvPr id="53" name="TextBox 52"/>
          <p:cNvSpPr txBox="1"/>
          <p:nvPr/>
        </p:nvSpPr>
        <p:spPr>
          <a:xfrm>
            <a:off x="4846320" y="3739896"/>
            <a:ext cx="713232" cy="274320"/>
          </a:xfrm>
          <a:prstGeom prst="rect">
            <a:avLst/>
          </a:prstGeom>
          <a:noFill/>
        </p:spPr>
        <p:txBody>
          <a:bodyPr wrap="square">
            <a:spAutoFit/>
          </a:bodyPr>
          <a:lstStyle/>
          <a:p>
            <a:pPr algn="ctr"/>
            <a:r>
              <a:rPr sz="900" b="1" i="0">
                <a:solidFill>
                  <a:srgbClr val="1A7A4A"/>
                </a:solidFill>
              </a:rPr>
              <a:t>+433%</a:t>
            </a:r>
          </a:p>
        </p:txBody>
      </p:sp>
      <p:sp>
        <p:nvSpPr>
          <p:cNvPr id="54" name="Rectangle 53"/>
          <p:cNvSpPr/>
          <p:nvPr/>
        </p:nvSpPr>
        <p:spPr>
          <a:xfrm>
            <a:off x="182880" y="4059935"/>
            <a:ext cx="54864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4320" y="4087368"/>
            <a:ext cx="2514600" cy="274320"/>
          </a:xfrm>
          <a:prstGeom prst="rect">
            <a:avLst/>
          </a:prstGeom>
          <a:noFill/>
        </p:spPr>
        <p:txBody>
          <a:bodyPr wrap="square">
            <a:spAutoFit/>
          </a:bodyPr>
          <a:lstStyle/>
          <a:p>
            <a:pPr algn="l"/>
            <a:r>
              <a:rPr sz="850" b="0" i="0">
                <a:solidFill>
                  <a:srgbClr val="2D3A4A"/>
                </a:solidFill>
              </a:rPr>
              <a:t>Mass General</a:t>
            </a:r>
          </a:p>
        </p:txBody>
      </p:sp>
      <p:sp>
        <p:nvSpPr>
          <p:cNvPr id="56" name="TextBox 55"/>
          <p:cNvSpPr txBox="1"/>
          <p:nvPr/>
        </p:nvSpPr>
        <p:spPr>
          <a:xfrm>
            <a:off x="2999232" y="4087368"/>
            <a:ext cx="713232" cy="274320"/>
          </a:xfrm>
          <a:prstGeom prst="rect">
            <a:avLst/>
          </a:prstGeom>
          <a:noFill/>
        </p:spPr>
        <p:txBody>
          <a:bodyPr wrap="square">
            <a:spAutoFit/>
          </a:bodyPr>
          <a:lstStyle/>
          <a:p>
            <a:pPr algn="ctr"/>
            <a:r>
              <a:rPr sz="900" b="1" i="0">
                <a:solidFill>
                  <a:srgbClr val="1E3A5F"/>
                </a:solidFill>
              </a:rPr>
              <a:t>84</a:t>
            </a:r>
          </a:p>
        </p:txBody>
      </p:sp>
      <p:sp>
        <p:nvSpPr>
          <p:cNvPr id="57" name="TextBox 56"/>
          <p:cNvSpPr txBox="1"/>
          <p:nvPr/>
        </p:nvSpPr>
        <p:spPr>
          <a:xfrm>
            <a:off x="3931920" y="4087368"/>
            <a:ext cx="713232" cy="274320"/>
          </a:xfrm>
          <a:prstGeom prst="rect">
            <a:avLst/>
          </a:prstGeom>
          <a:noFill/>
        </p:spPr>
        <p:txBody>
          <a:bodyPr wrap="square">
            <a:spAutoFit/>
          </a:bodyPr>
          <a:lstStyle/>
          <a:p>
            <a:pPr algn="ctr"/>
            <a:r>
              <a:rPr sz="850" b="0" i="0">
                <a:solidFill>
                  <a:srgbClr val="6B7280"/>
                </a:solidFill>
              </a:rPr>
              <a:t>68</a:t>
            </a:r>
          </a:p>
        </p:txBody>
      </p:sp>
      <p:sp>
        <p:nvSpPr>
          <p:cNvPr id="58" name="TextBox 57"/>
          <p:cNvSpPr txBox="1"/>
          <p:nvPr/>
        </p:nvSpPr>
        <p:spPr>
          <a:xfrm>
            <a:off x="4846320" y="4087368"/>
            <a:ext cx="713232" cy="274320"/>
          </a:xfrm>
          <a:prstGeom prst="rect">
            <a:avLst/>
          </a:prstGeom>
          <a:noFill/>
        </p:spPr>
        <p:txBody>
          <a:bodyPr wrap="square">
            <a:spAutoFit/>
          </a:bodyPr>
          <a:lstStyle/>
          <a:p>
            <a:pPr algn="ctr"/>
            <a:r>
              <a:rPr sz="900" b="1" i="0">
                <a:solidFill>
                  <a:srgbClr val="1A7A4A"/>
                </a:solidFill>
              </a:rPr>
              <a:t>+123%</a:t>
            </a:r>
          </a:p>
        </p:txBody>
      </p:sp>
      <p:sp>
        <p:nvSpPr>
          <p:cNvPr id="59" name="TextBox 58"/>
          <p:cNvSpPr txBox="1"/>
          <p:nvPr/>
        </p:nvSpPr>
        <p:spPr>
          <a:xfrm>
            <a:off x="5852160" y="566928"/>
            <a:ext cx="6126480" cy="347472"/>
          </a:xfrm>
          <a:prstGeom prst="rect">
            <a:avLst/>
          </a:prstGeom>
          <a:noFill/>
        </p:spPr>
        <p:txBody>
          <a:bodyPr wrap="square">
            <a:spAutoFit/>
          </a:bodyPr>
          <a:lstStyle/>
          <a:p>
            <a:pPr algn="l"/>
            <a:r>
              <a:rPr sz="1000" b="1" i="0">
                <a:solidFill>
                  <a:srgbClr val="B83232"/>
                </a:solidFill>
              </a:rPr>
              <a:t>DOUBLE LOSERS</a:t>
            </a:r>
          </a:p>
        </p:txBody>
      </p:sp>
      <p:sp>
        <p:nvSpPr>
          <p:cNvPr id="60" name="Rectangle 59"/>
          <p:cNvSpPr/>
          <p:nvPr/>
        </p:nvSpPr>
        <p:spPr>
          <a:xfrm>
            <a:off x="5852160" y="960120"/>
            <a:ext cx="6144768" cy="1316736"/>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5852160" y="960120"/>
            <a:ext cx="64008" cy="131673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035040" y="1005840"/>
            <a:ext cx="2926080" cy="347472"/>
          </a:xfrm>
          <a:prstGeom prst="rect">
            <a:avLst/>
          </a:prstGeom>
          <a:noFill/>
        </p:spPr>
        <p:txBody>
          <a:bodyPr wrap="square">
            <a:spAutoFit/>
          </a:bodyPr>
          <a:lstStyle/>
          <a:p>
            <a:pPr algn="l"/>
            <a:r>
              <a:rPr sz="950" b="1" i="0">
                <a:solidFill>
                  <a:srgbClr val="B83232"/>
                </a:solidFill>
              </a:rPr>
              <a:t>Ochsner (LA)</a:t>
            </a:r>
          </a:p>
        </p:txBody>
      </p:sp>
      <p:sp>
        <p:nvSpPr>
          <p:cNvPr id="63" name="TextBox 62"/>
          <p:cNvSpPr txBox="1"/>
          <p:nvPr/>
        </p:nvSpPr>
        <p:spPr>
          <a:xfrm>
            <a:off x="9006840" y="1005840"/>
            <a:ext cx="1234440" cy="347472"/>
          </a:xfrm>
          <a:prstGeom prst="rect">
            <a:avLst/>
          </a:prstGeom>
          <a:noFill/>
        </p:spPr>
        <p:txBody>
          <a:bodyPr wrap="square">
            <a:spAutoFit/>
          </a:bodyPr>
          <a:lstStyle/>
          <a:p>
            <a:pPr algn="ctr"/>
            <a:r>
              <a:rPr sz="900" b="0" i="0">
                <a:solidFill>
                  <a:srgbClr val="2D3A4A"/>
                </a:solidFill>
              </a:rPr>
              <a:t>31→10 avg</a:t>
            </a:r>
          </a:p>
        </p:txBody>
      </p:sp>
      <p:sp>
        <p:nvSpPr>
          <p:cNvPr id="64" name="TextBox 63"/>
          <p:cNvSpPr txBox="1"/>
          <p:nvPr/>
        </p:nvSpPr>
        <p:spPr>
          <a:xfrm>
            <a:off x="10314432" y="1005840"/>
            <a:ext cx="640080" cy="347472"/>
          </a:xfrm>
          <a:prstGeom prst="rect">
            <a:avLst/>
          </a:prstGeom>
          <a:noFill/>
        </p:spPr>
        <p:txBody>
          <a:bodyPr wrap="square">
            <a:spAutoFit/>
          </a:bodyPr>
          <a:lstStyle/>
          <a:p>
            <a:pPr algn="ctr"/>
            <a:r>
              <a:rPr sz="1000" b="1" i="0">
                <a:solidFill>
                  <a:srgbClr val="B83232"/>
                </a:solidFill>
              </a:rPr>
              <a:t>−69%</a:t>
            </a:r>
          </a:p>
        </p:txBody>
      </p:sp>
      <p:sp>
        <p:nvSpPr>
          <p:cNvPr id="65" name="TextBox 64"/>
          <p:cNvSpPr txBox="1"/>
          <p:nvPr/>
        </p:nvSpPr>
        <p:spPr>
          <a:xfrm>
            <a:off x="6035040" y="1335024"/>
            <a:ext cx="5833872" cy="822960"/>
          </a:xfrm>
          <a:prstGeom prst="rect">
            <a:avLst/>
          </a:prstGeom>
          <a:noFill/>
        </p:spPr>
        <p:txBody>
          <a:bodyPr wrap="square">
            <a:spAutoFit/>
          </a:bodyPr>
          <a:lstStyle/>
          <a:p>
            <a:pPr algn="l"/>
            <a:r>
              <a:rPr sz="850" b="0" i="0">
                <a:solidFill>
                  <a:srgbClr val="6B7280"/>
                </a:solidFill>
              </a:rPr>
              <a:t>Critical: below quality threshold. Gulf South OPO advantage eliminated under both policies.</a:t>
            </a:r>
          </a:p>
        </p:txBody>
      </p:sp>
      <p:sp>
        <p:nvSpPr>
          <p:cNvPr id="66" name="Rectangle 65"/>
          <p:cNvSpPr/>
          <p:nvPr/>
        </p:nvSpPr>
        <p:spPr>
          <a:xfrm>
            <a:off x="5852160" y="2350008"/>
            <a:ext cx="6144768" cy="1316736"/>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5852160" y="2350008"/>
            <a:ext cx="64008" cy="131673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035040" y="2395728"/>
            <a:ext cx="2926080" cy="347472"/>
          </a:xfrm>
          <a:prstGeom prst="rect">
            <a:avLst/>
          </a:prstGeom>
          <a:noFill/>
        </p:spPr>
        <p:txBody>
          <a:bodyPr wrap="square">
            <a:spAutoFit/>
          </a:bodyPr>
          <a:lstStyle/>
          <a:p>
            <a:pPr algn="l"/>
            <a:r>
              <a:rPr sz="950" b="1" i="0">
                <a:solidFill>
                  <a:srgbClr val="B83232"/>
                </a:solidFill>
              </a:rPr>
              <a:t>Penn/HUP (PA)</a:t>
            </a:r>
          </a:p>
        </p:txBody>
      </p:sp>
      <p:sp>
        <p:nvSpPr>
          <p:cNvPr id="69" name="TextBox 68"/>
          <p:cNvSpPr txBox="1"/>
          <p:nvPr/>
        </p:nvSpPr>
        <p:spPr>
          <a:xfrm>
            <a:off x="9006840" y="2395728"/>
            <a:ext cx="1234440" cy="347472"/>
          </a:xfrm>
          <a:prstGeom prst="rect">
            <a:avLst/>
          </a:prstGeom>
          <a:noFill/>
        </p:spPr>
        <p:txBody>
          <a:bodyPr wrap="square">
            <a:spAutoFit/>
          </a:bodyPr>
          <a:lstStyle/>
          <a:p>
            <a:pPr algn="ctr"/>
            <a:r>
              <a:rPr sz="900" b="0" i="0">
                <a:solidFill>
                  <a:srgbClr val="2D3A4A"/>
                </a:solidFill>
              </a:rPr>
              <a:t>86→59 avg</a:t>
            </a:r>
          </a:p>
        </p:txBody>
      </p:sp>
      <p:sp>
        <p:nvSpPr>
          <p:cNvPr id="70" name="TextBox 69"/>
          <p:cNvSpPr txBox="1"/>
          <p:nvPr/>
        </p:nvSpPr>
        <p:spPr>
          <a:xfrm>
            <a:off x="10314432" y="2395728"/>
            <a:ext cx="640080" cy="347472"/>
          </a:xfrm>
          <a:prstGeom prst="rect">
            <a:avLst/>
          </a:prstGeom>
          <a:noFill/>
        </p:spPr>
        <p:txBody>
          <a:bodyPr wrap="square">
            <a:spAutoFit/>
          </a:bodyPr>
          <a:lstStyle/>
          <a:p>
            <a:pPr algn="ctr"/>
            <a:r>
              <a:rPr sz="1000" b="1" i="0">
                <a:solidFill>
                  <a:srgbClr val="B83232"/>
                </a:solidFill>
              </a:rPr>
              <a:t>−31%</a:t>
            </a:r>
          </a:p>
        </p:txBody>
      </p:sp>
      <p:sp>
        <p:nvSpPr>
          <p:cNvPr id="71" name="TextBox 70"/>
          <p:cNvSpPr txBox="1"/>
          <p:nvPr/>
        </p:nvSpPr>
        <p:spPr>
          <a:xfrm>
            <a:off x="6035040" y="2724912"/>
            <a:ext cx="5833872" cy="822960"/>
          </a:xfrm>
          <a:prstGeom prst="rect">
            <a:avLst/>
          </a:prstGeom>
          <a:noFill/>
        </p:spPr>
        <p:txBody>
          <a:bodyPr wrap="square">
            <a:spAutoFit/>
          </a:bodyPr>
          <a:lstStyle/>
          <a:p>
            <a:pPr algn="l"/>
            <a:r>
              <a:rPr sz="850" b="0" i="0">
                <a:solidFill>
                  <a:srgbClr val="6B7280"/>
                </a:solidFill>
              </a:rPr>
              <a:t>Temple (same city, #1 national) dominates on CAS urgency score; Penn loses intra-city share.</a:t>
            </a:r>
          </a:p>
        </p:txBody>
      </p:sp>
      <p:sp>
        <p:nvSpPr>
          <p:cNvPr id="72" name="Rectangle 71"/>
          <p:cNvSpPr/>
          <p:nvPr/>
        </p:nvSpPr>
        <p:spPr>
          <a:xfrm>
            <a:off x="5852160" y="3739896"/>
            <a:ext cx="6144768" cy="1316736"/>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5852160" y="3739896"/>
            <a:ext cx="64008" cy="131673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035040" y="3785616"/>
            <a:ext cx="2926080" cy="347472"/>
          </a:xfrm>
          <a:prstGeom prst="rect">
            <a:avLst/>
          </a:prstGeom>
          <a:noFill/>
        </p:spPr>
        <p:txBody>
          <a:bodyPr wrap="square">
            <a:spAutoFit/>
          </a:bodyPr>
          <a:lstStyle/>
          <a:p>
            <a:pPr algn="l"/>
            <a:r>
              <a:rPr sz="950" b="1" i="0">
                <a:solidFill>
                  <a:srgbClr val="B83232"/>
                </a:solidFill>
              </a:rPr>
              <a:t>Barnes-Jewish (MO)</a:t>
            </a:r>
          </a:p>
        </p:txBody>
      </p:sp>
      <p:sp>
        <p:nvSpPr>
          <p:cNvPr id="75" name="TextBox 74"/>
          <p:cNvSpPr txBox="1"/>
          <p:nvPr/>
        </p:nvSpPr>
        <p:spPr>
          <a:xfrm>
            <a:off x="9006840" y="3785616"/>
            <a:ext cx="1234440" cy="347472"/>
          </a:xfrm>
          <a:prstGeom prst="rect">
            <a:avLst/>
          </a:prstGeom>
          <a:noFill/>
        </p:spPr>
        <p:txBody>
          <a:bodyPr wrap="square">
            <a:spAutoFit/>
          </a:bodyPr>
          <a:lstStyle/>
          <a:p>
            <a:pPr algn="ctr"/>
            <a:r>
              <a:rPr sz="900" b="0" i="0">
                <a:solidFill>
                  <a:srgbClr val="2D3A4A"/>
                </a:solidFill>
              </a:rPr>
              <a:t>82→63 avg</a:t>
            </a:r>
          </a:p>
        </p:txBody>
      </p:sp>
      <p:sp>
        <p:nvSpPr>
          <p:cNvPr id="76" name="TextBox 75"/>
          <p:cNvSpPr txBox="1"/>
          <p:nvPr/>
        </p:nvSpPr>
        <p:spPr>
          <a:xfrm>
            <a:off x="10314432" y="3785616"/>
            <a:ext cx="640080" cy="347472"/>
          </a:xfrm>
          <a:prstGeom prst="rect">
            <a:avLst/>
          </a:prstGeom>
          <a:noFill/>
        </p:spPr>
        <p:txBody>
          <a:bodyPr wrap="square">
            <a:spAutoFit/>
          </a:bodyPr>
          <a:lstStyle/>
          <a:p>
            <a:pPr algn="ctr"/>
            <a:r>
              <a:rPr sz="1000" b="1" i="0">
                <a:solidFill>
                  <a:srgbClr val="B83232"/>
                </a:solidFill>
              </a:rPr>
              <a:t>−22%</a:t>
            </a:r>
          </a:p>
        </p:txBody>
      </p:sp>
      <p:sp>
        <p:nvSpPr>
          <p:cNvPr id="77" name="TextBox 76"/>
          <p:cNvSpPr txBox="1"/>
          <p:nvPr/>
        </p:nvSpPr>
        <p:spPr>
          <a:xfrm>
            <a:off x="6035040" y="4114800"/>
            <a:ext cx="5833872" cy="822960"/>
          </a:xfrm>
          <a:prstGeom prst="rect">
            <a:avLst/>
          </a:prstGeom>
          <a:noFill/>
        </p:spPr>
        <p:txBody>
          <a:bodyPr wrap="square">
            <a:spAutoFit/>
          </a:bodyPr>
          <a:lstStyle/>
          <a:p>
            <a:pPr algn="l"/>
            <a:r>
              <a:rPr sz="850" b="0" i="0">
                <a:solidFill>
                  <a:srgbClr val="6B7280"/>
                </a:solidFill>
              </a:rPr>
              <a:t>Midwest OPO geographic premium eliminated; acuity scoring doesn't compensate.</a:t>
            </a:r>
          </a:p>
        </p:txBody>
      </p:sp>
      <p:sp>
        <p:nvSpPr>
          <p:cNvPr id="78" name="Rectangle 77"/>
          <p:cNvSpPr/>
          <p:nvPr/>
        </p:nvSpPr>
        <p:spPr>
          <a:xfrm>
            <a:off x="5852160" y="5129784"/>
            <a:ext cx="6144768" cy="1316736"/>
          </a:xfrm>
          <a:prstGeom prst="rect">
            <a:avLst/>
          </a:prstGeom>
          <a:solidFill>
            <a:srgbClr val="FD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5852160" y="5129784"/>
            <a:ext cx="64008" cy="131673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035040" y="5175504"/>
            <a:ext cx="2926080" cy="347472"/>
          </a:xfrm>
          <a:prstGeom prst="rect">
            <a:avLst/>
          </a:prstGeom>
          <a:noFill/>
        </p:spPr>
        <p:txBody>
          <a:bodyPr wrap="square">
            <a:spAutoFit/>
          </a:bodyPr>
          <a:lstStyle/>
          <a:p>
            <a:pPr algn="l"/>
            <a:r>
              <a:rPr sz="950" b="1" i="0">
                <a:solidFill>
                  <a:srgbClr val="B83232"/>
                </a:solidFill>
              </a:rPr>
              <a:t>Univ. Chicago (IL)</a:t>
            </a:r>
          </a:p>
        </p:txBody>
      </p:sp>
      <p:sp>
        <p:nvSpPr>
          <p:cNvPr id="81" name="TextBox 80"/>
          <p:cNvSpPr txBox="1"/>
          <p:nvPr/>
        </p:nvSpPr>
        <p:spPr>
          <a:xfrm>
            <a:off x="9006840" y="5175504"/>
            <a:ext cx="1234440" cy="347472"/>
          </a:xfrm>
          <a:prstGeom prst="rect">
            <a:avLst/>
          </a:prstGeom>
          <a:noFill/>
        </p:spPr>
        <p:txBody>
          <a:bodyPr wrap="square">
            <a:spAutoFit/>
          </a:bodyPr>
          <a:lstStyle/>
          <a:p>
            <a:pPr algn="ctr"/>
            <a:r>
              <a:rPr sz="900" b="0" i="0">
                <a:solidFill>
                  <a:srgbClr val="2D3A4A"/>
                </a:solidFill>
              </a:rPr>
              <a:t>21→12 avg</a:t>
            </a:r>
          </a:p>
        </p:txBody>
      </p:sp>
      <p:sp>
        <p:nvSpPr>
          <p:cNvPr id="82" name="TextBox 81"/>
          <p:cNvSpPr txBox="1"/>
          <p:nvPr/>
        </p:nvSpPr>
        <p:spPr>
          <a:xfrm>
            <a:off x="10314432" y="5175504"/>
            <a:ext cx="640080" cy="347472"/>
          </a:xfrm>
          <a:prstGeom prst="rect">
            <a:avLst/>
          </a:prstGeom>
          <a:noFill/>
        </p:spPr>
        <p:txBody>
          <a:bodyPr wrap="square">
            <a:spAutoFit/>
          </a:bodyPr>
          <a:lstStyle/>
          <a:p>
            <a:pPr algn="ctr"/>
            <a:r>
              <a:rPr sz="1000" b="1" i="0">
                <a:solidFill>
                  <a:srgbClr val="B83232"/>
                </a:solidFill>
              </a:rPr>
              <a:t>−42%</a:t>
            </a:r>
          </a:p>
        </p:txBody>
      </p:sp>
      <p:sp>
        <p:nvSpPr>
          <p:cNvPr id="83" name="TextBox 82"/>
          <p:cNvSpPr txBox="1"/>
          <p:nvPr/>
        </p:nvSpPr>
        <p:spPr>
          <a:xfrm>
            <a:off x="6035040" y="5504688"/>
            <a:ext cx="5833872" cy="822960"/>
          </a:xfrm>
          <a:prstGeom prst="rect">
            <a:avLst/>
          </a:prstGeom>
          <a:noFill/>
        </p:spPr>
        <p:txBody>
          <a:bodyPr wrap="square">
            <a:spAutoFit/>
          </a:bodyPr>
          <a:lstStyle/>
          <a:p>
            <a:pPr algn="l"/>
            <a:r>
              <a:rPr sz="850" b="0" i="0">
                <a:solidFill>
                  <a:srgbClr val="6B7280"/>
                </a:solidFill>
              </a:rPr>
              <a:t>Loyola in same metro — neither policy rewarded Chicago's geographic position.</a:t>
            </a:r>
          </a:p>
        </p:txBody>
      </p:sp>
      <p:sp>
        <p:nvSpPr>
          <p:cNvPr id="84" name="Rectangle 83"/>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Top Centers &amp; Double Losers</a:t>
            </a:r>
          </a:p>
        </p:txBody>
      </p:sp>
      <p:sp>
        <p:nvSpPr>
          <p:cNvPr id="86" name="TextBox 85"/>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5</a:t>
            </a:r>
          </a:p>
        </p:txBody>
      </p:sp>
    </p:spTree>
    <p:extLst>
      <p:ext uri="{BB962C8B-B14F-4D97-AF65-F5344CB8AC3E}">
        <p14:creationId xmlns:p14="http://schemas.microsoft.com/office/powerpoint/2010/main" val="1528387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880360"/>
            <a:ext cx="12188952" cy="64008"/>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94360"/>
            <a:ext cx="11247120" cy="822960"/>
          </a:xfrm>
          <a:prstGeom prst="rect">
            <a:avLst/>
          </a:prstGeom>
          <a:noFill/>
        </p:spPr>
        <p:txBody>
          <a:bodyPr wrap="square">
            <a:spAutoFit/>
          </a:bodyPr>
          <a:lstStyle/>
          <a:p>
            <a:pPr algn="ctr"/>
            <a:r>
              <a:rPr sz="5000" b="1" i="0">
                <a:solidFill>
                  <a:srgbClr val="9BC4E2"/>
                </a:solidFill>
              </a:rPr>
              <a:t>PART 2</a:t>
            </a:r>
          </a:p>
        </p:txBody>
      </p:sp>
      <p:sp>
        <p:nvSpPr>
          <p:cNvPr id="5" name="TextBox 4"/>
          <p:cNvSpPr txBox="1"/>
          <p:nvPr/>
        </p:nvSpPr>
        <p:spPr>
          <a:xfrm>
            <a:off x="457200" y="1417320"/>
            <a:ext cx="11247120" cy="868680"/>
          </a:xfrm>
          <a:prstGeom prst="rect">
            <a:avLst/>
          </a:prstGeom>
          <a:noFill/>
        </p:spPr>
        <p:txBody>
          <a:bodyPr wrap="square">
            <a:spAutoFit/>
          </a:bodyPr>
          <a:lstStyle/>
          <a:p>
            <a:pPr algn="ctr"/>
            <a:r>
              <a:rPr sz="3400" b="1" i="0">
                <a:solidFill>
                  <a:srgbClr val="FFFFFF"/>
                </a:solidFill>
              </a:rPr>
              <a:t>ALUA Program Analysis</a:t>
            </a:r>
          </a:p>
        </p:txBody>
      </p:sp>
      <p:sp>
        <p:nvSpPr>
          <p:cNvPr id="6" name="TextBox 5"/>
          <p:cNvSpPr txBox="1"/>
          <p:nvPr/>
        </p:nvSpPr>
        <p:spPr>
          <a:xfrm>
            <a:off x="457200" y="2286000"/>
            <a:ext cx="11247120" cy="457200"/>
          </a:xfrm>
          <a:prstGeom prst="rect">
            <a:avLst/>
          </a:prstGeom>
          <a:noFill/>
        </p:spPr>
        <p:txBody>
          <a:bodyPr wrap="square">
            <a:spAutoFit/>
          </a:bodyPr>
          <a:lstStyle/>
          <a:p>
            <a:pPr algn="ctr"/>
            <a:r>
              <a:rPr sz="1300" b="0" i="0">
                <a:solidFill>
                  <a:srgbClr val="9BC4E2"/>
                </a:solidFill>
              </a:rPr>
              <a:t>University of Alabama Hospital  ·  Center Code: ALUA  ·  Birmingham, Alabama</a:t>
            </a:r>
          </a:p>
        </p:txBody>
      </p:sp>
      <p:sp>
        <p:nvSpPr>
          <p:cNvPr id="7" name="Rectangle 6"/>
          <p:cNvSpPr/>
          <p:nvPr/>
        </p:nvSpPr>
        <p:spPr>
          <a:xfrm>
            <a:off x="914400" y="3154680"/>
            <a:ext cx="1920240" cy="100584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218688"/>
            <a:ext cx="1920240" cy="553212"/>
          </a:xfrm>
          <a:prstGeom prst="rect">
            <a:avLst/>
          </a:prstGeom>
          <a:noFill/>
        </p:spPr>
        <p:txBody>
          <a:bodyPr wrap="square">
            <a:spAutoFit/>
          </a:bodyPr>
          <a:lstStyle/>
          <a:p>
            <a:pPr algn="ctr"/>
            <a:r>
              <a:rPr sz="2100" b="1" i="0">
                <a:solidFill>
                  <a:srgbClr val="FFFFFF"/>
                </a:solidFill>
              </a:rPr>
              <a:t>31</a:t>
            </a:r>
          </a:p>
        </p:txBody>
      </p:sp>
      <p:sp>
        <p:nvSpPr>
          <p:cNvPr id="9" name="TextBox 8"/>
          <p:cNvSpPr txBox="1"/>
          <p:nvPr/>
        </p:nvSpPr>
        <p:spPr>
          <a:xfrm>
            <a:off x="914400" y="3593592"/>
            <a:ext cx="1920240" cy="422452"/>
          </a:xfrm>
          <a:prstGeom prst="rect">
            <a:avLst/>
          </a:prstGeom>
          <a:noFill/>
        </p:spPr>
        <p:txBody>
          <a:bodyPr wrap="square">
            <a:spAutoFit/>
          </a:bodyPr>
          <a:lstStyle/>
          <a:p>
            <a:pPr algn="ctr"/>
            <a:r>
              <a:rPr sz="850" b="0" i="0">
                <a:solidFill>
                  <a:srgbClr val="C8DEF5"/>
                </a:solidFill>
              </a:rPr>
              <a:t>2025 Volume</a:t>
            </a:r>
          </a:p>
        </p:txBody>
      </p:sp>
      <p:sp>
        <p:nvSpPr>
          <p:cNvPr id="10" name="Rectangle 9"/>
          <p:cNvSpPr/>
          <p:nvPr/>
        </p:nvSpPr>
        <p:spPr>
          <a:xfrm>
            <a:off x="3017520" y="3154680"/>
            <a:ext cx="1920240" cy="100584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17520" y="3218688"/>
            <a:ext cx="1920240" cy="553212"/>
          </a:xfrm>
          <a:prstGeom prst="rect">
            <a:avLst/>
          </a:prstGeom>
          <a:noFill/>
        </p:spPr>
        <p:txBody>
          <a:bodyPr wrap="square">
            <a:spAutoFit/>
          </a:bodyPr>
          <a:lstStyle/>
          <a:p>
            <a:pPr algn="ctr"/>
            <a:r>
              <a:rPr sz="2100" b="1" i="0">
                <a:solidFill>
                  <a:srgbClr val="FFFFFF"/>
                </a:solidFill>
              </a:rPr>
              <a:t>95.7%</a:t>
            </a:r>
          </a:p>
        </p:txBody>
      </p:sp>
      <p:sp>
        <p:nvSpPr>
          <p:cNvPr id="12" name="TextBox 11"/>
          <p:cNvSpPr txBox="1"/>
          <p:nvPr/>
        </p:nvSpPr>
        <p:spPr>
          <a:xfrm>
            <a:off x="3017520" y="3593592"/>
            <a:ext cx="1920240" cy="422452"/>
          </a:xfrm>
          <a:prstGeom prst="rect">
            <a:avLst/>
          </a:prstGeom>
          <a:noFill/>
        </p:spPr>
        <p:txBody>
          <a:bodyPr wrap="square">
            <a:spAutoFit/>
          </a:bodyPr>
          <a:lstStyle/>
          <a:p>
            <a:pPr algn="ctr"/>
            <a:r>
              <a:rPr sz="850" b="0" i="0">
                <a:solidFill>
                  <a:srgbClr val="C8DEF5"/>
                </a:solidFill>
              </a:rPr>
              <a:t>1-yr Survival</a:t>
            </a:r>
          </a:p>
        </p:txBody>
      </p:sp>
      <p:sp>
        <p:nvSpPr>
          <p:cNvPr id="13" name="Rectangle 12"/>
          <p:cNvSpPr/>
          <p:nvPr/>
        </p:nvSpPr>
        <p:spPr>
          <a:xfrm>
            <a:off x="5120640" y="3154680"/>
            <a:ext cx="1920240" cy="100584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20640" y="3218688"/>
            <a:ext cx="1920240" cy="553212"/>
          </a:xfrm>
          <a:prstGeom prst="rect">
            <a:avLst/>
          </a:prstGeom>
          <a:noFill/>
        </p:spPr>
        <p:txBody>
          <a:bodyPr wrap="square">
            <a:spAutoFit/>
          </a:bodyPr>
          <a:lstStyle/>
          <a:p>
            <a:pPr algn="ctr"/>
            <a:r>
              <a:rPr sz="2100" b="1" i="0">
                <a:solidFill>
                  <a:srgbClr val="FFFFFF"/>
                </a:solidFill>
              </a:rPr>
              <a:t>0.69</a:t>
            </a:r>
          </a:p>
        </p:txBody>
      </p:sp>
      <p:sp>
        <p:nvSpPr>
          <p:cNvPr id="15" name="TextBox 14"/>
          <p:cNvSpPr txBox="1"/>
          <p:nvPr/>
        </p:nvSpPr>
        <p:spPr>
          <a:xfrm>
            <a:off x="5120640" y="3593592"/>
            <a:ext cx="1920240" cy="422452"/>
          </a:xfrm>
          <a:prstGeom prst="rect">
            <a:avLst/>
          </a:prstGeom>
          <a:noFill/>
        </p:spPr>
        <p:txBody>
          <a:bodyPr wrap="square">
            <a:spAutoFit/>
          </a:bodyPr>
          <a:lstStyle/>
          <a:p>
            <a:pPr algn="ctr"/>
            <a:r>
              <a:rPr sz="850" b="0" i="0">
                <a:solidFill>
                  <a:srgbClr val="C8DEF5"/>
                </a:solidFill>
              </a:rPr>
              <a:t>PSR Jan 2026 HR</a:t>
            </a:r>
          </a:p>
        </p:txBody>
      </p:sp>
      <p:sp>
        <p:nvSpPr>
          <p:cNvPr id="16" name="Rectangle 15"/>
          <p:cNvSpPr/>
          <p:nvPr/>
        </p:nvSpPr>
        <p:spPr>
          <a:xfrm>
            <a:off x="7223760" y="3154680"/>
            <a:ext cx="1920240" cy="100584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3760" y="3218688"/>
            <a:ext cx="1920240" cy="553212"/>
          </a:xfrm>
          <a:prstGeom prst="rect">
            <a:avLst/>
          </a:prstGeom>
          <a:noFill/>
        </p:spPr>
        <p:txBody>
          <a:bodyPr wrap="square">
            <a:spAutoFit/>
          </a:bodyPr>
          <a:lstStyle/>
          <a:p>
            <a:pPr algn="ctr"/>
            <a:r>
              <a:rPr sz="2100" b="1" i="0">
                <a:solidFill>
                  <a:srgbClr val="FFFFFF"/>
                </a:solidFill>
              </a:rPr>
              <a:t>0.62</a:t>
            </a:r>
          </a:p>
        </p:txBody>
      </p:sp>
      <p:sp>
        <p:nvSpPr>
          <p:cNvPr id="18" name="TextBox 17"/>
          <p:cNvSpPr txBox="1"/>
          <p:nvPr/>
        </p:nvSpPr>
        <p:spPr>
          <a:xfrm>
            <a:off x="7223760" y="3593592"/>
            <a:ext cx="1920240" cy="422452"/>
          </a:xfrm>
          <a:prstGeom prst="rect">
            <a:avLst/>
          </a:prstGeom>
          <a:noFill/>
        </p:spPr>
        <p:txBody>
          <a:bodyPr wrap="square">
            <a:spAutoFit/>
          </a:bodyPr>
          <a:lstStyle/>
          <a:p>
            <a:pPr algn="ctr"/>
            <a:r>
              <a:rPr sz="850" b="0" i="0">
                <a:solidFill>
                  <a:srgbClr val="C8DEF5"/>
                </a:solidFill>
              </a:rPr>
              <a:t>Offer Accept Ratio</a:t>
            </a:r>
          </a:p>
        </p:txBody>
      </p:sp>
      <p:sp>
        <p:nvSpPr>
          <p:cNvPr id="19" name="Rectangle 18"/>
          <p:cNvSpPr/>
          <p:nvPr/>
        </p:nvSpPr>
        <p:spPr>
          <a:xfrm>
            <a:off x="9326880" y="3154680"/>
            <a:ext cx="1920240" cy="100584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0" y="3218688"/>
            <a:ext cx="1920240" cy="553212"/>
          </a:xfrm>
          <a:prstGeom prst="rect">
            <a:avLst/>
          </a:prstGeom>
          <a:noFill/>
        </p:spPr>
        <p:txBody>
          <a:bodyPr wrap="square">
            <a:spAutoFit/>
          </a:bodyPr>
          <a:lstStyle/>
          <a:p>
            <a:pPr algn="ctr"/>
            <a:r>
              <a:rPr sz="2100" b="1" i="0">
                <a:solidFill>
                  <a:srgbClr val="FFFFFF"/>
                </a:solidFill>
              </a:rPr>
              <a:t>9 cases</a:t>
            </a:r>
          </a:p>
        </p:txBody>
      </p:sp>
      <p:sp>
        <p:nvSpPr>
          <p:cNvPr id="21" name="TextBox 20"/>
          <p:cNvSpPr txBox="1"/>
          <p:nvPr/>
        </p:nvSpPr>
        <p:spPr>
          <a:xfrm>
            <a:off x="9326880" y="3593592"/>
            <a:ext cx="1920240" cy="422452"/>
          </a:xfrm>
          <a:prstGeom prst="rect">
            <a:avLst/>
          </a:prstGeom>
          <a:noFill/>
        </p:spPr>
        <p:txBody>
          <a:bodyPr wrap="square">
            <a:spAutoFit/>
          </a:bodyPr>
          <a:lstStyle/>
          <a:p>
            <a:pPr algn="ctr"/>
            <a:r>
              <a:rPr sz="850" b="0" i="0">
                <a:solidFill>
                  <a:srgbClr val="C8DEF5"/>
                </a:solidFill>
              </a:rPr>
              <a:t>2026 Q1 Actual</a:t>
            </a:r>
          </a:p>
        </p:txBody>
      </p:sp>
      <p:sp>
        <p:nvSpPr>
          <p:cNvPr id="22" name="TextBox 21"/>
          <p:cNvSpPr txBox="1"/>
          <p:nvPr/>
        </p:nvSpPr>
        <p:spPr>
          <a:xfrm>
            <a:off x="457200" y="4315968"/>
            <a:ext cx="11247120" cy="384048"/>
          </a:xfrm>
          <a:prstGeom prst="rect">
            <a:avLst/>
          </a:prstGeom>
          <a:noFill/>
        </p:spPr>
        <p:txBody>
          <a:bodyPr wrap="square">
            <a:spAutoFit/>
          </a:bodyPr>
          <a:lstStyle/>
          <a:p>
            <a:pPr algn="ctr"/>
            <a:r>
              <a:rPr sz="1000" b="0" i="0">
                <a:solidFill>
                  <a:srgbClr val="9BC4E2"/>
                </a:solidFill>
              </a:rPr>
              <a:t>SRTR PSR January 2026  ·  Data through October 31, 2025  ·  Rolling PSR April 3, 2026</a:t>
            </a:r>
          </a:p>
        </p:txBody>
      </p:sp>
      <p:sp>
        <p:nvSpPr>
          <p:cNvPr id="23" name="TextBox 22"/>
          <p:cNvSpPr txBox="1"/>
          <p:nvPr/>
        </p:nvSpPr>
        <p:spPr>
          <a:xfrm>
            <a:off x="731520" y="4846320"/>
            <a:ext cx="5669280" cy="347472"/>
          </a:xfrm>
          <a:prstGeom prst="rect">
            <a:avLst/>
          </a:prstGeom>
          <a:noFill/>
        </p:spPr>
        <p:txBody>
          <a:bodyPr wrap="square">
            <a:spAutoFit/>
          </a:bodyPr>
          <a:lstStyle/>
          <a:p>
            <a:pPr algn="l"/>
            <a:r>
              <a:rPr sz="1050" b="0" i="0">
                <a:solidFill>
                  <a:srgbClr val="FFFFFF"/>
                </a:solidFill>
              </a:rPr>
              <a:t>1. Historical Volume &amp; Events</a:t>
            </a:r>
          </a:p>
        </p:txBody>
      </p:sp>
      <p:sp>
        <p:nvSpPr>
          <p:cNvPr id="24" name="TextBox 23"/>
          <p:cNvSpPr txBox="1"/>
          <p:nvPr/>
        </p:nvSpPr>
        <p:spPr>
          <a:xfrm>
            <a:off x="6675120" y="4846320"/>
            <a:ext cx="5669280" cy="347472"/>
          </a:xfrm>
          <a:prstGeom prst="rect">
            <a:avLst/>
          </a:prstGeom>
          <a:noFill/>
        </p:spPr>
        <p:txBody>
          <a:bodyPr wrap="square">
            <a:spAutoFit/>
          </a:bodyPr>
          <a:lstStyle/>
          <a:p>
            <a:pPr algn="l"/>
            <a:r>
              <a:rPr sz="1050" b="0" i="0">
                <a:solidFill>
                  <a:srgbClr val="FFFFFF"/>
                </a:solidFill>
              </a:rPr>
              <a:t>2. SRTR Outcomes (PSR Jan 2026)</a:t>
            </a:r>
          </a:p>
        </p:txBody>
      </p:sp>
      <p:sp>
        <p:nvSpPr>
          <p:cNvPr id="25" name="TextBox 24"/>
          <p:cNvSpPr txBox="1"/>
          <p:nvPr/>
        </p:nvSpPr>
        <p:spPr>
          <a:xfrm>
            <a:off x="731520" y="5230368"/>
            <a:ext cx="5669280" cy="347472"/>
          </a:xfrm>
          <a:prstGeom prst="rect">
            <a:avLst/>
          </a:prstGeom>
          <a:noFill/>
        </p:spPr>
        <p:txBody>
          <a:bodyPr wrap="square">
            <a:spAutoFit/>
          </a:bodyPr>
          <a:lstStyle/>
          <a:p>
            <a:pPr algn="l"/>
            <a:r>
              <a:rPr sz="1050" b="0" i="0">
                <a:solidFill>
                  <a:srgbClr val="FFFFFF"/>
                </a:solidFill>
              </a:rPr>
              <a:t>3. Rolling HR Surveillance</a:t>
            </a:r>
          </a:p>
        </p:txBody>
      </p:sp>
      <p:sp>
        <p:nvSpPr>
          <p:cNvPr id="26" name="TextBox 25"/>
          <p:cNvSpPr txBox="1"/>
          <p:nvPr/>
        </p:nvSpPr>
        <p:spPr>
          <a:xfrm>
            <a:off x="6675120" y="5230368"/>
            <a:ext cx="5669280" cy="347472"/>
          </a:xfrm>
          <a:prstGeom prst="rect">
            <a:avLst/>
          </a:prstGeom>
          <a:noFill/>
        </p:spPr>
        <p:txBody>
          <a:bodyPr wrap="square">
            <a:spAutoFit/>
          </a:bodyPr>
          <a:lstStyle/>
          <a:p>
            <a:pPr algn="l"/>
            <a:r>
              <a:rPr sz="1050" b="0" i="0">
                <a:solidFill>
                  <a:srgbClr val="FFFFFF"/>
                </a:solidFill>
              </a:rPr>
              <a:t>4. Offer Acceptance Analysis</a:t>
            </a:r>
          </a:p>
        </p:txBody>
      </p:sp>
      <p:sp>
        <p:nvSpPr>
          <p:cNvPr id="27" name="TextBox 26"/>
          <p:cNvSpPr txBox="1"/>
          <p:nvPr/>
        </p:nvSpPr>
        <p:spPr>
          <a:xfrm>
            <a:off x="731520" y="5614416"/>
            <a:ext cx="5669280" cy="347472"/>
          </a:xfrm>
          <a:prstGeom prst="rect">
            <a:avLst/>
          </a:prstGeom>
          <a:noFill/>
        </p:spPr>
        <p:txBody>
          <a:bodyPr wrap="square">
            <a:spAutoFit/>
          </a:bodyPr>
          <a:lstStyle/>
          <a:p>
            <a:pPr algn="l"/>
            <a:r>
              <a:rPr sz="1050" b="0" i="0">
                <a:solidFill>
                  <a:srgbClr val="FFFFFF"/>
                </a:solidFill>
              </a:rPr>
              <a:t>5. Regression Forecast 2026–30</a:t>
            </a:r>
          </a:p>
        </p:txBody>
      </p:sp>
      <p:sp>
        <p:nvSpPr>
          <p:cNvPr id="28" name="TextBox 27"/>
          <p:cNvSpPr txBox="1"/>
          <p:nvPr/>
        </p:nvSpPr>
        <p:spPr>
          <a:xfrm>
            <a:off x="6675120" y="5614416"/>
            <a:ext cx="5669280" cy="347472"/>
          </a:xfrm>
          <a:prstGeom prst="rect">
            <a:avLst/>
          </a:prstGeom>
          <a:noFill/>
        </p:spPr>
        <p:txBody>
          <a:bodyPr wrap="square">
            <a:spAutoFit/>
          </a:bodyPr>
          <a:lstStyle/>
          <a:p>
            <a:pPr algn="l"/>
            <a:r>
              <a:rPr sz="1050" b="0" i="0">
                <a:solidFill>
                  <a:srgbClr val="FFFFFF"/>
                </a:solidFill>
              </a:rPr>
              <a:t>6. Monte Carlo Probability</a:t>
            </a:r>
          </a:p>
        </p:txBody>
      </p:sp>
      <p:sp>
        <p:nvSpPr>
          <p:cNvPr id="29" name="TextBox 28"/>
          <p:cNvSpPr txBox="1"/>
          <p:nvPr/>
        </p:nvSpPr>
        <p:spPr>
          <a:xfrm>
            <a:off x="731520" y="5998464"/>
            <a:ext cx="5669280" cy="347472"/>
          </a:xfrm>
          <a:prstGeom prst="rect">
            <a:avLst/>
          </a:prstGeom>
          <a:noFill/>
        </p:spPr>
        <p:txBody>
          <a:bodyPr wrap="square">
            <a:spAutoFit/>
          </a:bodyPr>
          <a:lstStyle/>
          <a:p>
            <a:pPr algn="l"/>
            <a:r>
              <a:rPr sz="1050" b="0" i="0">
                <a:solidFill>
                  <a:srgbClr val="FFFFFF"/>
                </a:solidFill>
              </a:rPr>
              <a:t>7. Clinical Profile &amp; Recommendations</a:t>
            </a:r>
          </a:p>
        </p:txBody>
      </p:sp>
    </p:spTree>
    <p:extLst>
      <p:ext uri="{BB962C8B-B14F-4D97-AF65-F5344CB8AC3E}">
        <p14:creationId xmlns:p14="http://schemas.microsoft.com/office/powerpoint/2010/main" val="1277537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ALUA — Historical Volume 2005–2025</a:t>
            </a:r>
          </a:p>
        </p:txBody>
      </p:sp>
      <p:sp>
        <p:nvSpPr>
          <p:cNvPr id="4" name="TextBox 3"/>
          <p:cNvSpPr txBox="1"/>
          <p:nvPr/>
        </p:nvSpPr>
        <p:spPr>
          <a:xfrm>
            <a:off x="228600" y="384048"/>
            <a:ext cx="11430000" cy="274320"/>
          </a:xfrm>
          <a:prstGeom prst="rect">
            <a:avLst/>
          </a:prstGeom>
          <a:noFill/>
        </p:spPr>
        <p:txBody>
          <a:bodyPr wrap="square">
            <a:spAutoFit/>
          </a:bodyPr>
          <a:lstStyle/>
          <a:p>
            <a:pPr algn="l"/>
            <a:r>
              <a:rPr sz="950" b="0" i="0">
                <a:solidFill>
                  <a:srgbClr val="C8DEF5"/>
                </a:solidFill>
              </a:rPr>
              <a:t>Structural event analysis across leadership transitions and policy changes</a:t>
            </a:r>
          </a:p>
        </p:txBody>
      </p:sp>
      <p:pic>
        <p:nvPicPr>
          <p:cNvPr id="5" name="Picture 4" descr="alua_volume.png"/>
          <p:cNvPicPr>
            <a:picLocks noChangeAspect="1"/>
          </p:cNvPicPr>
          <p:nvPr/>
        </p:nvPicPr>
        <p:blipFill>
          <a:blip r:embed="rId3"/>
          <a:stretch>
            <a:fillRect/>
          </a:stretch>
        </p:blipFill>
        <p:spPr>
          <a:xfrm>
            <a:off x="182880" y="566928"/>
            <a:ext cx="7680960" cy="4434840"/>
          </a:xfrm>
          <a:prstGeom prst="rect">
            <a:avLst/>
          </a:prstGeom>
        </p:spPr>
      </p:pic>
      <p:sp>
        <p:nvSpPr>
          <p:cNvPr id="6" name="TextBox 5"/>
          <p:cNvSpPr txBox="1"/>
          <p:nvPr/>
        </p:nvSpPr>
        <p:spPr>
          <a:xfrm>
            <a:off x="8229600" y="621792"/>
            <a:ext cx="3749039" cy="347472"/>
          </a:xfrm>
          <a:prstGeom prst="rect">
            <a:avLst/>
          </a:prstGeom>
          <a:noFill/>
        </p:spPr>
        <p:txBody>
          <a:bodyPr wrap="square">
            <a:spAutoFit/>
          </a:bodyPr>
          <a:lstStyle/>
          <a:p>
            <a:pPr algn="l"/>
            <a:r>
              <a:rPr sz="1100" b="1" i="0">
                <a:solidFill>
                  <a:srgbClr val="1E3A5F"/>
                </a:solidFill>
              </a:rPr>
              <a:t>Structural Events</a:t>
            </a:r>
          </a:p>
        </p:txBody>
      </p:sp>
      <p:sp>
        <p:nvSpPr>
          <p:cNvPr id="7" name="Rectangle 6"/>
          <p:cNvSpPr/>
          <p:nvPr/>
        </p:nvSpPr>
        <p:spPr>
          <a:xfrm>
            <a:off x="8229600" y="1024128"/>
            <a:ext cx="64008" cy="3657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39327" y="1042415"/>
            <a:ext cx="777240" cy="274320"/>
          </a:xfrm>
          <a:prstGeom prst="rect">
            <a:avLst/>
          </a:prstGeom>
          <a:noFill/>
        </p:spPr>
        <p:txBody>
          <a:bodyPr wrap="square">
            <a:spAutoFit/>
          </a:bodyPr>
          <a:lstStyle/>
          <a:p>
            <a:pPr algn="l"/>
            <a:r>
              <a:rPr sz="800" b="1" i="0">
                <a:solidFill>
                  <a:srgbClr val="6B7280"/>
                </a:solidFill>
              </a:rPr>
              <a:t>2006</a:t>
            </a:r>
          </a:p>
        </p:txBody>
      </p:sp>
      <p:sp>
        <p:nvSpPr>
          <p:cNvPr id="9" name="TextBox 8"/>
          <p:cNvSpPr txBox="1"/>
          <p:nvPr/>
        </p:nvSpPr>
        <p:spPr>
          <a:xfrm>
            <a:off x="9162288" y="1042415"/>
            <a:ext cx="1417320" cy="274320"/>
          </a:xfrm>
          <a:prstGeom prst="rect">
            <a:avLst/>
          </a:prstGeom>
          <a:noFill/>
        </p:spPr>
        <p:txBody>
          <a:bodyPr wrap="square">
            <a:spAutoFit/>
          </a:bodyPr>
          <a:lstStyle/>
          <a:p>
            <a:pPr algn="l"/>
            <a:r>
              <a:rPr sz="850" b="1" i="0">
                <a:solidFill>
                  <a:srgbClr val="2D3A4A"/>
                </a:solidFill>
              </a:rPr>
              <a:t>Peak: 34 cases</a:t>
            </a:r>
          </a:p>
        </p:txBody>
      </p:sp>
      <p:sp>
        <p:nvSpPr>
          <p:cNvPr id="10" name="TextBox 9"/>
          <p:cNvSpPr txBox="1"/>
          <p:nvPr/>
        </p:nvSpPr>
        <p:spPr>
          <a:xfrm>
            <a:off x="10625328" y="1042415"/>
            <a:ext cx="1444752" cy="274320"/>
          </a:xfrm>
          <a:prstGeom prst="rect">
            <a:avLst/>
          </a:prstGeom>
          <a:noFill/>
        </p:spPr>
        <p:txBody>
          <a:bodyPr wrap="square">
            <a:spAutoFit/>
          </a:bodyPr>
          <a:lstStyle/>
          <a:p>
            <a:pPr algn="l"/>
            <a:r>
              <a:rPr sz="800" b="0" i="0">
                <a:solidFill>
                  <a:srgbClr val="6B7280"/>
                </a:solidFill>
              </a:rPr>
              <a:t>All-time high</a:t>
            </a:r>
          </a:p>
        </p:txBody>
      </p:sp>
      <p:sp>
        <p:nvSpPr>
          <p:cNvPr id="11" name="Rectangle 10"/>
          <p:cNvSpPr/>
          <p:nvPr/>
        </p:nvSpPr>
        <p:spPr>
          <a:xfrm>
            <a:off x="8229600" y="1444752"/>
            <a:ext cx="64008"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9327" y="1463039"/>
            <a:ext cx="777240" cy="274320"/>
          </a:xfrm>
          <a:prstGeom prst="rect">
            <a:avLst/>
          </a:prstGeom>
          <a:noFill/>
        </p:spPr>
        <p:txBody>
          <a:bodyPr wrap="square">
            <a:spAutoFit/>
          </a:bodyPr>
          <a:lstStyle/>
          <a:p>
            <a:pPr algn="l"/>
            <a:r>
              <a:rPr sz="800" b="1" i="0">
                <a:solidFill>
                  <a:srgbClr val="1E3A5F"/>
                </a:solidFill>
              </a:rPr>
              <a:t>2017</a:t>
            </a:r>
          </a:p>
        </p:txBody>
      </p:sp>
      <p:sp>
        <p:nvSpPr>
          <p:cNvPr id="13" name="TextBox 12"/>
          <p:cNvSpPr txBox="1"/>
          <p:nvPr/>
        </p:nvSpPr>
        <p:spPr>
          <a:xfrm>
            <a:off x="9162288" y="1463039"/>
            <a:ext cx="1417320" cy="274320"/>
          </a:xfrm>
          <a:prstGeom prst="rect">
            <a:avLst/>
          </a:prstGeom>
          <a:noFill/>
        </p:spPr>
        <p:txBody>
          <a:bodyPr wrap="square">
            <a:spAutoFit/>
          </a:bodyPr>
          <a:lstStyle/>
          <a:p>
            <a:pPr algn="l"/>
            <a:r>
              <a:rPr sz="850" b="1" i="0">
                <a:solidFill>
                  <a:srgbClr val="2D3A4A"/>
                </a:solidFill>
              </a:rPr>
              <a:t>DSA removed</a:t>
            </a:r>
          </a:p>
        </p:txBody>
      </p:sp>
      <p:sp>
        <p:nvSpPr>
          <p:cNvPr id="14" name="TextBox 13"/>
          <p:cNvSpPr txBox="1"/>
          <p:nvPr/>
        </p:nvSpPr>
        <p:spPr>
          <a:xfrm>
            <a:off x="10625328" y="1463039"/>
            <a:ext cx="1444752" cy="274320"/>
          </a:xfrm>
          <a:prstGeom prst="rect">
            <a:avLst/>
          </a:prstGeom>
          <a:noFill/>
        </p:spPr>
        <p:txBody>
          <a:bodyPr wrap="square">
            <a:spAutoFit/>
          </a:bodyPr>
          <a:lstStyle/>
          <a:p>
            <a:pPr algn="l"/>
            <a:r>
              <a:rPr sz="800" b="0" i="0">
                <a:solidFill>
                  <a:srgbClr val="6B7280"/>
                </a:solidFill>
              </a:rPr>
              <a:t>−20% vs peer +10.5%</a:t>
            </a:r>
          </a:p>
        </p:txBody>
      </p:sp>
      <p:sp>
        <p:nvSpPr>
          <p:cNvPr id="15" name="Rectangle 14"/>
          <p:cNvSpPr/>
          <p:nvPr/>
        </p:nvSpPr>
        <p:spPr>
          <a:xfrm>
            <a:off x="8229600" y="1865376"/>
            <a:ext cx="64008" cy="365760"/>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9327" y="1883664"/>
            <a:ext cx="777240" cy="274320"/>
          </a:xfrm>
          <a:prstGeom prst="rect">
            <a:avLst/>
          </a:prstGeom>
          <a:noFill/>
        </p:spPr>
        <p:txBody>
          <a:bodyPr wrap="square">
            <a:spAutoFit/>
          </a:bodyPr>
          <a:lstStyle/>
          <a:p>
            <a:pPr algn="l"/>
            <a:r>
              <a:rPr sz="800" b="1" i="0">
                <a:solidFill>
                  <a:srgbClr val="B83232"/>
                </a:solidFill>
              </a:rPr>
              <a:t>2019</a:t>
            </a:r>
          </a:p>
        </p:txBody>
      </p:sp>
      <p:sp>
        <p:nvSpPr>
          <p:cNvPr id="17" name="TextBox 16"/>
          <p:cNvSpPr txBox="1"/>
          <p:nvPr/>
        </p:nvSpPr>
        <p:spPr>
          <a:xfrm>
            <a:off x="9162288" y="1883664"/>
            <a:ext cx="1417320" cy="274320"/>
          </a:xfrm>
          <a:prstGeom prst="rect">
            <a:avLst/>
          </a:prstGeom>
          <a:noFill/>
        </p:spPr>
        <p:txBody>
          <a:bodyPr wrap="square">
            <a:spAutoFit/>
          </a:bodyPr>
          <a:lstStyle/>
          <a:p>
            <a:pPr algn="l"/>
            <a:r>
              <a:rPr sz="850" b="1" i="0">
                <a:solidFill>
                  <a:srgbClr val="2D3A4A"/>
                </a:solidFill>
              </a:rPr>
              <a:t>Leadership crisis</a:t>
            </a:r>
          </a:p>
        </p:txBody>
      </p:sp>
      <p:sp>
        <p:nvSpPr>
          <p:cNvPr id="18" name="TextBox 17"/>
          <p:cNvSpPr txBox="1"/>
          <p:nvPr/>
        </p:nvSpPr>
        <p:spPr>
          <a:xfrm>
            <a:off x="10625328" y="1883664"/>
            <a:ext cx="1444752" cy="274320"/>
          </a:xfrm>
          <a:prstGeom prst="rect">
            <a:avLst/>
          </a:prstGeom>
          <a:noFill/>
        </p:spPr>
        <p:txBody>
          <a:bodyPr wrap="square">
            <a:spAutoFit/>
          </a:bodyPr>
          <a:lstStyle/>
          <a:p>
            <a:pPr algn="l"/>
            <a:r>
              <a:rPr sz="800" b="0" i="0">
                <a:solidFill>
                  <a:srgbClr val="6B7280"/>
                </a:solidFill>
              </a:rPr>
              <a:t>Trough 8 cases (−58%)</a:t>
            </a:r>
          </a:p>
        </p:txBody>
      </p:sp>
      <p:sp>
        <p:nvSpPr>
          <p:cNvPr id="19" name="Rectangle 18"/>
          <p:cNvSpPr/>
          <p:nvPr/>
        </p:nvSpPr>
        <p:spPr>
          <a:xfrm>
            <a:off x="8229600" y="2286000"/>
            <a:ext cx="64008" cy="36576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9327" y="2304288"/>
            <a:ext cx="777240" cy="274320"/>
          </a:xfrm>
          <a:prstGeom prst="rect">
            <a:avLst/>
          </a:prstGeom>
          <a:noFill/>
        </p:spPr>
        <p:txBody>
          <a:bodyPr wrap="square">
            <a:spAutoFit/>
          </a:bodyPr>
          <a:lstStyle/>
          <a:p>
            <a:pPr algn="l"/>
            <a:r>
              <a:rPr sz="800" b="1" i="0">
                <a:solidFill>
                  <a:srgbClr val="1A7A4A"/>
                </a:solidFill>
              </a:rPr>
              <a:t>Dec 2020</a:t>
            </a:r>
          </a:p>
        </p:txBody>
      </p:sp>
      <p:sp>
        <p:nvSpPr>
          <p:cNvPr id="21" name="TextBox 20"/>
          <p:cNvSpPr txBox="1"/>
          <p:nvPr/>
        </p:nvSpPr>
        <p:spPr>
          <a:xfrm>
            <a:off x="9162288" y="2304288"/>
            <a:ext cx="1417320" cy="274320"/>
          </a:xfrm>
          <a:prstGeom prst="rect">
            <a:avLst/>
          </a:prstGeom>
          <a:noFill/>
        </p:spPr>
        <p:txBody>
          <a:bodyPr wrap="square">
            <a:spAutoFit/>
          </a:bodyPr>
          <a:lstStyle/>
          <a:p>
            <a:pPr algn="l"/>
            <a:r>
              <a:rPr sz="850" b="1" i="0">
                <a:solidFill>
                  <a:srgbClr val="2D3A4A"/>
                </a:solidFill>
              </a:rPr>
              <a:t>New MD joins</a:t>
            </a:r>
          </a:p>
        </p:txBody>
      </p:sp>
      <p:sp>
        <p:nvSpPr>
          <p:cNvPr id="22" name="TextBox 21"/>
          <p:cNvSpPr txBox="1"/>
          <p:nvPr/>
        </p:nvSpPr>
        <p:spPr>
          <a:xfrm>
            <a:off x="10625328" y="2304288"/>
            <a:ext cx="1444752" cy="274320"/>
          </a:xfrm>
          <a:prstGeom prst="rect">
            <a:avLst/>
          </a:prstGeom>
          <a:noFill/>
        </p:spPr>
        <p:txBody>
          <a:bodyPr wrap="square">
            <a:spAutoFit/>
          </a:bodyPr>
          <a:lstStyle/>
          <a:p>
            <a:pPr algn="l"/>
            <a:r>
              <a:rPr sz="800" b="0" i="0">
                <a:solidFill>
                  <a:srgbClr val="6B7280"/>
                </a:solidFill>
              </a:rPr>
              <a:t>+11.2/yr effect (p=0.024)</a:t>
            </a:r>
          </a:p>
        </p:txBody>
      </p:sp>
      <p:sp>
        <p:nvSpPr>
          <p:cNvPr id="23" name="Rectangle 22"/>
          <p:cNvSpPr/>
          <p:nvPr/>
        </p:nvSpPr>
        <p:spPr>
          <a:xfrm>
            <a:off x="8229600" y="2706624"/>
            <a:ext cx="64008" cy="36576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39327" y="2724912"/>
            <a:ext cx="777240" cy="274320"/>
          </a:xfrm>
          <a:prstGeom prst="rect">
            <a:avLst/>
          </a:prstGeom>
          <a:noFill/>
        </p:spPr>
        <p:txBody>
          <a:bodyPr wrap="square">
            <a:spAutoFit/>
          </a:bodyPr>
          <a:lstStyle/>
          <a:p>
            <a:pPr algn="l"/>
            <a:r>
              <a:rPr sz="800" b="1" i="0">
                <a:solidFill>
                  <a:srgbClr val="1A7A4A"/>
                </a:solidFill>
              </a:rPr>
              <a:t>2021–23</a:t>
            </a:r>
          </a:p>
        </p:txBody>
      </p:sp>
      <p:sp>
        <p:nvSpPr>
          <p:cNvPr id="25" name="TextBox 24"/>
          <p:cNvSpPr txBox="1"/>
          <p:nvPr/>
        </p:nvSpPr>
        <p:spPr>
          <a:xfrm>
            <a:off x="9162288" y="2724912"/>
            <a:ext cx="1417320" cy="274320"/>
          </a:xfrm>
          <a:prstGeom prst="rect">
            <a:avLst/>
          </a:prstGeom>
          <a:noFill/>
        </p:spPr>
        <p:txBody>
          <a:bodyPr wrap="square">
            <a:spAutoFit/>
          </a:bodyPr>
          <a:lstStyle/>
          <a:p>
            <a:pPr algn="l"/>
            <a:r>
              <a:rPr sz="850" b="1" i="0">
                <a:solidFill>
                  <a:srgbClr val="2D3A4A"/>
                </a:solidFill>
              </a:rPr>
              <a:t>Recovery era</a:t>
            </a:r>
          </a:p>
        </p:txBody>
      </p:sp>
      <p:sp>
        <p:nvSpPr>
          <p:cNvPr id="26" name="TextBox 25"/>
          <p:cNvSpPr txBox="1"/>
          <p:nvPr/>
        </p:nvSpPr>
        <p:spPr>
          <a:xfrm>
            <a:off x="10625328" y="2724912"/>
            <a:ext cx="1444752" cy="274320"/>
          </a:xfrm>
          <a:prstGeom prst="rect">
            <a:avLst/>
          </a:prstGeom>
          <a:noFill/>
        </p:spPr>
        <p:txBody>
          <a:bodyPr wrap="square">
            <a:spAutoFit/>
          </a:bodyPr>
          <a:lstStyle/>
          <a:p>
            <a:pPr algn="l"/>
            <a:r>
              <a:rPr sz="800" b="0" i="0">
                <a:solidFill>
                  <a:srgbClr val="6B7280"/>
                </a:solidFill>
              </a:rPr>
              <a:t>27→25→23 cases/yr</a:t>
            </a:r>
          </a:p>
        </p:txBody>
      </p:sp>
      <p:sp>
        <p:nvSpPr>
          <p:cNvPr id="27" name="Rectangle 26"/>
          <p:cNvSpPr/>
          <p:nvPr/>
        </p:nvSpPr>
        <p:spPr>
          <a:xfrm>
            <a:off x="8229600" y="3127248"/>
            <a:ext cx="64008" cy="36576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9327" y="3145536"/>
            <a:ext cx="777240" cy="274320"/>
          </a:xfrm>
          <a:prstGeom prst="rect">
            <a:avLst/>
          </a:prstGeom>
          <a:noFill/>
        </p:spPr>
        <p:txBody>
          <a:bodyPr wrap="square">
            <a:spAutoFit/>
          </a:bodyPr>
          <a:lstStyle/>
          <a:p>
            <a:pPr algn="l"/>
            <a:r>
              <a:rPr sz="800" b="1" i="0">
                <a:solidFill>
                  <a:srgbClr val="C47A00"/>
                </a:solidFill>
              </a:rPr>
              <a:t>Oct 2024</a:t>
            </a:r>
          </a:p>
        </p:txBody>
      </p:sp>
      <p:sp>
        <p:nvSpPr>
          <p:cNvPr id="29" name="TextBox 28"/>
          <p:cNvSpPr txBox="1"/>
          <p:nvPr/>
        </p:nvSpPr>
        <p:spPr>
          <a:xfrm>
            <a:off x="9162288" y="3145536"/>
            <a:ext cx="1417320" cy="274320"/>
          </a:xfrm>
          <a:prstGeom prst="rect">
            <a:avLst/>
          </a:prstGeom>
          <a:noFill/>
        </p:spPr>
        <p:txBody>
          <a:bodyPr wrap="square">
            <a:spAutoFit/>
          </a:bodyPr>
          <a:lstStyle/>
          <a:p>
            <a:pPr algn="l"/>
            <a:r>
              <a:rPr sz="850" b="1" i="0">
                <a:solidFill>
                  <a:srgbClr val="2D3A4A"/>
                </a:solidFill>
              </a:rPr>
              <a:t>Surgeon departs</a:t>
            </a:r>
          </a:p>
        </p:txBody>
      </p:sp>
      <p:sp>
        <p:nvSpPr>
          <p:cNvPr id="30" name="TextBox 29"/>
          <p:cNvSpPr txBox="1"/>
          <p:nvPr/>
        </p:nvSpPr>
        <p:spPr>
          <a:xfrm>
            <a:off x="10625328" y="3145536"/>
            <a:ext cx="1444752" cy="274320"/>
          </a:xfrm>
          <a:prstGeom prst="rect">
            <a:avLst/>
          </a:prstGeom>
          <a:noFill/>
        </p:spPr>
        <p:txBody>
          <a:bodyPr wrap="square">
            <a:spAutoFit/>
          </a:bodyPr>
          <a:lstStyle/>
          <a:p>
            <a:pPr algn="l"/>
            <a:r>
              <a:rPr sz="800" b="0" i="0">
                <a:solidFill>
                  <a:srgbClr val="6B7280"/>
                </a:solidFill>
              </a:rPr>
              <a:t>−22% dip → 18 cases</a:t>
            </a:r>
          </a:p>
        </p:txBody>
      </p:sp>
      <p:sp>
        <p:nvSpPr>
          <p:cNvPr id="31" name="Rectangle 30"/>
          <p:cNvSpPr/>
          <p:nvPr/>
        </p:nvSpPr>
        <p:spPr>
          <a:xfrm>
            <a:off x="8229600" y="3547872"/>
            <a:ext cx="64008" cy="36576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39327" y="3566160"/>
            <a:ext cx="777240" cy="274320"/>
          </a:xfrm>
          <a:prstGeom prst="rect">
            <a:avLst/>
          </a:prstGeom>
          <a:noFill/>
        </p:spPr>
        <p:txBody>
          <a:bodyPr wrap="square">
            <a:spAutoFit/>
          </a:bodyPr>
          <a:lstStyle/>
          <a:p>
            <a:pPr algn="l"/>
            <a:r>
              <a:rPr sz="800" b="1" i="0">
                <a:solidFill>
                  <a:srgbClr val="1A7A4A"/>
                </a:solidFill>
              </a:rPr>
              <a:t>Apr 2025</a:t>
            </a:r>
          </a:p>
        </p:txBody>
      </p:sp>
      <p:sp>
        <p:nvSpPr>
          <p:cNvPr id="33" name="TextBox 32"/>
          <p:cNvSpPr txBox="1"/>
          <p:nvPr/>
        </p:nvSpPr>
        <p:spPr>
          <a:xfrm>
            <a:off x="9162288" y="3566160"/>
            <a:ext cx="1417320" cy="274320"/>
          </a:xfrm>
          <a:prstGeom prst="rect">
            <a:avLst/>
          </a:prstGeom>
          <a:noFill/>
        </p:spPr>
        <p:txBody>
          <a:bodyPr wrap="square">
            <a:spAutoFit/>
          </a:bodyPr>
          <a:lstStyle/>
          <a:p>
            <a:pPr algn="l"/>
            <a:r>
              <a:rPr sz="850" b="1" i="0">
                <a:solidFill>
                  <a:srgbClr val="2D3A4A"/>
                </a:solidFill>
              </a:rPr>
              <a:t>New surgeon</a:t>
            </a:r>
          </a:p>
        </p:txBody>
      </p:sp>
      <p:sp>
        <p:nvSpPr>
          <p:cNvPr id="34" name="TextBox 33"/>
          <p:cNvSpPr txBox="1"/>
          <p:nvPr/>
        </p:nvSpPr>
        <p:spPr>
          <a:xfrm>
            <a:off x="10625328" y="3566160"/>
            <a:ext cx="1444752" cy="274320"/>
          </a:xfrm>
          <a:prstGeom prst="rect">
            <a:avLst/>
          </a:prstGeom>
          <a:noFill/>
        </p:spPr>
        <p:txBody>
          <a:bodyPr wrap="square">
            <a:spAutoFit/>
          </a:bodyPr>
          <a:lstStyle/>
          <a:p>
            <a:pPr algn="l"/>
            <a:r>
              <a:rPr sz="800" b="0" i="0">
                <a:solidFill>
                  <a:srgbClr val="6B7280"/>
                </a:solidFill>
              </a:rPr>
              <a:t>31 cases — best since 2007</a:t>
            </a:r>
          </a:p>
        </p:txBody>
      </p:sp>
      <p:sp>
        <p:nvSpPr>
          <p:cNvPr id="35" name="Rectangle 34"/>
          <p:cNvSpPr/>
          <p:nvPr/>
        </p:nvSpPr>
        <p:spPr>
          <a:xfrm>
            <a:off x="8229600" y="3968496"/>
            <a:ext cx="64008" cy="365760"/>
          </a:xfrm>
          <a:prstGeom prst="rect">
            <a:avLst/>
          </a:prstGeom>
          <a:solidFill>
            <a:srgbClr val="1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39327" y="3986784"/>
            <a:ext cx="777240" cy="274320"/>
          </a:xfrm>
          <a:prstGeom prst="rect">
            <a:avLst/>
          </a:prstGeom>
          <a:noFill/>
        </p:spPr>
        <p:txBody>
          <a:bodyPr wrap="square">
            <a:spAutoFit/>
          </a:bodyPr>
          <a:lstStyle/>
          <a:p>
            <a:pPr algn="l"/>
            <a:r>
              <a:rPr sz="800" b="1" i="0">
                <a:solidFill>
                  <a:srgbClr val="1A7A8A"/>
                </a:solidFill>
              </a:rPr>
              <a:t>Q1 2026</a:t>
            </a:r>
          </a:p>
        </p:txBody>
      </p:sp>
      <p:sp>
        <p:nvSpPr>
          <p:cNvPr id="37" name="TextBox 36"/>
          <p:cNvSpPr txBox="1"/>
          <p:nvPr/>
        </p:nvSpPr>
        <p:spPr>
          <a:xfrm>
            <a:off x="9162288" y="3986784"/>
            <a:ext cx="1417320" cy="274320"/>
          </a:xfrm>
          <a:prstGeom prst="rect">
            <a:avLst/>
          </a:prstGeom>
          <a:noFill/>
        </p:spPr>
        <p:txBody>
          <a:bodyPr wrap="square">
            <a:spAutoFit/>
          </a:bodyPr>
          <a:lstStyle/>
          <a:p>
            <a:pPr algn="l"/>
            <a:r>
              <a:rPr sz="850" b="1" i="0">
                <a:solidFill>
                  <a:srgbClr val="2D3A4A"/>
                </a:solidFill>
              </a:rPr>
              <a:t>9 actual cases</a:t>
            </a:r>
          </a:p>
        </p:txBody>
      </p:sp>
      <p:sp>
        <p:nvSpPr>
          <p:cNvPr id="38" name="TextBox 37"/>
          <p:cNvSpPr txBox="1"/>
          <p:nvPr/>
        </p:nvSpPr>
        <p:spPr>
          <a:xfrm>
            <a:off x="10625328" y="3986784"/>
            <a:ext cx="1444752" cy="274320"/>
          </a:xfrm>
          <a:prstGeom prst="rect">
            <a:avLst/>
          </a:prstGeom>
          <a:noFill/>
        </p:spPr>
        <p:txBody>
          <a:bodyPr wrap="square">
            <a:spAutoFit/>
          </a:bodyPr>
          <a:lstStyle/>
          <a:p>
            <a:pPr algn="l"/>
            <a:r>
              <a:rPr sz="800" b="0" i="0">
                <a:solidFill>
                  <a:srgbClr val="6B7280"/>
                </a:solidFill>
              </a:rPr>
              <a:t>Annualizes to ~36/yr</a:t>
            </a:r>
          </a:p>
        </p:txBody>
      </p:sp>
      <p:sp>
        <p:nvSpPr>
          <p:cNvPr id="39" name="Rectangle 38"/>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ALUA Historical Volume</a:t>
            </a:r>
          </a:p>
        </p:txBody>
      </p:sp>
      <p:sp>
        <p:nvSpPr>
          <p:cNvPr id="41" name="TextBox 40"/>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7</a:t>
            </a:r>
          </a:p>
        </p:txBody>
      </p:sp>
    </p:spTree>
    <p:extLst>
      <p:ext uri="{BB962C8B-B14F-4D97-AF65-F5344CB8AC3E}">
        <p14:creationId xmlns:p14="http://schemas.microsoft.com/office/powerpoint/2010/main" val="4023696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3719"/>
            <a:ext cx="10972800" cy="384048"/>
          </a:xfrm>
          <a:prstGeom prst="rect">
            <a:avLst/>
          </a:prstGeom>
          <a:noFill/>
        </p:spPr>
        <p:txBody>
          <a:bodyPr wrap="square">
            <a:spAutoFit/>
          </a:bodyPr>
          <a:lstStyle/>
          <a:p>
            <a:pPr algn="l"/>
            <a:r>
              <a:rPr sz="1800" b="1" i="0" dirty="0">
                <a:solidFill>
                  <a:srgbClr val="FFFFFF"/>
                </a:solidFill>
              </a:rPr>
              <a:t>ALUA SRTR Outcomes — PSR January 2026</a:t>
            </a:r>
          </a:p>
        </p:txBody>
      </p:sp>
      <p:sp>
        <p:nvSpPr>
          <p:cNvPr id="4" name="TextBox 3"/>
          <p:cNvSpPr txBox="1"/>
          <p:nvPr/>
        </p:nvSpPr>
        <p:spPr>
          <a:xfrm>
            <a:off x="182880" y="280034"/>
            <a:ext cx="11430000" cy="274320"/>
          </a:xfrm>
          <a:prstGeom prst="rect">
            <a:avLst/>
          </a:prstGeom>
          <a:noFill/>
        </p:spPr>
        <p:txBody>
          <a:bodyPr wrap="square">
            <a:spAutoFit/>
          </a:bodyPr>
          <a:lstStyle/>
          <a:p>
            <a:pPr algn="l"/>
            <a:r>
              <a:rPr sz="950" b="0" i="0">
                <a:solidFill>
                  <a:srgbClr val="C8DEF5"/>
                </a:solidFill>
              </a:rPr>
              <a:t>Cohort: Jul 2022–Dec 2024 · n=52 · All short-term metrics significantly better than national average</a:t>
            </a:r>
          </a:p>
        </p:txBody>
      </p:sp>
      <p:pic>
        <p:nvPicPr>
          <p:cNvPr id="5" name="Picture 4" descr="srtr_outcomes.png"/>
          <p:cNvPicPr>
            <a:picLocks noChangeAspect="1"/>
          </p:cNvPicPr>
          <p:nvPr/>
        </p:nvPicPr>
        <p:blipFill>
          <a:blip r:embed="rId3"/>
          <a:stretch>
            <a:fillRect/>
          </a:stretch>
        </p:blipFill>
        <p:spPr>
          <a:xfrm>
            <a:off x="137160" y="566928"/>
            <a:ext cx="7680960" cy="4206240"/>
          </a:xfrm>
          <a:prstGeom prst="rect">
            <a:avLst/>
          </a:prstGeom>
        </p:spPr>
      </p:pic>
      <p:sp>
        <p:nvSpPr>
          <p:cNvPr id="6" name="Rectangle 5"/>
          <p:cNvSpPr/>
          <p:nvPr/>
        </p:nvSpPr>
        <p:spPr>
          <a:xfrm>
            <a:off x="8001000" y="594360"/>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01000" y="658368"/>
            <a:ext cx="1874519" cy="477773"/>
          </a:xfrm>
          <a:prstGeom prst="rect">
            <a:avLst/>
          </a:prstGeom>
          <a:noFill/>
        </p:spPr>
        <p:txBody>
          <a:bodyPr wrap="square">
            <a:spAutoFit/>
          </a:bodyPr>
          <a:lstStyle/>
          <a:p>
            <a:pPr algn="ctr"/>
            <a:r>
              <a:rPr sz="2100" b="1" i="0">
                <a:solidFill>
                  <a:srgbClr val="FFFFFF"/>
                </a:solidFill>
              </a:rPr>
              <a:t>95.7%</a:t>
            </a:r>
          </a:p>
        </p:txBody>
      </p:sp>
      <p:sp>
        <p:nvSpPr>
          <p:cNvPr id="8" name="TextBox 7"/>
          <p:cNvSpPr txBox="1"/>
          <p:nvPr/>
        </p:nvSpPr>
        <p:spPr>
          <a:xfrm>
            <a:off x="8001000" y="1033271"/>
            <a:ext cx="1874519" cy="364845"/>
          </a:xfrm>
          <a:prstGeom prst="rect">
            <a:avLst/>
          </a:prstGeom>
          <a:noFill/>
        </p:spPr>
        <p:txBody>
          <a:bodyPr wrap="square">
            <a:spAutoFit/>
          </a:bodyPr>
          <a:lstStyle/>
          <a:p>
            <a:pPr algn="ctr"/>
            <a:r>
              <a:rPr sz="850" b="0" i="0">
                <a:solidFill>
                  <a:srgbClr val="C8DEF5"/>
                </a:solidFill>
              </a:rPr>
              <a:t>1-yr Graft Survival</a:t>
            </a:r>
          </a:p>
        </p:txBody>
      </p:sp>
      <p:sp>
        <p:nvSpPr>
          <p:cNvPr id="9" name="Rectangle 8"/>
          <p:cNvSpPr/>
          <p:nvPr/>
        </p:nvSpPr>
        <p:spPr>
          <a:xfrm>
            <a:off x="10012680" y="594360"/>
            <a:ext cx="2011680"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12680" y="658368"/>
            <a:ext cx="2011680" cy="477773"/>
          </a:xfrm>
          <a:prstGeom prst="rect">
            <a:avLst/>
          </a:prstGeom>
          <a:noFill/>
        </p:spPr>
        <p:txBody>
          <a:bodyPr wrap="square">
            <a:spAutoFit/>
          </a:bodyPr>
          <a:lstStyle/>
          <a:p>
            <a:pPr algn="ctr"/>
            <a:r>
              <a:rPr sz="2100" b="1" i="0">
                <a:solidFill>
                  <a:srgbClr val="FFFFFF"/>
                </a:solidFill>
              </a:rPr>
              <a:t>0.68</a:t>
            </a:r>
          </a:p>
        </p:txBody>
      </p:sp>
      <p:sp>
        <p:nvSpPr>
          <p:cNvPr id="11" name="TextBox 10"/>
          <p:cNvSpPr txBox="1"/>
          <p:nvPr/>
        </p:nvSpPr>
        <p:spPr>
          <a:xfrm>
            <a:off x="10012680" y="1033271"/>
            <a:ext cx="2011680" cy="364845"/>
          </a:xfrm>
          <a:prstGeom prst="rect">
            <a:avLst/>
          </a:prstGeom>
          <a:noFill/>
        </p:spPr>
        <p:txBody>
          <a:bodyPr wrap="square">
            <a:spAutoFit/>
          </a:bodyPr>
          <a:lstStyle/>
          <a:p>
            <a:pPr algn="ctr"/>
            <a:r>
              <a:rPr sz="850" b="0" i="0">
                <a:solidFill>
                  <a:srgbClr val="C8DEF5"/>
                </a:solidFill>
              </a:rPr>
              <a:t>1-yr Graft HR</a:t>
            </a:r>
          </a:p>
        </p:txBody>
      </p:sp>
      <p:sp>
        <p:nvSpPr>
          <p:cNvPr id="12" name="Rectangle 11"/>
          <p:cNvSpPr/>
          <p:nvPr/>
        </p:nvSpPr>
        <p:spPr>
          <a:xfrm>
            <a:off x="8001000" y="1572768"/>
            <a:ext cx="1874519"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0" y="1636776"/>
            <a:ext cx="1874519" cy="477773"/>
          </a:xfrm>
          <a:prstGeom prst="rect">
            <a:avLst/>
          </a:prstGeom>
          <a:noFill/>
        </p:spPr>
        <p:txBody>
          <a:bodyPr wrap="square">
            <a:spAutoFit/>
          </a:bodyPr>
          <a:lstStyle/>
          <a:p>
            <a:pPr algn="ctr"/>
            <a:r>
              <a:rPr sz="2100" b="1" i="0">
                <a:solidFill>
                  <a:srgbClr val="FFFFFF"/>
                </a:solidFill>
              </a:rPr>
              <a:t>95.7%</a:t>
            </a:r>
          </a:p>
        </p:txBody>
      </p:sp>
      <p:sp>
        <p:nvSpPr>
          <p:cNvPr id="14" name="TextBox 13"/>
          <p:cNvSpPr txBox="1"/>
          <p:nvPr/>
        </p:nvSpPr>
        <p:spPr>
          <a:xfrm>
            <a:off x="8001000" y="2011680"/>
            <a:ext cx="1874519" cy="364845"/>
          </a:xfrm>
          <a:prstGeom prst="rect">
            <a:avLst/>
          </a:prstGeom>
          <a:noFill/>
        </p:spPr>
        <p:txBody>
          <a:bodyPr wrap="square">
            <a:spAutoFit/>
          </a:bodyPr>
          <a:lstStyle/>
          <a:p>
            <a:pPr algn="ctr"/>
            <a:r>
              <a:rPr sz="850" b="0" i="0">
                <a:solidFill>
                  <a:srgbClr val="C8DEF5"/>
                </a:solidFill>
              </a:rPr>
              <a:t>1-yr Patient Survival</a:t>
            </a:r>
          </a:p>
        </p:txBody>
      </p:sp>
      <p:sp>
        <p:nvSpPr>
          <p:cNvPr id="15" name="Rectangle 14"/>
          <p:cNvSpPr/>
          <p:nvPr/>
        </p:nvSpPr>
        <p:spPr>
          <a:xfrm>
            <a:off x="10012680" y="1572768"/>
            <a:ext cx="2011680" cy="86868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12680" y="1636776"/>
            <a:ext cx="2011680" cy="477773"/>
          </a:xfrm>
          <a:prstGeom prst="rect">
            <a:avLst/>
          </a:prstGeom>
          <a:noFill/>
        </p:spPr>
        <p:txBody>
          <a:bodyPr wrap="square">
            <a:spAutoFit/>
          </a:bodyPr>
          <a:lstStyle/>
          <a:p>
            <a:pPr algn="ctr"/>
            <a:r>
              <a:rPr sz="2100" b="1" i="0">
                <a:solidFill>
                  <a:srgbClr val="FFFFFF"/>
                </a:solidFill>
              </a:rPr>
              <a:t>0.69</a:t>
            </a:r>
          </a:p>
        </p:txBody>
      </p:sp>
      <p:sp>
        <p:nvSpPr>
          <p:cNvPr id="17" name="TextBox 16"/>
          <p:cNvSpPr txBox="1"/>
          <p:nvPr/>
        </p:nvSpPr>
        <p:spPr>
          <a:xfrm>
            <a:off x="10012680" y="2011680"/>
            <a:ext cx="2011680" cy="364845"/>
          </a:xfrm>
          <a:prstGeom prst="rect">
            <a:avLst/>
          </a:prstGeom>
          <a:noFill/>
        </p:spPr>
        <p:txBody>
          <a:bodyPr wrap="square">
            <a:spAutoFit/>
          </a:bodyPr>
          <a:lstStyle/>
          <a:p>
            <a:pPr algn="ctr"/>
            <a:r>
              <a:rPr sz="850" b="0" i="0">
                <a:solidFill>
                  <a:srgbClr val="C8DEF5"/>
                </a:solidFill>
              </a:rPr>
              <a:t>1-yr Patient HR</a:t>
            </a:r>
          </a:p>
        </p:txBody>
      </p:sp>
      <p:sp>
        <p:nvSpPr>
          <p:cNvPr id="18" name="Rectangle 17"/>
          <p:cNvSpPr/>
          <p:nvPr/>
        </p:nvSpPr>
        <p:spPr>
          <a:xfrm>
            <a:off x="8001000" y="2542032"/>
            <a:ext cx="1874519" cy="86868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01000" y="2606039"/>
            <a:ext cx="1874519" cy="477773"/>
          </a:xfrm>
          <a:prstGeom prst="rect">
            <a:avLst/>
          </a:prstGeom>
          <a:noFill/>
        </p:spPr>
        <p:txBody>
          <a:bodyPr wrap="square">
            <a:spAutoFit/>
          </a:bodyPr>
          <a:lstStyle/>
          <a:p>
            <a:pPr algn="ctr"/>
            <a:r>
              <a:rPr sz="2100" b="1" i="0">
                <a:solidFill>
                  <a:srgbClr val="FFFFFF"/>
                </a:solidFill>
              </a:rPr>
              <a:t>70.3%</a:t>
            </a:r>
          </a:p>
        </p:txBody>
      </p:sp>
      <p:sp>
        <p:nvSpPr>
          <p:cNvPr id="20" name="TextBox 19"/>
          <p:cNvSpPr txBox="1"/>
          <p:nvPr/>
        </p:nvSpPr>
        <p:spPr>
          <a:xfrm>
            <a:off x="8001000" y="2980944"/>
            <a:ext cx="1874519" cy="364845"/>
          </a:xfrm>
          <a:prstGeom prst="rect">
            <a:avLst/>
          </a:prstGeom>
          <a:noFill/>
        </p:spPr>
        <p:txBody>
          <a:bodyPr wrap="square">
            <a:spAutoFit/>
          </a:bodyPr>
          <a:lstStyle/>
          <a:p>
            <a:pPr algn="ctr"/>
            <a:r>
              <a:rPr sz="850" b="0" i="0">
                <a:solidFill>
                  <a:srgbClr val="C8DEF5"/>
                </a:solidFill>
              </a:rPr>
              <a:t>3-yr Graft Survival</a:t>
            </a:r>
          </a:p>
        </p:txBody>
      </p:sp>
      <p:sp>
        <p:nvSpPr>
          <p:cNvPr id="21" name="Rectangle 20"/>
          <p:cNvSpPr/>
          <p:nvPr/>
        </p:nvSpPr>
        <p:spPr>
          <a:xfrm>
            <a:off x="10012680" y="2542032"/>
            <a:ext cx="2011680" cy="86868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12680" y="2606039"/>
            <a:ext cx="2011680" cy="477773"/>
          </a:xfrm>
          <a:prstGeom prst="rect">
            <a:avLst/>
          </a:prstGeom>
          <a:noFill/>
        </p:spPr>
        <p:txBody>
          <a:bodyPr wrap="square">
            <a:spAutoFit/>
          </a:bodyPr>
          <a:lstStyle/>
          <a:p>
            <a:pPr algn="ctr"/>
            <a:r>
              <a:rPr sz="2100" b="1" i="0">
                <a:solidFill>
                  <a:srgbClr val="FFFFFF"/>
                </a:solidFill>
              </a:rPr>
              <a:t>1.17</a:t>
            </a:r>
          </a:p>
        </p:txBody>
      </p:sp>
      <p:sp>
        <p:nvSpPr>
          <p:cNvPr id="23" name="TextBox 22"/>
          <p:cNvSpPr txBox="1"/>
          <p:nvPr/>
        </p:nvSpPr>
        <p:spPr>
          <a:xfrm>
            <a:off x="10012680" y="2980944"/>
            <a:ext cx="2011680" cy="364845"/>
          </a:xfrm>
          <a:prstGeom prst="rect">
            <a:avLst/>
          </a:prstGeom>
          <a:noFill/>
        </p:spPr>
        <p:txBody>
          <a:bodyPr wrap="square">
            <a:spAutoFit/>
          </a:bodyPr>
          <a:lstStyle/>
          <a:p>
            <a:pPr algn="ctr"/>
            <a:r>
              <a:rPr sz="850" b="0" i="0">
                <a:solidFill>
                  <a:srgbClr val="C8DEF5"/>
                </a:solidFill>
              </a:rPr>
              <a:t>3-yr Graft HR</a:t>
            </a:r>
          </a:p>
        </p:txBody>
      </p:sp>
      <p:sp>
        <p:nvSpPr>
          <p:cNvPr id="24" name="Rectangle 23"/>
          <p:cNvSpPr/>
          <p:nvPr/>
        </p:nvSpPr>
        <p:spPr>
          <a:xfrm>
            <a:off x="8001000" y="3511296"/>
            <a:ext cx="4023360" cy="8686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01000" y="3575303"/>
            <a:ext cx="4023360" cy="477773"/>
          </a:xfrm>
          <a:prstGeom prst="rect">
            <a:avLst/>
          </a:prstGeom>
          <a:noFill/>
        </p:spPr>
        <p:txBody>
          <a:bodyPr wrap="square">
            <a:spAutoFit/>
          </a:bodyPr>
          <a:lstStyle/>
          <a:p>
            <a:pPr algn="ctr"/>
            <a:r>
              <a:rPr sz="2100" b="1" i="0">
                <a:solidFill>
                  <a:srgbClr val="FFFFFF"/>
                </a:solidFill>
              </a:rPr>
              <a:t>2 obs / 3.91 exp</a:t>
            </a:r>
          </a:p>
        </p:txBody>
      </p:sp>
      <p:sp>
        <p:nvSpPr>
          <p:cNvPr id="26" name="TextBox 25"/>
          <p:cNvSpPr txBox="1"/>
          <p:nvPr/>
        </p:nvSpPr>
        <p:spPr>
          <a:xfrm>
            <a:off x="8001000" y="3950208"/>
            <a:ext cx="4023360" cy="364845"/>
          </a:xfrm>
          <a:prstGeom prst="rect">
            <a:avLst/>
          </a:prstGeom>
          <a:noFill/>
        </p:spPr>
        <p:txBody>
          <a:bodyPr wrap="square">
            <a:spAutoFit/>
          </a:bodyPr>
          <a:lstStyle/>
          <a:p>
            <a:pPr algn="ctr"/>
            <a:r>
              <a:rPr sz="850" b="0" i="0">
                <a:solidFill>
                  <a:srgbClr val="C8DEF5"/>
                </a:solidFill>
              </a:rPr>
              <a:t>1-yr Failures vs Expected</a:t>
            </a:r>
          </a:p>
        </p:txBody>
      </p:sp>
      <p:sp>
        <p:nvSpPr>
          <p:cNvPr id="27" name="TextBox 26"/>
          <p:cNvSpPr txBox="1"/>
          <p:nvPr/>
        </p:nvSpPr>
        <p:spPr>
          <a:xfrm>
            <a:off x="8001000" y="4498848"/>
            <a:ext cx="4023360" cy="320040"/>
          </a:xfrm>
          <a:prstGeom prst="rect">
            <a:avLst/>
          </a:prstGeom>
          <a:noFill/>
        </p:spPr>
        <p:txBody>
          <a:bodyPr wrap="square">
            <a:spAutoFit/>
          </a:bodyPr>
          <a:lstStyle/>
          <a:p>
            <a:pPr algn="l"/>
            <a:r>
              <a:rPr sz="900" b="1" i="0">
                <a:solidFill>
                  <a:srgbClr val="1A7A4A"/>
                </a:solidFill>
              </a:rPr>
              <a:t>★ All short-term HRs well below MPSC review threshold (2.25)</a:t>
            </a:r>
          </a:p>
        </p:txBody>
      </p:sp>
      <p:sp>
        <p:nvSpPr>
          <p:cNvPr id="28" name="TextBox 27"/>
          <p:cNvSpPr txBox="1"/>
          <p:nvPr/>
        </p:nvSpPr>
        <p:spPr>
          <a:xfrm>
            <a:off x="8001000" y="4828032"/>
            <a:ext cx="4023360" cy="320040"/>
          </a:xfrm>
          <a:prstGeom prst="rect">
            <a:avLst/>
          </a:prstGeom>
          <a:noFill/>
        </p:spPr>
        <p:txBody>
          <a:bodyPr wrap="square">
            <a:spAutoFit/>
          </a:bodyPr>
          <a:lstStyle/>
          <a:p>
            <a:pPr algn="l"/>
            <a:r>
              <a:rPr sz="900" b="0" i="0">
                <a:solidFill>
                  <a:srgbClr val="C47A00"/>
                </a:solidFill>
              </a:rPr>
              <a:t>△ 3-yr cohort (2020–22) partially overlaps crisis/COVID period</a:t>
            </a:r>
          </a:p>
        </p:txBody>
      </p:sp>
      <p:sp>
        <p:nvSpPr>
          <p:cNvPr id="29" name="TextBox 28"/>
          <p:cNvSpPr txBox="1"/>
          <p:nvPr/>
        </p:nvSpPr>
        <p:spPr>
          <a:xfrm>
            <a:off x="8001000" y="5138928"/>
            <a:ext cx="4023360" cy="320040"/>
          </a:xfrm>
          <a:prstGeom prst="rect">
            <a:avLst/>
          </a:prstGeom>
          <a:noFill/>
        </p:spPr>
        <p:txBody>
          <a:bodyPr wrap="square">
            <a:spAutoFit/>
          </a:bodyPr>
          <a:lstStyle/>
          <a:p>
            <a:pPr algn="l"/>
            <a:r>
              <a:rPr sz="900" b="0" i="0">
                <a:solidFill>
                  <a:srgbClr val="6B7280"/>
                </a:solidFill>
              </a:rPr>
              <a:t>▪ National 1-yr: 89.6% graft / 90.2% patient — ALUA exceeds by 6pp</a:t>
            </a:r>
          </a:p>
        </p:txBody>
      </p:sp>
      <p:sp>
        <p:nvSpPr>
          <p:cNvPr id="30" name="Rectangle 29"/>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SRTR Outcomes</a:t>
            </a:r>
          </a:p>
        </p:txBody>
      </p:sp>
      <p:sp>
        <p:nvSpPr>
          <p:cNvPr id="32" name="TextBox 31"/>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8</a:t>
            </a:r>
          </a:p>
        </p:txBody>
      </p:sp>
    </p:spTree>
    <p:extLst>
      <p:ext uri="{BB962C8B-B14F-4D97-AF65-F5344CB8AC3E}">
        <p14:creationId xmlns:p14="http://schemas.microsoft.com/office/powerpoint/2010/main" val="3405954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22860"/>
            <a:ext cx="10972800" cy="384048"/>
          </a:xfrm>
          <a:prstGeom prst="rect">
            <a:avLst/>
          </a:prstGeom>
          <a:noFill/>
        </p:spPr>
        <p:txBody>
          <a:bodyPr wrap="square">
            <a:spAutoFit/>
          </a:bodyPr>
          <a:lstStyle/>
          <a:p>
            <a:pPr algn="l"/>
            <a:r>
              <a:rPr sz="1800" b="1" i="0" dirty="0">
                <a:solidFill>
                  <a:srgbClr val="FFFFFF"/>
                </a:solidFill>
              </a:rPr>
              <a:t>ALUA Clinical Profile</a:t>
            </a:r>
          </a:p>
        </p:txBody>
      </p:sp>
      <p:sp>
        <p:nvSpPr>
          <p:cNvPr id="4" name="TextBox 3"/>
          <p:cNvSpPr txBox="1"/>
          <p:nvPr/>
        </p:nvSpPr>
        <p:spPr>
          <a:xfrm>
            <a:off x="228600" y="281178"/>
            <a:ext cx="11430000" cy="274320"/>
          </a:xfrm>
          <a:prstGeom prst="rect">
            <a:avLst/>
          </a:prstGeom>
          <a:noFill/>
        </p:spPr>
        <p:txBody>
          <a:bodyPr wrap="square">
            <a:spAutoFit/>
          </a:bodyPr>
          <a:lstStyle/>
          <a:p>
            <a:pPr algn="l"/>
            <a:r>
              <a:rPr sz="950" b="0" i="0">
                <a:solidFill>
                  <a:srgbClr val="C8DEF5"/>
                </a:solidFill>
              </a:rPr>
              <a:t>Recipient &amp; donor characteristics vs national benchmarks · Jul 2024–Jun 2025 · n=26</a:t>
            </a:r>
          </a:p>
        </p:txBody>
      </p:sp>
      <p:pic>
        <p:nvPicPr>
          <p:cNvPr id="5" name="Picture 4" descr="clinical_profile.png"/>
          <p:cNvPicPr>
            <a:picLocks noChangeAspect="1"/>
          </p:cNvPicPr>
          <p:nvPr/>
        </p:nvPicPr>
        <p:blipFill>
          <a:blip r:embed="rId3"/>
          <a:stretch>
            <a:fillRect/>
          </a:stretch>
        </p:blipFill>
        <p:spPr>
          <a:xfrm>
            <a:off x="137160" y="566928"/>
            <a:ext cx="7818120" cy="3520440"/>
          </a:xfrm>
          <a:prstGeom prst="rect">
            <a:avLst/>
          </a:prstGeom>
        </p:spPr>
      </p:pic>
      <p:sp>
        <p:nvSpPr>
          <p:cNvPr id="6" name="Rectangle 5"/>
          <p:cNvSpPr/>
          <p:nvPr/>
        </p:nvSpPr>
        <p:spPr>
          <a:xfrm>
            <a:off x="137160" y="4160520"/>
            <a:ext cx="11887200" cy="2578608"/>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4233672"/>
            <a:ext cx="11521440" cy="347472"/>
          </a:xfrm>
          <a:prstGeom prst="rect">
            <a:avLst/>
          </a:prstGeom>
          <a:noFill/>
        </p:spPr>
        <p:txBody>
          <a:bodyPr wrap="square">
            <a:spAutoFit/>
          </a:bodyPr>
          <a:lstStyle/>
          <a:p>
            <a:pPr algn="l"/>
            <a:r>
              <a:rPr sz="1100" b="1" i="0">
                <a:solidFill>
                  <a:srgbClr val="1E3A5F"/>
                </a:solidFill>
              </a:rPr>
              <a:t>Clinical Insights</a:t>
            </a:r>
          </a:p>
        </p:txBody>
      </p:sp>
      <p:sp>
        <p:nvSpPr>
          <p:cNvPr id="8" name="TextBox 7"/>
          <p:cNvSpPr txBox="1"/>
          <p:nvPr/>
        </p:nvSpPr>
        <p:spPr>
          <a:xfrm>
            <a:off x="274320" y="4617720"/>
            <a:ext cx="11704320" cy="2029968"/>
          </a:xfrm>
          <a:prstGeom prst="rect">
            <a:avLst/>
          </a:prstGeom>
          <a:noFill/>
        </p:spPr>
        <p:txBody>
          <a:bodyPr wrap="square">
            <a:spAutoFit/>
          </a:bodyPr>
          <a:lstStyle/>
          <a:p>
            <a:pPr algn="l">
              <a:spcBef>
                <a:spcPts val="300"/>
              </a:spcBef>
            </a:pPr>
            <a:r>
              <a:rPr sz="1050" b="1">
                <a:solidFill>
                  <a:srgbClr val="2D3A4A"/>
                </a:solidFill>
              </a:rPr>
              <a:t>▸  ICU at transplant: 46.2% vs national 20.5% — 2.3× higher acuity intake. CAS incentivizes urgent patients. This drives excellent outcomes AND elevated early mortality risk.</a:t>
            </a:r>
          </a:p>
          <a:p>
            <a:pPr algn="l">
              <a:spcBef>
                <a:spcPts val="300"/>
              </a:spcBef>
            </a:pPr>
            <a:r>
              <a:rPr sz="1050" b="0">
                <a:solidFill>
                  <a:srgbClr val="2D3A4A"/>
                </a:solidFill>
              </a:rPr>
              <a:t>▸  Donor age: 50% age 18–34 vs 33.9% nationally. Zero donors age 50+. Younger lungs → lower ischemic injury → strong 1-year outcomes. Key quality driver.</a:t>
            </a:r>
          </a:p>
          <a:p>
            <a:pPr algn="l">
              <a:spcBef>
                <a:spcPts val="300"/>
              </a:spcBef>
            </a:pPr>
            <a:r>
              <a:rPr sz="1050" b="0">
                <a:solidFill>
                  <a:srgbClr val="2D3A4A"/>
                </a:solidFill>
              </a:rPr>
              <a:t>▸  Diagnosis: COPD 34.6% vs 20.5% national. COPD post-transplant survival systematically better than IPF — partially offsets ICU acuity risk.</a:t>
            </a:r>
          </a:p>
          <a:p>
            <a:pPr algn="l">
              <a:spcBef>
                <a:spcPts val="300"/>
              </a:spcBef>
            </a:pPr>
            <a:r>
              <a:rPr sz="1050" b="0">
                <a:solidFill>
                  <a:srgbClr val="2D3A4A"/>
                </a:solidFill>
              </a:rPr>
              <a:t>▸  Post-tx LOS: 19.5 days vs 20.0 national — favorable despite higher ICU intake. Median time to transplant: 3.5 mo vs 1.4 national (conservative acceptance strategy).</a:t>
            </a:r>
          </a:p>
        </p:txBody>
      </p:sp>
      <p:sp>
        <p:nvSpPr>
          <p:cNvPr id="9" name="Rectangle 8"/>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Clinical Profile</a:t>
            </a:r>
          </a:p>
        </p:txBody>
      </p:sp>
      <p:sp>
        <p:nvSpPr>
          <p:cNvPr id="11" name="TextBox 10"/>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13</a:t>
            </a:r>
          </a:p>
        </p:txBody>
      </p:sp>
    </p:spTree>
    <p:extLst>
      <p:ext uri="{BB962C8B-B14F-4D97-AF65-F5344CB8AC3E}">
        <p14:creationId xmlns:p14="http://schemas.microsoft.com/office/powerpoint/2010/main" val="3915178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Rolling SRTR HR Trend — Surveillance Alert</a:t>
            </a:r>
          </a:p>
        </p:txBody>
      </p:sp>
      <p:sp>
        <p:nvSpPr>
          <p:cNvPr id="4" name="TextBox 3"/>
          <p:cNvSpPr txBox="1"/>
          <p:nvPr/>
        </p:nvSpPr>
        <p:spPr>
          <a:xfrm>
            <a:off x="265176" y="304038"/>
            <a:ext cx="11430000" cy="274320"/>
          </a:xfrm>
          <a:prstGeom prst="rect">
            <a:avLst/>
          </a:prstGeom>
          <a:noFill/>
        </p:spPr>
        <p:txBody>
          <a:bodyPr wrap="square">
            <a:spAutoFit/>
          </a:bodyPr>
          <a:lstStyle/>
          <a:p>
            <a:pPr algn="l"/>
            <a:r>
              <a:rPr sz="950" b="0" i="0" dirty="0">
                <a:solidFill>
                  <a:srgbClr val="C8DEF5"/>
                </a:solidFill>
              </a:rPr>
              <a:t>Current PSR excellent; projected 2027–2028 windows enter approaching-flag zone</a:t>
            </a:r>
          </a:p>
        </p:txBody>
      </p:sp>
      <p:pic>
        <p:nvPicPr>
          <p:cNvPr id="5" name="Picture 4" descr="rolling_hr.png"/>
          <p:cNvPicPr>
            <a:picLocks noChangeAspect="1"/>
          </p:cNvPicPr>
          <p:nvPr/>
        </p:nvPicPr>
        <p:blipFill>
          <a:blip r:embed="rId3"/>
          <a:stretch>
            <a:fillRect/>
          </a:stretch>
        </p:blipFill>
        <p:spPr>
          <a:xfrm>
            <a:off x="137160" y="566928"/>
            <a:ext cx="7818120" cy="4343400"/>
          </a:xfrm>
          <a:prstGeom prst="rect">
            <a:avLst/>
          </a:prstGeom>
        </p:spPr>
      </p:pic>
      <p:sp>
        <p:nvSpPr>
          <p:cNvPr id="6" name="Rectangle 5"/>
          <p:cNvSpPr/>
          <p:nvPr/>
        </p:nvSpPr>
        <p:spPr>
          <a:xfrm>
            <a:off x="8138160" y="594360"/>
            <a:ext cx="3840480" cy="1463040"/>
          </a:xfrm>
          <a:prstGeom prst="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75320" y="658368"/>
            <a:ext cx="3611880" cy="347472"/>
          </a:xfrm>
          <a:prstGeom prst="rect">
            <a:avLst/>
          </a:prstGeom>
          <a:noFill/>
        </p:spPr>
        <p:txBody>
          <a:bodyPr wrap="square">
            <a:spAutoFit/>
          </a:bodyPr>
          <a:lstStyle/>
          <a:p>
            <a:pPr algn="l"/>
            <a:r>
              <a:rPr sz="1000" b="1" i="0">
                <a:solidFill>
                  <a:srgbClr val="C47A00"/>
                </a:solidFill>
              </a:rPr>
              <a:t>⚠  APPROACHING FLAG</a:t>
            </a:r>
          </a:p>
        </p:txBody>
      </p:sp>
      <p:sp>
        <p:nvSpPr>
          <p:cNvPr id="8" name="TextBox 7"/>
          <p:cNvSpPr txBox="1"/>
          <p:nvPr/>
        </p:nvSpPr>
        <p:spPr>
          <a:xfrm>
            <a:off x="8275320" y="1005840"/>
            <a:ext cx="3611880" cy="969264"/>
          </a:xfrm>
          <a:prstGeom prst="rect">
            <a:avLst/>
          </a:prstGeom>
          <a:noFill/>
        </p:spPr>
        <p:txBody>
          <a:bodyPr wrap="square">
            <a:spAutoFit/>
          </a:bodyPr>
          <a:lstStyle/>
          <a:p>
            <a:pPr algn="l"/>
            <a:r>
              <a:rPr sz="900" b="0" i="0">
                <a:solidFill>
                  <a:srgbClr val="2D3A4A"/>
                </a:solidFill>
              </a:rPr>
              <a:t>Projected SRTR 1/27–1/28: HR 1.56–1.79
Approach zone: 1.50–2.25 | MPSC flag: &gt;2.25
Driven by high ICU acuity + incomplete follow-up</a:t>
            </a:r>
          </a:p>
        </p:txBody>
      </p:sp>
      <p:sp>
        <p:nvSpPr>
          <p:cNvPr id="9" name="Rectangle 8"/>
          <p:cNvSpPr/>
          <p:nvPr/>
        </p:nvSpPr>
        <p:spPr>
          <a:xfrm>
            <a:off x="8138160" y="2176272"/>
            <a:ext cx="3840480" cy="1207008"/>
          </a:xfrm>
          <a:prstGeom prst="rect">
            <a:avLst/>
          </a:prstGeom>
          <a:solidFill>
            <a:srgbClr val="E0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75320" y="2240280"/>
            <a:ext cx="3611880" cy="347472"/>
          </a:xfrm>
          <a:prstGeom prst="rect">
            <a:avLst/>
          </a:prstGeom>
          <a:noFill/>
        </p:spPr>
        <p:txBody>
          <a:bodyPr wrap="square">
            <a:spAutoFit/>
          </a:bodyPr>
          <a:lstStyle/>
          <a:p>
            <a:pPr algn="l"/>
            <a:r>
              <a:rPr sz="1000" b="1" i="0">
                <a:solidFill>
                  <a:srgbClr val="1A7A4A"/>
                </a:solidFill>
              </a:rPr>
              <a:t>✓  WAITLIST MORTALITY RESOLVED</a:t>
            </a:r>
          </a:p>
        </p:txBody>
      </p:sp>
      <p:sp>
        <p:nvSpPr>
          <p:cNvPr id="11" name="TextBox 10"/>
          <p:cNvSpPr txBox="1"/>
          <p:nvPr/>
        </p:nvSpPr>
        <p:spPr>
          <a:xfrm>
            <a:off x="8275320" y="2587752"/>
            <a:ext cx="3611880" cy="713232"/>
          </a:xfrm>
          <a:prstGeom prst="rect">
            <a:avLst/>
          </a:prstGeom>
          <a:noFill/>
        </p:spPr>
        <p:txBody>
          <a:bodyPr wrap="square">
            <a:spAutoFit/>
          </a:bodyPr>
          <a:lstStyle/>
          <a:p>
            <a:pPr algn="l"/>
            <a:r>
              <a:rPr sz="900" b="0" i="0">
                <a:solidFill>
                  <a:srgbClr val="2D3A4A"/>
                </a:solidFill>
              </a:rPr>
              <a:t>WLM HR peaked 2.16 (SRTR 7/25) → now 0.94
Throughput recovery confirmed</a:t>
            </a:r>
          </a:p>
        </p:txBody>
      </p:sp>
      <p:sp>
        <p:nvSpPr>
          <p:cNvPr id="12" name="Rectangle 11"/>
          <p:cNvSpPr/>
          <p:nvPr/>
        </p:nvSpPr>
        <p:spPr>
          <a:xfrm>
            <a:off x="8138160" y="3493008"/>
            <a:ext cx="3840480" cy="1417320"/>
          </a:xfrm>
          <a:prstGeom prst="rect">
            <a:avLst/>
          </a:prstGeom>
          <a:solidFill>
            <a:srgbClr val="E8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75320" y="3557016"/>
            <a:ext cx="3611880" cy="347472"/>
          </a:xfrm>
          <a:prstGeom prst="rect">
            <a:avLst/>
          </a:prstGeom>
          <a:noFill/>
        </p:spPr>
        <p:txBody>
          <a:bodyPr wrap="square">
            <a:spAutoFit/>
          </a:bodyPr>
          <a:lstStyle/>
          <a:p>
            <a:pPr algn="l"/>
            <a:r>
              <a:rPr sz="1000" b="1" i="0">
                <a:solidFill>
                  <a:srgbClr val="1E3A5F"/>
                </a:solidFill>
              </a:rPr>
              <a:t>MECHANISM: WHY HR IS RISING</a:t>
            </a:r>
          </a:p>
        </p:txBody>
      </p:sp>
      <p:sp>
        <p:nvSpPr>
          <p:cNvPr id="14" name="TextBox 13"/>
          <p:cNvSpPr txBox="1"/>
          <p:nvPr/>
        </p:nvSpPr>
        <p:spPr>
          <a:xfrm>
            <a:off x="8275320" y="3904487"/>
            <a:ext cx="3611880" cy="932688"/>
          </a:xfrm>
          <a:prstGeom prst="rect">
            <a:avLst/>
          </a:prstGeom>
          <a:noFill/>
        </p:spPr>
        <p:txBody>
          <a:bodyPr wrap="square">
            <a:spAutoFit/>
          </a:bodyPr>
          <a:lstStyle/>
          <a:p>
            <a:pPr algn="l"/>
            <a:r>
              <a:rPr sz="900" b="0" i="0">
                <a:solidFill>
                  <a:srgbClr val="2D3A4A"/>
                </a:solidFill>
              </a:rPr>
              <a:t>46.2% recipients from ICU vs 20.5% national
Periods 8/9 (H1+H2 2025) incomplete — 
full 1-yr follow-up not yet adjudicated
New surgeon ramp (Apr 2025 onboard)</a:t>
            </a:r>
          </a:p>
        </p:txBody>
      </p:sp>
      <p:sp>
        <p:nvSpPr>
          <p:cNvPr id="15" name="TextBox 14"/>
          <p:cNvSpPr txBox="1"/>
          <p:nvPr/>
        </p:nvSpPr>
        <p:spPr>
          <a:xfrm>
            <a:off x="182880" y="5047488"/>
            <a:ext cx="11795760" cy="347472"/>
          </a:xfrm>
          <a:prstGeom prst="rect">
            <a:avLst/>
          </a:prstGeom>
          <a:noFill/>
        </p:spPr>
        <p:txBody>
          <a:bodyPr wrap="square">
            <a:spAutoFit/>
          </a:bodyPr>
          <a:lstStyle/>
          <a:p>
            <a:pPr algn="l"/>
            <a:r>
              <a:rPr sz="1000" b="1" i="0">
                <a:solidFill>
                  <a:srgbClr val="1E3A5F"/>
                </a:solidFill>
              </a:rPr>
              <a:t>★  SRTR 7/26 report (July 2026) — critical adjudication point</a:t>
            </a:r>
          </a:p>
        </p:txBody>
      </p:sp>
      <p:sp>
        <p:nvSpPr>
          <p:cNvPr id="16" name="Rectangle 15"/>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Rolling SRTR HR Trend</a:t>
            </a:r>
          </a:p>
        </p:txBody>
      </p:sp>
      <p:sp>
        <p:nvSpPr>
          <p:cNvPr id="18" name="TextBox 17"/>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9</a:t>
            </a:r>
          </a:p>
        </p:txBody>
      </p:sp>
    </p:spTree>
    <p:extLst>
      <p:ext uri="{BB962C8B-B14F-4D97-AF65-F5344CB8AC3E}">
        <p14:creationId xmlns:p14="http://schemas.microsoft.com/office/powerpoint/2010/main" val="1528243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22860"/>
            <a:ext cx="10972800" cy="384048"/>
          </a:xfrm>
          <a:prstGeom prst="rect">
            <a:avLst/>
          </a:prstGeom>
          <a:noFill/>
        </p:spPr>
        <p:txBody>
          <a:bodyPr wrap="square">
            <a:spAutoFit/>
          </a:bodyPr>
          <a:lstStyle/>
          <a:p>
            <a:pPr algn="l"/>
            <a:r>
              <a:rPr sz="1800" b="1" i="0" dirty="0">
                <a:solidFill>
                  <a:srgbClr val="FFFFFF"/>
                </a:solidFill>
              </a:rPr>
              <a:t>ALUA Offer Acceptance — Volume Lever Analysis</a:t>
            </a:r>
          </a:p>
        </p:txBody>
      </p:sp>
      <p:sp>
        <p:nvSpPr>
          <p:cNvPr id="4" name="TextBox 3"/>
          <p:cNvSpPr txBox="1"/>
          <p:nvPr/>
        </p:nvSpPr>
        <p:spPr>
          <a:xfrm>
            <a:off x="228600" y="269748"/>
            <a:ext cx="11430000" cy="274320"/>
          </a:xfrm>
          <a:prstGeom prst="rect">
            <a:avLst/>
          </a:prstGeom>
          <a:noFill/>
        </p:spPr>
        <p:txBody>
          <a:bodyPr wrap="square">
            <a:spAutoFit/>
          </a:bodyPr>
          <a:lstStyle/>
          <a:p>
            <a:pPr algn="l"/>
            <a:r>
              <a:rPr sz="950" b="0" i="0" dirty="0">
                <a:solidFill>
                  <a:srgbClr val="C8DEF5"/>
                </a:solidFill>
              </a:rPr>
              <a:t>730 offers received · 25 accepted (3.4%) · Overall ratio 0.62 vs national 1.0</a:t>
            </a:r>
          </a:p>
        </p:txBody>
      </p:sp>
      <p:pic>
        <p:nvPicPr>
          <p:cNvPr id="5" name="Picture 4" descr="offer_acceptance.png"/>
          <p:cNvPicPr>
            <a:picLocks noChangeAspect="1"/>
          </p:cNvPicPr>
          <p:nvPr/>
        </p:nvPicPr>
        <p:blipFill>
          <a:blip r:embed="rId3"/>
          <a:stretch>
            <a:fillRect/>
          </a:stretch>
        </p:blipFill>
        <p:spPr>
          <a:xfrm>
            <a:off x="137160" y="566928"/>
            <a:ext cx="7086600" cy="4224528"/>
          </a:xfrm>
          <a:prstGeom prst="rect">
            <a:avLst/>
          </a:prstGeom>
        </p:spPr>
      </p:pic>
      <p:sp>
        <p:nvSpPr>
          <p:cNvPr id="6" name="Rectangle 5"/>
          <p:cNvSpPr/>
          <p:nvPr/>
        </p:nvSpPr>
        <p:spPr>
          <a:xfrm>
            <a:off x="7406640" y="594360"/>
            <a:ext cx="4572000" cy="52578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43800" y="658368"/>
            <a:ext cx="4297680" cy="347472"/>
          </a:xfrm>
          <a:prstGeom prst="rect">
            <a:avLst/>
          </a:prstGeom>
          <a:noFill/>
        </p:spPr>
        <p:txBody>
          <a:bodyPr wrap="square">
            <a:spAutoFit/>
          </a:bodyPr>
          <a:lstStyle/>
          <a:p>
            <a:pPr algn="l"/>
            <a:r>
              <a:rPr sz="1100" b="1" i="0">
                <a:solidFill>
                  <a:srgbClr val="1E3A5F"/>
                </a:solidFill>
              </a:rPr>
              <a:t>Acceptance Strategy Analysis</a:t>
            </a:r>
          </a:p>
        </p:txBody>
      </p:sp>
      <p:sp>
        <p:nvSpPr>
          <p:cNvPr id="8" name="Rectangle 7"/>
          <p:cNvSpPr/>
          <p:nvPr/>
        </p:nvSpPr>
        <p:spPr>
          <a:xfrm>
            <a:off x="7543800" y="1078992"/>
            <a:ext cx="54864" cy="585216"/>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08392" y="1115568"/>
            <a:ext cx="4114800" cy="292608"/>
          </a:xfrm>
          <a:prstGeom prst="rect">
            <a:avLst/>
          </a:prstGeom>
          <a:noFill/>
        </p:spPr>
        <p:txBody>
          <a:bodyPr wrap="square">
            <a:spAutoFit/>
          </a:bodyPr>
          <a:lstStyle/>
          <a:p>
            <a:pPr algn="l"/>
            <a:r>
              <a:rPr sz="950" b="1" i="0">
                <a:solidFill>
                  <a:srgbClr val="2D3A4A"/>
                </a:solidFill>
              </a:rPr>
              <a:t>Overall ratio: 0.62</a:t>
            </a:r>
          </a:p>
        </p:txBody>
      </p:sp>
      <p:sp>
        <p:nvSpPr>
          <p:cNvPr id="10" name="TextBox 9"/>
          <p:cNvSpPr txBox="1"/>
          <p:nvPr/>
        </p:nvSpPr>
        <p:spPr>
          <a:xfrm>
            <a:off x="7708392" y="1389888"/>
            <a:ext cx="4114800" cy="274320"/>
          </a:xfrm>
          <a:prstGeom prst="rect">
            <a:avLst/>
          </a:prstGeom>
          <a:noFill/>
        </p:spPr>
        <p:txBody>
          <a:bodyPr wrap="square">
            <a:spAutoFit/>
          </a:bodyPr>
          <a:lstStyle/>
          <a:p>
            <a:pPr algn="l"/>
            <a:r>
              <a:rPr sz="850" b="0" i="0">
                <a:solidFill>
                  <a:srgbClr val="6B7280"/>
                </a:solidFill>
              </a:rPr>
              <a:t>38% below national — primary volume driver</a:t>
            </a:r>
          </a:p>
        </p:txBody>
      </p:sp>
      <p:sp>
        <p:nvSpPr>
          <p:cNvPr id="11" name="Rectangle 10"/>
          <p:cNvSpPr/>
          <p:nvPr/>
        </p:nvSpPr>
        <p:spPr>
          <a:xfrm>
            <a:off x="7543800" y="1746504"/>
            <a:ext cx="54864" cy="58521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08392" y="1783080"/>
            <a:ext cx="4114800" cy="292608"/>
          </a:xfrm>
          <a:prstGeom prst="rect">
            <a:avLst/>
          </a:prstGeom>
          <a:noFill/>
        </p:spPr>
        <p:txBody>
          <a:bodyPr wrap="square">
            <a:spAutoFit/>
          </a:bodyPr>
          <a:lstStyle/>
          <a:p>
            <a:pPr algn="l"/>
            <a:r>
              <a:rPr sz="950" b="1" i="0">
                <a:solidFill>
                  <a:srgbClr val="2D3A4A"/>
                </a:solidFill>
              </a:rPr>
              <a:t>Accepted 25/730 offers</a:t>
            </a:r>
          </a:p>
        </p:txBody>
      </p:sp>
      <p:sp>
        <p:nvSpPr>
          <p:cNvPr id="13" name="TextBox 12"/>
          <p:cNvSpPr txBox="1"/>
          <p:nvPr/>
        </p:nvSpPr>
        <p:spPr>
          <a:xfrm>
            <a:off x="7708392" y="2057400"/>
            <a:ext cx="4114800" cy="274320"/>
          </a:xfrm>
          <a:prstGeom prst="rect">
            <a:avLst/>
          </a:prstGeom>
          <a:noFill/>
        </p:spPr>
        <p:txBody>
          <a:bodyPr wrap="square">
            <a:spAutoFit/>
          </a:bodyPr>
          <a:lstStyle/>
          <a:p>
            <a:pPr algn="l"/>
            <a:r>
              <a:rPr sz="850" b="0" i="0">
                <a:solidFill>
                  <a:srgbClr val="6B7280"/>
                </a:solidFill>
              </a:rPr>
              <a:t>Transplant rate ratio: 0.56</a:t>
            </a:r>
          </a:p>
        </p:txBody>
      </p:sp>
      <p:sp>
        <p:nvSpPr>
          <p:cNvPr id="14" name="Rectangle 13"/>
          <p:cNvSpPr/>
          <p:nvPr/>
        </p:nvSpPr>
        <p:spPr>
          <a:xfrm>
            <a:off x="7543800" y="2414015"/>
            <a:ext cx="54864" cy="585216"/>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08392" y="2450591"/>
            <a:ext cx="4114800" cy="292608"/>
          </a:xfrm>
          <a:prstGeom prst="rect">
            <a:avLst/>
          </a:prstGeom>
          <a:noFill/>
        </p:spPr>
        <p:txBody>
          <a:bodyPr wrap="square">
            <a:spAutoFit/>
          </a:bodyPr>
          <a:lstStyle/>
          <a:p>
            <a:pPr algn="l"/>
            <a:r>
              <a:rPr sz="950" b="1" i="0">
                <a:solidFill>
                  <a:srgbClr val="2D3A4A"/>
                </a:solidFill>
              </a:rPr>
              <a:t>Hard-to-place: 0.46</a:t>
            </a:r>
          </a:p>
        </p:txBody>
      </p:sp>
      <p:sp>
        <p:nvSpPr>
          <p:cNvPr id="16" name="TextBox 15"/>
          <p:cNvSpPr txBox="1"/>
          <p:nvPr/>
        </p:nvSpPr>
        <p:spPr>
          <a:xfrm>
            <a:off x="7708392" y="2724912"/>
            <a:ext cx="4114800" cy="274320"/>
          </a:xfrm>
          <a:prstGeom prst="rect">
            <a:avLst/>
          </a:prstGeom>
          <a:noFill/>
        </p:spPr>
        <p:txBody>
          <a:bodyPr wrap="square">
            <a:spAutoFit/>
          </a:bodyPr>
          <a:lstStyle/>
          <a:p>
            <a:pPr algn="l"/>
            <a:r>
              <a:rPr sz="850" b="0" i="0">
                <a:solidFill>
                  <a:srgbClr val="6B7280"/>
                </a:solidFill>
              </a:rPr>
              <a:t>0 of 104 marginal offers</a:t>
            </a:r>
          </a:p>
        </p:txBody>
      </p:sp>
      <p:sp>
        <p:nvSpPr>
          <p:cNvPr id="17" name="Rectangle 16"/>
          <p:cNvSpPr/>
          <p:nvPr/>
        </p:nvSpPr>
        <p:spPr>
          <a:xfrm>
            <a:off x="7543800" y="3081528"/>
            <a:ext cx="54864" cy="58521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08392" y="3118104"/>
            <a:ext cx="4114800" cy="292608"/>
          </a:xfrm>
          <a:prstGeom prst="rect">
            <a:avLst/>
          </a:prstGeom>
          <a:noFill/>
        </p:spPr>
        <p:txBody>
          <a:bodyPr wrap="square">
            <a:spAutoFit/>
          </a:bodyPr>
          <a:lstStyle/>
          <a:p>
            <a:pPr algn="l"/>
            <a:r>
              <a:rPr sz="950" b="1" i="0">
                <a:solidFill>
                  <a:srgbClr val="2D3A4A"/>
                </a:solidFill>
              </a:rPr>
              <a:t>&gt;500 miles: 0.60</a:t>
            </a:r>
          </a:p>
        </p:txBody>
      </p:sp>
      <p:sp>
        <p:nvSpPr>
          <p:cNvPr id="19" name="TextBox 18"/>
          <p:cNvSpPr txBox="1"/>
          <p:nvPr/>
        </p:nvSpPr>
        <p:spPr>
          <a:xfrm>
            <a:off x="7708392" y="3392424"/>
            <a:ext cx="4114800" cy="274320"/>
          </a:xfrm>
          <a:prstGeom prst="rect">
            <a:avLst/>
          </a:prstGeom>
          <a:noFill/>
        </p:spPr>
        <p:txBody>
          <a:bodyPr wrap="square">
            <a:spAutoFit/>
          </a:bodyPr>
          <a:lstStyle/>
          <a:p>
            <a:pPr algn="l"/>
            <a:r>
              <a:rPr sz="850" b="0" i="0">
                <a:solidFill>
                  <a:srgbClr val="6B7280"/>
                </a:solidFill>
              </a:rPr>
              <a:t>Lowest-risk expansion lever</a:t>
            </a:r>
          </a:p>
        </p:txBody>
      </p:sp>
      <p:sp>
        <p:nvSpPr>
          <p:cNvPr id="20" name="Rectangle 19"/>
          <p:cNvSpPr/>
          <p:nvPr/>
        </p:nvSpPr>
        <p:spPr>
          <a:xfrm>
            <a:off x="7543800" y="3749039"/>
            <a:ext cx="54864" cy="585216"/>
          </a:xfrm>
          <a:prstGeom prst="rect">
            <a:avLst/>
          </a:prstGeom>
          <a:solidFill>
            <a:srgbClr val="1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08392" y="3785615"/>
            <a:ext cx="4114800" cy="292608"/>
          </a:xfrm>
          <a:prstGeom prst="rect">
            <a:avLst/>
          </a:prstGeom>
          <a:noFill/>
        </p:spPr>
        <p:txBody>
          <a:bodyPr wrap="square">
            <a:spAutoFit/>
          </a:bodyPr>
          <a:lstStyle/>
          <a:p>
            <a:pPr algn="l"/>
            <a:r>
              <a:rPr sz="950" b="1" i="0">
                <a:solidFill>
                  <a:srgbClr val="2D3A4A"/>
                </a:solidFill>
              </a:rPr>
              <a:t>PHS risk: 0.52</a:t>
            </a:r>
          </a:p>
        </p:txBody>
      </p:sp>
      <p:sp>
        <p:nvSpPr>
          <p:cNvPr id="22" name="TextBox 21"/>
          <p:cNvSpPr txBox="1"/>
          <p:nvPr/>
        </p:nvSpPr>
        <p:spPr>
          <a:xfrm>
            <a:off x="7708392" y="4059935"/>
            <a:ext cx="4114800" cy="274320"/>
          </a:xfrm>
          <a:prstGeom prst="rect">
            <a:avLst/>
          </a:prstGeom>
          <a:noFill/>
        </p:spPr>
        <p:txBody>
          <a:bodyPr wrap="square">
            <a:spAutoFit/>
          </a:bodyPr>
          <a:lstStyle/>
          <a:p>
            <a:pPr algn="l"/>
            <a:r>
              <a:rPr sz="850" b="0" i="0">
                <a:solidFill>
                  <a:srgbClr val="6B7280"/>
                </a:solidFill>
              </a:rPr>
              <a:t>CI crosses 1.0 — selective room</a:t>
            </a:r>
          </a:p>
        </p:txBody>
      </p:sp>
      <p:sp>
        <p:nvSpPr>
          <p:cNvPr id="23" name="Rectangle 22"/>
          <p:cNvSpPr/>
          <p:nvPr/>
        </p:nvSpPr>
        <p:spPr>
          <a:xfrm>
            <a:off x="7543800" y="4416552"/>
            <a:ext cx="54864" cy="58521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08392" y="4453128"/>
            <a:ext cx="4114800" cy="292608"/>
          </a:xfrm>
          <a:prstGeom prst="rect">
            <a:avLst/>
          </a:prstGeom>
          <a:noFill/>
        </p:spPr>
        <p:txBody>
          <a:bodyPr wrap="square">
            <a:spAutoFit/>
          </a:bodyPr>
          <a:lstStyle/>
          <a:p>
            <a:pPr algn="l"/>
            <a:r>
              <a:rPr sz="950" b="1" i="0">
                <a:solidFill>
                  <a:srgbClr val="2D3A4A"/>
                </a:solidFill>
              </a:rPr>
              <a:t>MPSC trigger: &lt;0.30</a:t>
            </a:r>
          </a:p>
        </p:txBody>
      </p:sp>
      <p:sp>
        <p:nvSpPr>
          <p:cNvPr id="25" name="TextBox 24"/>
          <p:cNvSpPr txBox="1"/>
          <p:nvPr/>
        </p:nvSpPr>
        <p:spPr>
          <a:xfrm>
            <a:off x="7708392" y="4727448"/>
            <a:ext cx="4114800" cy="274320"/>
          </a:xfrm>
          <a:prstGeom prst="rect">
            <a:avLst/>
          </a:prstGeom>
          <a:noFill/>
        </p:spPr>
        <p:txBody>
          <a:bodyPr wrap="square">
            <a:spAutoFit/>
          </a:bodyPr>
          <a:lstStyle/>
          <a:p>
            <a:pPr algn="l"/>
            <a:r>
              <a:rPr sz="850" b="0" i="0">
                <a:solidFill>
                  <a:srgbClr val="6B7280"/>
                </a:solidFill>
              </a:rPr>
              <a:t>ALUA at 0.62 — not at risk</a:t>
            </a:r>
          </a:p>
        </p:txBody>
      </p:sp>
      <p:sp>
        <p:nvSpPr>
          <p:cNvPr id="26" name="TextBox 25"/>
          <p:cNvSpPr txBox="1"/>
          <p:nvPr/>
        </p:nvSpPr>
        <p:spPr>
          <a:xfrm>
            <a:off x="7543800" y="5138928"/>
            <a:ext cx="4315968" cy="658368"/>
          </a:xfrm>
          <a:prstGeom prst="rect">
            <a:avLst/>
          </a:prstGeom>
          <a:noFill/>
        </p:spPr>
        <p:txBody>
          <a:bodyPr wrap="square">
            <a:spAutoFit/>
          </a:bodyPr>
          <a:lstStyle/>
          <a:p>
            <a:pPr algn="l"/>
            <a:r>
              <a:rPr sz="950" b="1" i="0">
                <a:solidFill>
                  <a:srgbClr val="1E3A5F"/>
                </a:solidFill>
              </a:rPr>
              <a:t>Target: Accept more well-matched
younger donors at 250–400 miles.
Avoid marginal offers during
surgical ramp period.</a:t>
            </a:r>
          </a:p>
        </p:txBody>
      </p:sp>
      <p:sp>
        <p:nvSpPr>
          <p:cNvPr id="27" name="Rectangle 26"/>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Offer Acceptance</a:t>
            </a:r>
          </a:p>
        </p:txBody>
      </p:sp>
      <p:sp>
        <p:nvSpPr>
          <p:cNvPr id="29" name="TextBox 28"/>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10</a:t>
            </a:r>
          </a:p>
        </p:txBody>
      </p:sp>
    </p:spTree>
    <p:extLst>
      <p:ext uri="{BB962C8B-B14F-4D97-AF65-F5344CB8AC3E}">
        <p14:creationId xmlns:p14="http://schemas.microsoft.com/office/powerpoint/2010/main" val="1325645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13715"/>
            <a:ext cx="10972800" cy="384048"/>
          </a:xfrm>
          <a:prstGeom prst="rect">
            <a:avLst/>
          </a:prstGeom>
          <a:noFill/>
        </p:spPr>
        <p:txBody>
          <a:bodyPr wrap="square">
            <a:spAutoFit/>
          </a:bodyPr>
          <a:lstStyle/>
          <a:p>
            <a:pPr algn="l"/>
            <a:r>
              <a:rPr sz="1800" b="1" i="0">
                <a:solidFill>
                  <a:srgbClr val="FFFFFF"/>
                </a:solidFill>
              </a:rPr>
              <a:t>ALUA Volume Regression &amp; Forecast 2026–2030</a:t>
            </a:r>
          </a:p>
        </p:txBody>
      </p:sp>
      <p:sp>
        <p:nvSpPr>
          <p:cNvPr id="4" name="TextBox 3"/>
          <p:cNvSpPr txBox="1"/>
          <p:nvPr/>
        </p:nvSpPr>
        <p:spPr>
          <a:xfrm>
            <a:off x="228600" y="306322"/>
            <a:ext cx="11430000" cy="274320"/>
          </a:xfrm>
          <a:prstGeom prst="rect">
            <a:avLst/>
          </a:prstGeom>
          <a:noFill/>
        </p:spPr>
        <p:txBody>
          <a:bodyPr wrap="square">
            <a:spAutoFit/>
          </a:bodyPr>
          <a:lstStyle/>
          <a:p>
            <a:pPr algn="l"/>
            <a:r>
              <a:rPr sz="950" b="0" i="0" dirty="0">
                <a:solidFill>
                  <a:srgbClr val="C8DEF5"/>
                </a:solidFill>
              </a:rPr>
              <a:t>M4 parsimonious structural model · AIC=70.6 · Adj R²=0.448 · Lowest AIC of 4 models</a:t>
            </a:r>
          </a:p>
        </p:txBody>
      </p:sp>
      <p:pic>
        <p:nvPicPr>
          <p:cNvPr id="5" name="Picture 4" descr="regression_forecast.png"/>
          <p:cNvPicPr>
            <a:picLocks noChangeAspect="1"/>
          </p:cNvPicPr>
          <p:nvPr/>
        </p:nvPicPr>
        <p:blipFill>
          <a:blip r:embed="rId3"/>
          <a:stretch>
            <a:fillRect/>
          </a:stretch>
        </p:blipFill>
        <p:spPr>
          <a:xfrm>
            <a:off x="137160" y="566928"/>
            <a:ext cx="7452360" cy="4343400"/>
          </a:xfrm>
          <a:prstGeom prst="rect">
            <a:avLst/>
          </a:prstGeom>
        </p:spPr>
      </p:pic>
      <p:sp>
        <p:nvSpPr>
          <p:cNvPr id="6" name="Rectangle 5"/>
          <p:cNvSpPr/>
          <p:nvPr/>
        </p:nvSpPr>
        <p:spPr>
          <a:xfrm>
            <a:off x="7772400" y="594360"/>
            <a:ext cx="4251960" cy="2395728"/>
          </a:xfrm>
          <a:prstGeom prst="rect">
            <a:avLst/>
          </a:prstGeom>
          <a:solidFill>
            <a:srgbClr val="E8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658368"/>
            <a:ext cx="4005072" cy="347472"/>
          </a:xfrm>
          <a:prstGeom prst="rect">
            <a:avLst/>
          </a:prstGeom>
          <a:noFill/>
        </p:spPr>
        <p:txBody>
          <a:bodyPr wrap="square">
            <a:spAutoFit/>
          </a:bodyPr>
          <a:lstStyle/>
          <a:p>
            <a:pPr algn="l"/>
            <a:r>
              <a:rPr sz="1050" b="1" i="0">
                <a:solidFill>
                  <a:srgbClr val="1E3A5F"/>
                </a:solidFill>
              </a:rPr>
              <a:t>Model Comparison</a:t>
            </a:r>
          </a:p>
        </p:txBody>
      </p:sp>
      <p:sp>
        <p:nvSpPr>
          <p:cNvPr id="8" name="Rectangle 7"/>
          <p:cNvSpPr/>
          <p:nvPr/>
        </p:nvSpPr>
        <p:spPr>
          <a:xfrm>
            <a:off x="7772400" y="1078992"/>
            <a:ext cx="4251960" cy="43891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82127" y="1124712"/>
            <a:ext cx="2194560" cy="320040"/>
          </a:xfrm>
          <a:prstGeom prst="rect">
            <a:avLst/>
          </a:prstGeom>
          <a:noFill/>
        </p:spPr>
        <p:txBody>
          <a:bodyPr wrap="square">
            <a:spAutoFit/>
          </a:bodyPr>
          <a:lstStyle/>
          <a:p>
            <a:pPr algn="l"/>
            <a:r>
              <a:rPr sz="900" b="0" i="0">
                <a:solidFill>
                  <a:srgbClr val="2D3A4A"/>
                </a:solidFill>
              </a:rPr>
              <a:t>M1: Linear</a:t>
            </a:r>
          </a:p>
        </p:txBody>
      </p:sp>
      <p:sp>
        <p:nvSpPr>
          <p:cNvPr id="10" name="TextBox 9"/>
          <p:cNvSpPr txBox="1"/>
          <p:nvPr/>
        </p:nvSpPr>
        <p:spPr>
          <a:xfrm>
            <a:off x="10104120" y="1124712"/>
            <a:ext cx="777240" cy="320040"/>
          </a:xfrm>
          <a:prstGeom prst="rect">
            <a:avLst/>
          </a:prstGeom>
          <a:noFill/>
        </p:spPr>
        <p:txBody>
          <a:bodyPr wrap="square">
            <a:spAutoFit/>
          </a:bodyPr>
          <a:lstStyle/>
          <a:p>
            <a:pPr algn="ctr"/>
            <a:r>
              <a:rPr sz="900" b="0" i="0">
                <a:solidFill>
                  <a:srgbClr val="2D3A4A"/>
                </a:solidFill>
              </a:rPr>
              <a:t>−0.041</a:t>
            </a:r>
          </a:p>
        </p:txBody>
      </p:sp>
      <p:sp>
        <p:nvSpPr>
          <p:cNvPr id="11" name="TextBox 10"/>
          <p:cNvSpPr txBox="1"/>
          <p:nvPr/>
        </p:nvSpPr>
        <p:spPr>
          <a:xfrm>
            <a:off x="10945368" y="1124712"/>
            <a:ext cx="1005840" cy="320040"/>
          </a:xfrm>
          <a:prstGeom prst="rect">
            <a:avLst/>
          </a:prstGeom>
          <a:noFill/>
        </p:spPr>
        <p:txBody>
          <a:bodyPr wrap="square">
            <a:spAutoFit/>
          </a:bodyPr>
          <a:lstStyle/>
          <a:p>
            <a:pPr algn="ctr"/>
            <a:r>
              <a:rPr sz="900" b="0" i="0">
                <a:solidFill>
                  <a:srgbClr val="2D3A4A"/>
                </a:solidFill>
              </a:rPr>
              <a:t>80.3</a:t>
            </a:r>
          </a:p>
        </p:txBody>
      </p:sp>
      <p:sp>
        <p:nvSpPr>
          <p:cNvPr id="12" name="Rectangle 11"/>
          <p:cNvSpPr/>
          <p:nvPr/>
        </p:nvSpPr>
        <p:spPr>
          <a:xfrm>
            <a:off x="7772400" y="1517904"/>
            <a:ext cx="425196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82127" y="1563624"/>
            <a:ext cx="2194560" cy="320040"/>
          </a:xfrm>
          <a:prstGeom prst="rect">
            <a:avLst/>
          </a:prstGeom>
          <a:noFill/>
        </p:spPr>
        <p:txBody>
          <a:bodyPr wrap="square">
            <a:spAutoFit/>
          </a:bodyPr>
          <a:lstStyle/>
          <a:p>
            <a:pPr algn="l"/>
            <a:r>
              <a:rPr sz="900" b="0" i="0">
                <a:solidFill>
                  <a:srgbClr val="2D3A4A"/>
                </a:solidFill>
              </a:rPr>
              <a:t>M2: Quadratic</a:t>
            </a:r>
          </a:p>
        </p:txBody>
      </p:sp>
      <p:sp>
        <p:nvSpPr>
          <p:cNvPr id="14" name="TextBox 13"/>
          <p:cNvSpPr txBox="1"/>
          <p:nvPr/>
        </p:nvSpPr>
        <p:spPr>
          <a:xfrm>
            <a:off x="10104120" y="1563624"/>
            <a:ext cx="777240" cy="320040"/>
          </a:xfrm>
          <a:prstGeom prst="rect">
            <a:avLst/>
          </a:prstGeom>
          <a:noFill/>
        </p:spPr>
        <p:txBody>
          <a:bodyPr wrap="square">
            <a:spAutoFit/>
          </a:bodyPr>
          <a:lstStyle/>
          <a:p>
            <a:pPr algn="ctr"/>
            <a:r>
              <a:rPr sz="900" b="0" i="0">
                <a:solidFill>
                  <a:srgbClr val="2D3A4A"/>
                </a:solidFill>
              </a:rPr>
              <a:t>0.199</a:t>
            </a:r>
          </a:p>
        </p:txBody>
      </p:sp>
      <p:sp>
        <p:nvSpPr>
          <p:cNvPr id="15" name="TextBox 14"/>
          <p:cNvSpPr txBox="1"/>
          <p:nvPr/>
        </p:nvSpPr>
        <p:spPr>
          <a:xfrm>
            <a:off x="10945368" y="1563624"/>
            <a:ext cx="1005840" cy="320040"/>
          </a:xfrm>
          <a:prstGeom prst="rect">
            <a:avLst/>
          </a:prstGeom>
          <a:noFill/>
        </p:spPr>
        <p:txBody>
          <a:bodyPr wrap="square">
            <a:spAutoFit/>
          </a:bodyPr>
          <a:lstStyle/>
          <a:p>
            <a:pPr algn="ctr"/>
            <a:r>
              <a:rPr sz="900" b="0" i="0">
                <a:solidFill>
                  <a:srgbClr val="2D3A4A"/>
                </a:solidFill>
              </a:rPr>
              <a:t>75.7</a:t>
            </a:r>
          </a:p>
        </p:txBody>
      </p:sp>
      <p:sp>
        <p:nvSpPr>
          <p:cNvPr id="16" name="Rectangle 15"/>
          <p:cNvSpPr/>
          <p:nvPr/>
        </p:nvSpPr>
        <p:spPr>
          <a:xfrm>
            <a:off x="7772400" y="1956815"/>
            <a:ext cx="4251960" cy="43891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82127" y="2002536"/>
            <a:ext cx="2194560" cy="320040"/>
          </a:xfrm>
          <a:prstGeom prst="rect">
            <a:avLst/>
          </a:prstGeom>
          <a:noFill/>
        </p:spPr>
        <p:txBody>
          <a:bodyPr wrap="square">
            <a:spAutoFit/>
          </a:bodyPr>
          <a:lstStyle/>
          <a:p>
            <a:pPr algn="l"/>
            <a:r>
              <a:rPr sz="900" b="0" i="0">
                <a:solidFill>
                  <a:srgbClr val="2D3A4A"/>
                </a:solidFill>
              </a:rPr>
              <a:t>M3: Full struct.</a:t>
            </a:r>
          </a:p>
        </p:txBody>
      </p:sp>
      <p:sp>
        <p:nvSpPr>
          <p:cNvPr id="18" name="TextBox 17"/>
          <p:cNvSpPr txBox="1"/>
          <p:nvPr/>
        </p:nvSpPr>
        <p:spPr>
          <a:xfrm>
            <a:off x="10104120" y="2002536"/>
            <a:ext cx="777240" cy="320040"/>
          </a:xfrm>
          <a:prstGeom prst="rect">
            <a:avLst/>
          </a:prstGeom>
          <a:noFill/>
        </p:spPr>
        <p:txBody>
          <a:bodyPr wrap="square">
            <a:spAutoFit/>
          </a:bodyPr>
          <a:lstStyle/>
          <a:p>
            <a:pPr algn="ctr"/>
            <a:r>
              <a:rPr sz="900" b="0" i="0">
                <a:solidFill>
                  <a:srgbClr val="2D3A4A"/>
                </a:solidFill>
              </a:rPr>
              <a:t>0.327</a:t>
            </a:r>
          </a:p>
        </p:txBody>
      </p:sp>
      <p:sp>
        <p:nvSpPr>
          <p:cNvPr id="19" name="TextBox 18"/>
          <p:cNvSpPr txBox="1"/>
          <p:nvPr/>
        </p:nvSpPr>
        <p:spPr>
          <a:xfrm>
            <a:off x="10945368" y="2002536"/>
            <a:ext cx="1005840" cy="320040"/>
          </a:xfrm>
          <a:prstGeom prst="rect">
            <a:avLst/>
          </a:prstGeom>
          <a:noFill/>
        </p:spPr>
        <p:txBody>
          <a:bodyPr wrap="square">
            <a:spAutoFit/>
          </a:bodyPr>
          <a:lstStyle/>
          <a:p>
            <a:pPr algn="ctr"/>
            <a:r>
              <a:rPr sz="900" b="0" i="0">
                <a:solidFill>
                  <a:srgbClr val="2D3A4A"/>
                </a:solidFill>
              </a:rPr>
              <a:t>75.7</a:t>
            </a:r>
          </a:p>
        </p:txBody>
      </p:sp>
      <p:sp>
        <p:nvSpPr>
          <p:cNvPr id="20" name="Rectangle 19"/>
          <p:cNvSpPr/>
          <p:nvPr/>
        </p:nvSpPr>
        <p:spPr>
          <a:xfrm>
            <a:off x="7772400" y="2395728"/>
            <a:ext cx="4251960" cy="438912"/>
          </a:xfrm>
          <a:prstGeom prst="rect">
            <a:avLst/>
          </a:prstGeom>
          <a:solidFill>
            <a:srgbClr val="E0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82127" y="2441448"/>
            <a:ext cx="2194560" cy="320040"/>
          </a:xfrm>
          <a:prstGeom prst="rect">
            <a:avLst/>
          </a:prstGeom>
          <a:noFill/>
        </p:spPr>
        <p:txBody>
          <a:bodyPr wrap="square">
            <a:spAutoFit/>
          </a:bodyPr>
          <a:lstStyle/>
          <a:p>
            <a:pPr algn="l"/>
            <a:r>
              <a:rPr sz="900" b="1" i="0">
                <a:solidFill>
                  <a:srgbClr val="1E3A5F"/>
                </a:solidFill>
              </a:rPr>
              <a:t>M4: Best ★</a:t>
            </a:r>
          </a:p>
        </p:txBody>
      </p:sp>
      <p:sp>
        <p:nvSpPr>
          <p:cNvPr id="22" name="TextBox 21"/>
          <p:cNvSpPr txBox="1"/>
          <p:nvPr/>
        </p:nvSpPr>
        <p:spPr>
          <a:xfrm>
            <a:off x="10104120" y="2441448"/>
            <a:ext cx="777240" cy="320040"/>
          </a:xfrm>
          <a:prstGeom prst="rect">
            <a:avLst/>
          </a:prstGeom>
          <a:noFill/>
        </p:spPr>
        <p:txBody>
          <a:bodyPr wrap="square">
            <a:spAutoFit/>
          </a:bodyPr>
          <a:lstStyle/>
          <a:p>
            <a:pPr algn="ctr"/>
            <a:r>
              <a:rPr sz="900" b="1" i="0">
                <a:solidFill>
                  <a:srgbClr val="1A7A4A"/>
                </a:solidFill>
              </a:rPr>
              <a:t>0.448</a:t>
            </a:r>
          </a:p>
        </p:txBody>
      </p:sp>
      <p:sp>
        <p:nvSpPr>
          <p:cNvPr id="23" name="TextBox 22"/>
          <p:cNvSpPr txBox="1"/>
          <p:nvPr/>
        </p:nvSpPr>
        <p:spPr>
          <a:xfrm>
            <a:off x="10945368" y="2441448"/>
            <a:ext cx="1005840" cy="320040"/>
          </a:xfrm>
          <a:prstGeom prst="rect">
            <a:avLst/>
          </a:prstGeom>
          <a:noFill/>
        </p:spPr>
        <p:txBody>
          <a:bodyPr wrap="square">
            <a:spAutoFit/>
          </a:bodyPr>
          <a:lstStyle/>
          <a:p>
            <a:pPr algn="ctr"/>
            <a:r>
              <a:rPr sz="900" b="1" i="0">
                <a:solidFill>
                  <a:srgbClr val="1A7A4A"/>
                </a:solidFill>
              </a:rPr>
              <a:t>70.6</a:t>
            </a:r>
          </a:p>
        </p:txBody>
      </p:sp>
      <p:sp>
        <p:nvSpPr>
          <p:cNvPr id="24" name="Rectangle 23"/>
          <p:cNvSpPr/>
          <p:nvPr/>
        </p:nvSpPr>
        <p:spPr>
          <a:xfrm>
            <a:off x="7772400" y="3108960"/>
            <a:ext cx="4251960" cy="269748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09560" y="3172968"/>
            <a:ext cx="4005072" cy="347472"/>
          </a:xfrm>
          <a:prstGeom prst="rect">
            <a:avLst/>
          </a:prstGeom>
          <a:noFill/>
        </p:spPr>
        <p:txBody>
          <a:bodyPr wrap="square">
            <a:spAutoFit/>
          </a:bodyPr>
          <a:lstStyle/>
          <a:p>
            <a:pPr algn="l"/>
            <a:r>
              <a:rPr sz="1050" b="1" i="0">
                <a:solidFill>
                  <a:srgbClr val="1E3A5F"/>
                </a:solidFill>
              </a:rPr>
              <a:t>M4 Base Scenario Forecasts</a:t>
            </a:r>
          </a:p>
        </p:txBody>
      </p:sp>
      <p:sp>
        <p:nvSpPr>
          <p:cNvPr id="26" name="TextBox 25"/>
          <p:cNvSpPr txBox="1"/>
          <p:nvPr/>
        </p:nvSpPr>
        <p:spPr>
          <a:xfrm>
            <a:off x="7909560" y="3584448"/>
            <a:ext cx="4005072" cy="347472"/>
          </a:xfrm>
          <a:prstGeom prst="rect">
            <a:avLst/>
          </a:prstGeom>
          <a:noFill/>
        </p:spPr>
        <p:txBody>
          <a:bodyPr wrap="square">
            <a:spAutoFit/>
          </a:bodyPr>
          <a:lstStyle/>
          <a:p>
            <a:pPr algn="l"/>
            <a:r>
              <a:rPr sz="1000" b="0" i="0">
                <a:solidFill>
                  <a:srgbClr val="2D3A4A"/>
                </a:solidFill>
              </a:rPr>
              <a:t>2026:  22 cases  (80% PI: 15–30)</a:t>
            </a:r>
          </a:p>
        </p:txBody>
      </p:sp>
      <p:sp>
        <p:nvSpPr>
          <p:cNvPr id="27" name="TextBox 26"/>
          <p:cNvSpPr txBox="1"/>
          <p:nvPr/>
        </p:nvSpPr>
        <p:spPr>
          <a:xfrm>
            <a:off x="7909560" y="4005072"/>
            <a:ext cx="4005072" cy="347472"/>
          </a:xfrm>
          <a:prstGeom prst="rect">
            <a:avLst/>
          </a:prstGeom>
          <a:noFill/>
        </p:spPr>
        <p:txBody>
          <a:bodyPr wrap="square">
            <a:spAutoFit/>
          </a:bodyPr>
          <a:lstStyle/>
          <a:p>
            <a:pPr algn="l"/>
            <a:r>
              <a:rPr sz="1000" b="0" i="0">
                <a:solidFill>
                  <a:srgbClr val="2D3A4A"/>
                </a:solidFill>
              </a:rPr>
              <a:t>2027:  22 cases  (80% PI: 14–29)</a:t>
            </a:r>
          </a:p>
        </p:txBody>
      </p:sp>
      <p:sp>
        <p:nvSpPr>
          <p:cNvPr id="28" name="TextBox 27"/>
          <p:cNvSpPr txBox="1"/>
          <p:nvPr/>
        </p:nvSpPr>
        <p:spPr>
          <a:xfrm>
            <a:off x="7909560" y="4425696"/>
            <a:ext cx="4005072" cy="347472"/>
          </a:xfrm>
          <a:prstGeom prst="rect">
            <a:avLst/>
          </a:prstGeom>
          <a:noFill/>
        </p:spPr>
        <p:txBody>
          <a:bodyPr wrap="square">
            <a:spAutoFit/>
          </a:bodyPr>
          <a:lstStyle/>
          <a:p>
            <a:pPr algn="l"/>
            <a:r>
              <a:rPr sz="1000" b="0" i="0">
                <a:solidFill>
                  <a:srgbClr val="2D3A4A"/>
                </a:solidFill>
              </a:rPr>
              <a:t>2028:  21 cases  (80% PI: 13–29)</a:t>
            </a:r>
          </a:p>
        </p:txBody>
      </p:sp>
      <p:sp>
        <p:nvSpPr>
          <p:cNvPr id="29" name="TextBox 28"/>
          <p:cNvSpPr txBox="1"/>
          <p:nvPr/>
        </p:nvSpPr>
        <p:spPr>
          <a:xfrm>
            <a:off x="7909560" y="4846320"/>
            <a:ext cx="4005072" cy="347472"/>
          </a:xfrm>
          <a:prstGeom prst="rect">
            <a:avLst/>
          </a:prstGeom>
          <a:noFill/>
        </p:spPr>
        <p:txBody>
          <a:bodyPr wrap="square">
            <a:spAutoFit/>
          </a:bodyPr>
          <a:lstStyle/>
          <a:p>
            <a:pPr algn="l"/>
            <a:r>
              <a:rPr sz="1000" b="0" i="0">
                <a:solidFill>
                  <a:srgbClr val="2D3A4A"/>
                </a:solidFill>
              </a:rPr>
              <a:t>2029:  20 cases  (80% PI: 12–28)</a:t>
            </a:r>
          </a:p>
        </p:txBody>
      </p:sp>
      <p:sp>
        <p:nvSpPr>
          <p:cNvPr id="30" name="TextBox 29"/>
          <p:cNvSpPr txBox="1"/>
          <p:nvPr/>
        </p:nvSpPr>
        <p:spPr>
          <a:xfrm>
            <a:off x="7909560" y="5266944"/>
            <a:ext cx="4005072" cy="347472"/>
          </a:xfrm>
          <a:prstGeom prst="rect">
            <a:avLst/>
          </a:prstGeom>
          <a:noFill/>
        </p:spPr>
        <p:txBody>
          <a:bodyPr wrap="square">
            <a:spAutoFit/>
          </a:bodyPr>
          <a:lstStyle/>
          <a:p>
            <a:pPr algn="l"/>
            <a:r>
              <a:rPr sz="1000" b="0" i="0">
                <a:solidFill>
                  <a:srgbClr val="2D3A4A"/>
                </a:solidFill>
              </a:rPr>
              <a:t>2030:  20 cases  (80% PI: 12–28)</a:t>
            </a:r>
          </a:p>
        </p:txBody>
      </p:sp>
      <p:sp>
        <p:nvSpPr>
          <p:cNvPr id="31" name="TextBox 30"/>
          <p:cNvSpPr txBox="1"/>
          <p:nvPr/>
        </p:nvSpPr>
        <p:spPr>
          <a:xfrm>
            <a:off x="7909560" y="5897879"/>
            <a:ext cx="4005072" cy="347472"/>
          </a:xfrm>
          <a:prstGeom prst="rect">
            <a:avLst/>
          </a:prstGeom>
          <a:noFill/>
        </p:spPr>
        <p:txBody>
          <a:bodyPr wrap="square">
            <a:spAutoFit/>
          </a:bodyPr>
          <a:lstStyle/>
          <a:p>
            <a:pPr algn="l"/>
            <a:r>
              <a:rPr sz="850" b="1" i="0">
                <a:solidFill>
                  <a:srgbClr val="1A7A8A"/>
                </a:solidFill>
              </a:rPr>
              <a:t>★ Q1 2026=9 actual → annualizes ~36 (above 80% PI upper=30)</a:t>
            </a:r>
          </a:p>
        </p:txBody>
      </p:sp>
      <p:sp>
        <p:nvSpPr>
          <p:cNvPr id="32" name="Rectangle 31"/>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Regression Forecast</a:t>
            </a:r>
          </a:p>
        </p:txBody>
      </p:sp>
      <p:sp>
        <p:nvSpPr>
          <p:cNvPr id="34" name="TextBox 33"/>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11</a:t>
            </a:r>
          </a:p>
        </p:txBody>
      </p:sp>
    </p:spTree>
    <p:extLst>
      <p:ext uri="{BB962C8B-B14F-4D97-AF65-F5344CB8AC3E}">
        <p14:creationId xmlns:p14="http://schemas.microsoft.com/office/powerpoint/2010/main" val="216982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a:solidFill>
                  <a:srgbClr val="FFFFFF"/>
                </a:solidFill>
              </a:rPr>
              <a:t>Monte Carlo Probability &amp; Bayesian Update</a:t>
            </a:r>
          </a:p>
        </p:txBody>
      </p:sp>
      <p:sp>
        <p:nvSpPr>
          <p:cNvPr id="4" name="TextBox 3"/>
          <p:cNvSpPr txBox="1"/>
          <p:nvPr/>
        </p:nvSpPr>
        <p:spPr>
          <a:xfrm>
            <a:off x="210312" y="301752"/>
            <a:ext cx="11430000" cy="274320"/>
          </a:xfrm>
          <a:prstGeom prst="rect">
            <a:avLst/>
          </a:prstGeom>
          <a:noFill/>
        </p:spPr>
        <p:txBody>
          <a:bodyPr wrap="square">
            <a:spAutoFit/>
          </a:bodyPr>
          <a:lstStyle/>
          <a:p>
            <a:pPr algn="l"/>
            <a:r>
              <a:rPr sz="950" b="0" i="0">
                <a:solidFill>
                  <a:srgbClr val="C8DEF5"/>
                </a:solidFill>
              </a:rPr>
              <a:t>100k simulated paths · Regime-switching model · Q1 2026 Bayesian posterior update</a:t>
            </a:r>
          </a:p>
        </p:txBody>
      </p:sp>
      <p:pic>
        <p:nvPicPr>
          <p:cNvPr id="5" name="Picture 4" descr="monte_carlo.png"/>
          <p:cNvPicPr>
            <a:picLocks noChangeAspect="1"/>
          </p:cNvPicPr>
          <p:nvPr/>
        </p:nvPicPr>
        <p:blipFill>
          <a:blip r:embed="rId3"/>
          <a:stretch>
            <a:fillRect/>
          </a:stretch>
        </p:blipFill>
        <p:spPr>
          <a:xfrm>
            <a:off x="137160" y="566928"/>
            <a:ext cx="7818120" cy="4224528"/>
          </a:xfrm>
          <a:prstGeom prst="rect">
            <a:avLst/>
          </a:prstGeom>
        </p:spPr>
      </p:pic>
      <p:sp>
        <p:nvSpPr>
          <p:cNvPr id="6" name="Rectangle 5"/>
          <p:cNvSpPr/>
          <p:nvPr/>
        </p:nvSpPr>
        <p:spPr>
          <a:xfrm>
            <a:off x="8138160" y="594360"/>
            <a:ext cx="3840480" cy="2926080"/>
          </a:xfrm>
          <a:prstGeom prst="rect">
            <a:avLst/>
          </a:prstGeom>
          <a:solidFill>
            <a:srgbClr val="E8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75320" y="658368"/>
            <a:ext cx="3611880" cy="347472"/>
          </a:xfrm>
          <a:prstGeom prst="rect">
            <a:avLst/>
          </a:prstGeom>
          <a:noFill/>
        </p:spPr>
        <p:txBody>
          <a:bodyPr wrap="square">
            <a:spAutoFit/>
          </a:bodyPr>
          <a:lstStyle/>
          <a:p>
            <a:pPr algn="l"/>
            <a:r>
              <a:rPr sz="1050" b="1" i="0">
                <a:solidFill>
                  <a:srgbClr val="1E3A5F"/>
                </a:solidFill>
              </a:rPr>
              <a:t>P(Sustaining ≥33 cases/yr)</a:t>
            </a:r>
          </a:p>
        </p:txBody>
      </p:sp>
      <p:sp>
        <p:nvSpPr>
          <p:cNvPr id="8" name="Rectangle 7"/>
          <p:cNvSpPr/>
          <p:nvPr/>
        </p:nvSpPr>
        <p:spPr>
          <a:xfrm>
            <a:off x="8138160" y="1051560"/>
            <a:ext cx="3840480" cy="43891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84464" y="1097280"/>
            <a:ext cx="1645920" cy="320040"/>
          </a:xfrm>
          <a:prstGeom prst="rect">
            <a:avLst/>
          </a:prstGeom>
          <a:noFill/>
        </p:spPr>
        <p:txBody>
          <a:bodyPr wrap="square">
            <a:spAutoFit/>
          </a:bodyPr>
          <a:lstStyle/>
          <a:p>
            <a:pPr algn="l"/>
            <a:r>
              <a:rPr sz="850" b="1" i="0">
                <a:solidFill>
                  <a:srgbClr val="FFFFFF"/>
                </a:solidFill>
              </a:rPr>
              <a:t>Scenario</a:t>
            </a:r>
          </a:p>
        </p:txBody>
      </p:sp>
      <p:sp>
        <p:nvSpPr>
          <p:cNvPr id="10" name="TextBox 9"/>
          <p:cNvSpPr txBox="1"/>
          <p:nvPr/>
        </p:nvSpPr>
        <p:spPr>
          <a:xfrm>
            <a:off x="9994392" y="1097280"/>
            <a:ext cx="1645920" cy="320040"/>
          </a:xfrm>
          <a:prstGeom prst="rect">
            <a:avLst/>
          </a:prstGeom>
          <a:noFill/>
        </p:spPr>
        <p:txBody>
          <a:bodyPr wrap="square">
            <a:spAutoFit/>
          </a:bodyPr>
          <a:lstStyle/>
          <a:p>
            <a:pPr algn="ctr"/>
            <a:r>
              <a:rPr sz="850" b="1" i="0">
                <a:solidFill>
                  <a:srgbClr val="FFFFFF"/>
                </a:solidFill>
              </a:rPr>
              <a:t>1yr</a:t>
            </a:r>
          </a:p>
        </p:txBody>
      </p:sp>
      <p:sp>
        <p:nvSpPr>
          <p:cNvPr id="11" name="TextBox 10"/>
          <p:cNvSpPr txBox="1"/>
          <p:nvPr/>
        </p:nvSpPr>
        <p:spPr>
          <a:xfrm>
            <a:off x="10725912" y="1097280"/>
            <a:ext cx="1645920" cy="320040"/>
          </a:xfrm>
          <a:prstGeom prst="rect">
            <a:avLst/>
          </a:prstGeom>
          <a:noFill/>
        </p:spPr>
        <p:txBody>
          <a:bodyPr wrap="square">
            <a:spAutoFit/>
          </a:bodyPr>
          <a:lstStyle/>
          <a:p>
            <a:pPr algn="ctr"/>
            <a:r>
              <a:rPr sz="850" b="1" i="0">
                <a:solidFill>
                  <a:srgbClr val="FFFFFF"/>
                </a:solidFill>
              </a:rPr>
              <a:t>3yr</a:t>
            </a:r>
          </a:p>
        </p:txBody>
      </p:sp>
      <p:sp>
        <p:nvSpPr>
          <p:cNvPr id="12" name="TextBox 11"/>
          <p:cNvSpPr txBox="1"/>
          <p:nvPr/>
        </p:nvSpPr>
        <p:spPr>
          <a:xfrm>
            <a:off x="11457432" y="1097280"/>
            <a:ext cx="1645920" cy="320040"/>
          </a:xfrm>
          <a:prstGeom prst="rect">
            <a:avLst/>
          </a:prstGeom>
          <a:noFill/>
        </p:spPr>
        <p:txBody>
          <a:bodyPr wrap="square">
            <a:spAutoFit/>
          </a:bodyPr>
          <a:lstStyle/>
          <a:p>
            <a:pPr algn="ctr"/>
            <a:r>
              <a:rPr sz="850" b="1" i="0">
                <a:solidFill>
                  <a:srgbClr val="FFFFFF"/>
                </a:solidFill>
              </a:rPr>
              <a:t>5yr</a:t>
            </a:r>
          </a:p>
        </p:txBody>
      </p:sp>
      <p:sp>
        <p:nvSpPr>
          <p:cNvPr id="13" name="Rectangle 12"/>
          <p:cNvSpPr/>
          <p:nvPr/>
        </p:nvSpPr>
        <p:spPr>
          <a:xfrm>
            <a:off x="8138160" y="1490472"/>
            <a:ext cx="3840480" cy="457200"/>
          </a:xfrm>
          <a:prstGeom prst="rect">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1536192"/>
            <a:ext cx="1691640" cy="320040"/>
          </a:xfrm>
          <a:prstGeom prst="rect">
            <a:avLst/>
          </a:prstGeom>
          <a:noFill/>
        </p:spPr>
        <p:txBody>
          <a:bodyPr wrap="square">
            <a:spAutoFit/>
          </a:bodyPr>
          <a:lstStyle/>
          <a:p>
            <a:pPr algn="l"/>
            <a:r>
              <a:rPr sz="900" b="0" i="0">
                <a:solidFill>
                  <a:srgbClr val="2D3A4A"/>
                </a:solidFill>
              </a:rPr>
              <a:t>Conservative</a:t>
            </a:r>
          </a:p>
        </p:txBody>
      </p:sp>
      <p:sp>
        <p:nvSpPr>
          <p:cNvPr id="15" name="TextBox 14"/>
          <p:cNvSpPr txBox="1"/>
          <p:nvPr/>
        </p:nvSpPr>
        <p:spPr>
          <a:xfrm>
            <a:off x="9994392" y="1536192"/>
            <a:ext cx="685800" cy="320040"/>
          </a:xfrm>
          <a:prstGeom prst="rect">
            <a:avLst/>
          </a:prstGeom>
          <a:noFill/>
        </p:spPr>
        <p:txBody>
          <a:bodyPr wrap="square">
            <a:spAutoFit/>
          </a:bodyPr>
          <a:lstStyle/>
          <a:p>
            <a:pPr algn="ctr"/>
            <a:r>
              <a:rPr sz="900" b="0" i="0">
                <a:solidFill>
                  <a:srgbClr val="2D3A4A"/>
                </a:solidFill>
              </a:rPr>
              <a:t>27%</a:t>
            </a:r>
          </a:p>
        </p:txBody>
      </p:sp>
      <p:sp>
        <p:nvSpPr>
          <p:cNvPr id="16" name="TextBox 15"/>
          <p:cNvSpPr txBox="1"/>
          <p:nvPr/>
        </p:nvSpPr>
        <p:spPr>
          <a:xfrm>
            <a:off x="10725912" y="1536192"/>
            <a:ext cx="685800" cy="320040"/>
          </a:xfrm>
          <a:prstGeom prst="rect">
            <a:avLst/>
          </a:prstGeom>
          <a:noFill/>
        </p:spPr>
        <p:txBody>
          <a:bodyPr wrap="square">
            <a:spAutoFit/>
          </a:bodyPr>
          <a:lstStyle/>
          <a:p>
            <a:pPr algn="ctr"/>
            <a:r>
              <a:rPr sz="900" b="0" i="0">
                <a:solidFill>
                  <a:srgbClr val="2D3A4A"/>
                </a:solidFill>
              </a:rPr>
              <a:t>13%</a:t>
            </a:r>
          </a:p>
        </p:txBody>
      </p:sp>
      <p:sp>
        <p:nvSpPr>
          <p:cNvPr id="17" name="TextBox 16"/>
          <p:cNvSpPr txBox="1"/>
          <p:nvPr/>
        </p:nvSpPr>
        <p:spPr>
          <a:xfrm>
            <a:off x="11457432" y="1536192"/>
            <a:ext cx="685800" cy="320040"/>
          </a:xfrm>
          <a:prstGeom prst="rect">
            <a:avLst/>
          </a:prstGeom>
          <a:noFill/>
        </p:spPr>
        <p:txBody>
          <a:bodyPr wrap="square">
            <a:spAutoFit/>
          </a:bodyPr>
          <a:lstStyle/>
          <a:p>
            <a:pPr algn="ctr"/>
            <a:r>
              <a:rPr sz="900" b="0" i="0">
                <a:solidFill>
                  <a:srgbClr val="2D3A4A"/>
                </a:solidFill>
              </a:rPr>
              <a:t>8%</a:t>
            </a:r>
          </a:p>
        </p:txBody>
      </p:sp>
      <p:sp>
        <p:nvSpPr>
          <p:cNvPr id="18" name="Rectangle 17"/>
          <p:cNvSpPr/>
          <p:nvPr/>
        </p:nvSpPr>
        <p:spPr>
          <a:xfrm>
            <a:off x="8138160" y="1947672"/>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0" y="1993391"/>
            <a:ext cx="1691640" cy="320040"/>
          </a:xfrm>
          <a:prstGeom prst="rect">
            <a:avLst/>
          </a:prstGeom>
          <a:noFill/>
        </p:spPr>
        <p:txBody>
          <a:bodyPr wrap="square">
            <a:spAutoFit/>
          </a:bodyPr>
          <a:lstStyle/>
          <a:p>
            <a:pPr algn="l"/>
            <a:r>
              <a:rPr sz="900" b="0" i="0">
                <a:solidFill>
                  <a:srgbClr val="2D3A4A"/>
                </a:solidFill>
              </a:rPr>
              <a:t>Base (Q1 rate)</a:t>
            </a:r>
          </a:p>
        </p:txBody>
      </p:sp>
      <p:sp>
        <p:nvSpPr>
          <p:cNvPr id="20" name="TextBox 19"/>
          <p:cNvSpPr txBox="1"/>
          <p:nvPr/>
        </p:nvSpPr>
        <p:spPr>
          <a:xfrm>
            <a:off x="9994392" y="1993391"/>
            <a:ext cx="685800" cy="320040"/>
          </a:xfrm>
          <a:prstGeom prst="rect">
            <a:avLst/>
          </a:prstGeom>
          <a:noFill/>
        </p:spPr>
        <p:txBody>
          <a:bodyPr wrap="square">
            <a:spAutoFit/>
          </a:bodyPr>
          <a:lstStyle/>
          <a:p>
            <a:pPr algn="ctr"/>
            <a:r>
              <a:rPr sz="900" b="0" i="0">
                <a:solidFill>
                  <a:srgbClr val="2D3A4A"/>
                </a:solidFill>
              </a:rPr>
              <a:t>54%</a:t>
            </a:r>
          </a:p>
        </p:txBody>
      </p:sp>
      <p:sp>
        <p:nvSpPr>
          <p:cNvPr id="21" name="TextBox 20"/>
          <p:cNvSpPr txBox="1"/>
          <p:nvPr/>
        </p:nvSpPr>
        <p:spPr>
          <a:xfrm>
            <a:off x="10725912" y="1993391"/>
            <a:ext cx="685800" cy="320040"/>
          </a:xfrm>
          <a:prstGeom prst="rect">
            <a:avLst/>
          </a:prstGeom>
          <a:noFill/>
        </p:spPr>
        <p:txBody>
          <a:bodyPr wrap="square">
            <a:spAutoFit/>
          </a:bodyPr>
          <a:lstStyle/>
          <a:p>
            <a:pPr algn="ctr"/>
            <a:r>
              <a:rPr sz="900" b="0" i="0">
                <a:solidFill>
                  <a:srgbClr val="2D3A4A"/>
                </a:solidFill>
              </a:rPr>
              <a:t>28%</a:t>
            </a:r>
          </a:p>
        </p:txBody>
      </p:sp>
      <p:sp>
        <p:nvSpPr>
          <p:cNvPr id="22" name="TextBox 21"/>
          <p:cNvSpPr txBox="1"/>
          <p:nvPr/>
        </p:nvSpPr>
        <p:spPr>
          <a:xfrm>
            <a:off x="11457432" y="1993391"/>
            <a:ext cx="685800" cy="320040"/>
          </a:xfrm>
          <a:prstGeom prst="rect">
            <a:avLst/>
          </a:prstGeom>
          <a:noFill/>
        </p:spPr>
        <p:txBody>
          <a:bodyPr wrap="square">
            <a:spAutoFit/>
          </a:bodyPr>
          <a:lstStyle/>
          <a:p>
            <a:pPr algn="ctr"/>
            <a:r>
              <a:rPr sz="900" b="0" i="0">
                <a:solidFill>
                  <a:srgbClr val="2D3A4A"/>
                </a:solidFill>
              </a:rPr>
              <a:t>18%</a:t>
            </a:r>
          </a:p>
        </p:txBody>
      </p:sp>
      <p:sp>
        <p:nvSpPr>
          <p:cNvPr id="23" name="Rectangle 22"/>
          <p:cNvSpPr/>
          <p:nvPr/>
        </p:nvSpPr>
        <p:spPr>
          <a:xfrm>
            <a:off x="8138160" y="2404872"/>
            <a:ext cx="3840480" cy="457200"/>
          </a:xfrm>
          <a:prstGeom prst="rect">
            <a:avLst/>
          </a:prstGeom>
          <a:solidFill>
            <a:srgbClr val="E0F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0" y="2450591"/>
            <a:ext cx="1691640" cy="320040"/>
          </a:xfrm>
          <a:prstGeom prst="rect">
            <a:avLst/>
          </a:prstGeom>
          <a:noFill/>
        </p:spPr>
        <p:txBody>
          <a:bodyPr wrap="square">
            <a:spAutoFit/>
          </a:bodyPr>
          <a:lstStyle/>
          <a:p>
            <a:pPr algn="l"/>
            <a:r>
              <a:rPr sz="900" b="1" i="0">
                <a:solidFill>
                  <a:srgbClr val="1E3A5F"/>
                </a:solidFill>
              </a:rPr>
              <a:t>Bull (stable)</a:t>
            </a:r>
          </a:p>
        </p:txBody>
      </p:sp>
      <p:sp>
        <p:nvSpPr>
          <p:cNvPr id="25" name="TextBox 24"/>
          <p:cNvSpPr txBox="1"/>
          <p:nvPr/>
        </p:nvSpPr>
        <p:spPr>
          <a:xfrm>
            <a:off x="9994392" y="2450591"/>
            <a:ext cx="685800" cy="320040"/>
          </a:xfrm>
          <a:prstGeom prst="rect">
            <a:avLst/>
          </a:prstGeom>
          <a:noFill/>
        </p:spPr>
        <p:txBody>
          <a:bodyPr wrap="square">
            <a:spAutoFit/>
          </a:bodyPr>
          <a:lstStyle/>
          <a:p>
            <a:pPr algn="ctr"/>
            <a:r>
              <a:rPr sz="900" b="1" i="0">
                <a:solidFill>
                  <a:srgbClr val="1A7A4A"/>
                </a:solidFill>
              </a:rPr>
              <a:t>60%</a:t>
            </a:r>
          </a:p>
        </p:txBody>
      </p:sp>
      <p:sp>
        <p:nvSpPr>
          <p:cNvPr id="26" name="TextBox 25"/>
          <p:cNvSpPr txBox="1"/>
          <p:nvPr/>
        </p:nvSpPr>
        <p:spPr>
          <a:xfrm>
            <a:off x="10725912" y="2450591"/>
            <a:ext cx="685800" cy="320040"/>
          </a:xfrm>
          <a:prstGeom prst="rect">
            <a:avLst/>
          </a:prstGeom>
          <a:noFill/>
        </p:spPr>
        <p:txBody>
          <a:bodyPr wrap="square">
            <a:spAutoFit/>
          </a:bodyPr>
          <a:lstStyle/>
          <a:p>
            <a:pPr algn="ctr"/>
            <a:r>
              <a:rPr sz="900" b="1" i="0">
                <a:solidFill>
                  <a:srgbClr val="1A7A4A"/>
                </a:solidFill>
              </a:rPr>
              <a:t>38%</a:t>
            </a:r>
          </a:p>
        </p:txBody>
      </p:sp>
      <p:sp>
        <p:nvSpPr>
          <p:cNvPr id="27" name="TextBox 26"/>
          <p:cNvSpPr txBox="1"/>
          <p:nvPr/>
        </p:nvSpPr>
        <p:spPr>
          <a:xfrm>
            <a:off x="11457432" y="2450591"/>
            <a:ext cx="685800" cy="320040"/>
          </a:xfrm>
          <a:prstGeom prst="rect">
            <a:avLst/>
          </a:prstGeom>
          <a:noFill/>
        </p:spPr>
        <p:txBody>
          <a:bodyPr wrap="square">
            <a:spAutoFit/>
          </a:bodyPr>
          <a:lstStyle/>
          <a:p>
            <a:pPr algn="ctr"/>
            <a:r>
              <a:rPr sz="900" b="1" i="0">
                <a:solidFill>
                  <a:srgbClr val="1A7A4A"/>
                </a:solidFill>
              </a:rPr>
              <a:t>29%</a:t>
            </a:r>
          </a:p>
        </p:txBody>
      </p:sp>
      <p:sp>
        <p:nvSpPr>
          <p:cNvPr id="28" name="Rectangle 27"/>
          <p:cNvSpPr/>
          <p:nvPr/>
        </p:nvSpPr>
        <p:spPr>
          <a:xfrm>
            <a:off x="8138160" y="3630168"/>
            <a:ext cx="3840480" cy="222199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75320" y="3694176"/>
            <a:ext cx="3611880" cy="347472"/>
          </a:xfrm>
          <a:prstGeom prst="rect">
            <a:avLst/>
          </a:prstGeom>
          <a:noFill/>
        </p:spPr>
        <p:txBody>
          <a:bodyPr wrap="square">
            <a:spAutoFit/>
          </a:bodyPr>
          <a:lstStyle/>
          <a:p>
            <a:pPr algn="l"/>
            <a:r>
              <a:rPr sz="1050" b="1" i="0">
                <a:solidFill>
                  <a:srgbClr val="1E3A5F"/>
                </a:solidFill>
              </a:rPr>
              <a:t>Bayesian Q1 Update</a:t>
            </a:r>
          </a:p>
        </p:txBody>
      </p:sp>
      <p:sp>
        <p:nvSpPr>
          <p:cNvPr id="30" name="TextBox 29"/>
          <p:cNvSpPr txBox="1"/>
          <p:nvPr/>
        </p:nvSpPr>
        <p:spPr>
          <a:xfrm>
            <a:off x="8275320" y="4096512"/>
            <a:ext cx="3611880" cy="274320"/>
          </a:xfrm>
          <a:prstGeom prst="rect">
            <a:avLst/>
          </a:prstGeom>
          <a:noFill/>
        </p:spPr>
        <p:txBody>
          <a:bodyPr wrap="square">
            <a:spAutoFit/>
          </a:bodyPr>
          <a:lstStyle/>
          <a:p>
            <a:pPr algn="l"/>
            <a:r>
              <a:rPr sz="950" b="1" i="0">
                <a:solidFill>
                  <a:srgbClr val="2D3A4A"/>
                </a:solidFill>
              </a:rPr>
              <a:t>Given Q1 2026 = 9 cases observed:</a:t>
            </a:r>
          </a:p>
        </p:txBody>
      </p:sp>
      <p:sp>
        <p:nvSpPr>
          <p:cNvPr id="31" name="TextBox 30"/>
          <p:cNvSpPr txBox="1"/>
          <p:nvPr/>
        </p:nvSpPr>
        <p:spPr>
          <a:xfrm>
            <a:off x="8275320" y="4389120"/>
            <a:ext cx="3611880" cy="292608"/>
          </a:xfrm>
          <a:prstGeom prst="rect">
            <a:avLst/>
          </a:prstGeom>
          <a:noFill/>
        </p:spPr>
        <p:txBody>
          <a:bodyPr wrap="square">
            <a:spAutoFit/>
          </a:bodyPr>
          <a:lstStyle/>
          <a:p>
            <a:pPr algn="l"/>
            <a:r>
              <a:rPr sz="900" b="0" i="0">
                <a:solidFill>
                  <a:srgbClr val="2D3A4A"/>
                </a:solidFill>
              </a:rPr>
              <a:t>Prior:  E[vol] = 29.6  |  P(≥33) = 27%</a:t>
            </a:r>
          </a:p>
        </p:txBody>
      </p:sp>
      <p:sp>
        <p:nvSpPr>
          <p:cNvPr id="32" name="TextBox 31"/>
          <p:cNvSpPr txBox="1"/>
          <p:nvPr/>
        </p:nvSpPr>
        <p:spPr>
          <a:xfrm>
            <a:off x="8275320" y="4663440"/>
            <a:ext cx="3611880" cy="292608"/>
          </a:xfrm>
          <a:prstGeom prst="rect">
            <a:avLst/>
          </a:prstGeom>
          <a:noFill/>
        </p:spPr>
        <p:txBody>
          <a:bodyPr wrap="square">
            <a:spAutoFit/>
          </a:bodyPr>
          <a:lstStyle/>
          <a:p>
            <a:pPr algn="l"/>
            <a:r>
              <a:rPr sz="950" b="1" i="0">
                <a:solidFill>
                  <a:srgbClr val="1E3A5F"/>
                </a:solidFill>
              </a:rPr>
              <a:t>Post:  E[vol] = 32.3 ± 6.1  |  P(≥33) = 38%</a:t>
            </a:r>
          </a:p>
        </p:txBody>
      </p:sp>
      <p:sp>
        <p:nvSpPr>
          <p:cNvPr id="33" name="TextBox 32"/>
          <p:cNvSpPr txBox="1"/>
          <p:nvPr/>
        </p:nvSpPr>
        <p:spPr>
          <a:xfrm>
            <a:off x="8275320" y="5047488"/>
            <a:ext cx="3611880" cy="566928"/>
          </a:xfrm>
          <a:prstGeom prst="rect">
            <a:avLst/>
          </a:prstGeom>
          <a:noFill/>
        </p:spPr>
        <p:txBody>
          <a:bodyPr wrap="square">
            <a:spAutoFit/>
          </a:bodyPr>
          <a:lstStyle/>
          <a:p>
            <a:pPr algn="l"/>
            <a:r>
              <a:rPr sz="900" b="1" i="0">
                <a:solidFill>
                  <a:srgbClr val="1E3A5F"/>
                </a:solidFill>
              </a:rPr>
              <a:t>For 50% 3yr probability → need ≥43 cases/yr
Retaining new surgeon = highest-leverage action</a:t>
            </a:r>
          </a:p>
        </p:txBody>
      </p:sp>
      <p:sp>
        <p:nvSpPr>
          <p:cNvPr id="34" name="Rectangle 33"/>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Monte Carlo &amp; Bayesian</a:t>
            </a:r>
          </a:p>
        </p:txBody>
      </p:sp>
      <p:sp>
        <p:nvSpPr>
          <p:cNvPr id="36" name="TextBox 35"/>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12</a:t>
            </a:r>
          </a:p>
        </p:txBody>
      </p:sp>
    </p:spTree>
    <p:extLst>
      <p:ext uri="{BB962C8B-B14F-4D97-AF65-F5344CB8AC3E}">
        <p14:creationId xmlns:p14="http://schemas.microsoft.com/office/powerpoint/2010/main" val="3446025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10972800" cy="384048"/>
          </a:xfrm>
          <a:prstGeom prst="rect">
            <a:avLst/>
          </a:prstGeom>
          <a:noFill/>
        </p:spPr>
        <p:txBody>
          <a:bodyPr wrap="square">
            <a:spAutoFit/>
          </a:bodyPr>
          <a:lstStyle/>
          <a:p>
            <a:pPr algn="l"/>
            <a:r>
              <a:rPr sz="1800" b="1" i="0" dirty="0">
                <a:solidFill>
                  <a:srgbClr val="FFFFFF"/>
                </a:solidFill>
              </a:rPr>
              <a:t>Key Recommendations &amp; Surveillance Priorities</a:t>
            </a:r>
          </a:p>
        </p:txBody>
      </p:sp>
      <p:sp>
        <p:nvSpPr>
          <p:cNvPr id="4" name="TextBox 3"/>
          <p:cNvSpPr txBox="1"/>
          <p:nvPr/>
        </p:nvSpPr>
        <p:spPr>
          <a:xfrm>
            <a:off x="219456" y="281178"/>
            <a:ext cx="11430000" cy="274320"/>
          </a:xfrm>
          <a:prstGeom prst="rect">
            <a:avLst/>
          </a:prstGeom>
          <a:noFill/>
        </p:spPr>
        <p:txBody>
          <a:bodyPr wrap="square">
            <a:spAutoFit/>
          </a:bodyPr>
          <a:lstStyle/>
          <a:p>
            <a:pPr algn="l"/>
            <a:r>
              <a:rPr sz="950" b="0" i="0" dirty="0">
                <a:solidFill>
                  <a:srgbClr val="C8DEF5"/>
                </a:solidFill>
              </a:rPr>
              <a:t>Actionable priorities derived from quantitative analysis of SRTR PSR, rolling data, and volume models</a:t>
            </a:r>
          </a:p>
        </p:txBody>
      </p:sp>
      <p:sp>
        <p:nvSpPr>
          <p:cNvPr id="5" name="Rectangle 4"/>
          <p:cNvSpPr/>
          <p:nvPr/>
        </p:nvSpPr>
        <p:spPr>
          <a:xfrm>
            <a:off x="182880" y="566928"/>
            <a:ext cx="5806440" cy="16916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 y="566928"/>
            <a:ext cx="73152" cy="169164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7472" y="630936"/>
            <a:ext cx="411480" cy="438912"/>
          </a:xfrm>
          <a:prstGeom prst="rect">
            <a:avLst/>
          </a:prstGeom>
          <a:noFill/>
        </p:spPr>
        <p:txBody>
          <a:bodyPr wrap="square">
            <a:spAutoFit/>
          </a:bodyPr>
          <a:lstStyle/>
          <a:p>
            <a:pPr algn="ctr"/>
            <a:r>
              <a:rPr sz="2000" b="1" i="0">
                <a:solidFill>
                  <a:srgbClr val="C47A00"/>
                </a:solidFill>
              </a:rPr>
              <a:t>1</a:t>
            </a:r>
          </a:p>
        </p:txBody>
      </p:sp>
      <p:sp>
        <p:nvSpPr>
          <p:cNvPr id="8" name="TextBox 7"/>
          <p:cNvSpPr txBox="1"/>
          <p:nvPr/>
        </p:nvSpPr>
        <p:spPr>
          <a:xfrm>
            <a:off x="822959" y="640080"/>
            <a:ext cx="5029200" cy="475488"/>
          </a:xfrm>
          <a:prstGeom prst="rect">
            <a:avLst/>
          </a:prstGeom>
          <a:noFill/>
        </p:spPr>
        <p:txBody>
          <a:bodyPr wrap="square">
            <a:spAutoFit/>
          </a:bodyPr>
          <a:lstStyle/>
          <a:p>
            <a:pPr algn="l"/>
            <a:r>
              <a:rPr sz="950" b="1" i="0">
                <a:solidFill>
                  <a:srgbClr val="2D3A4A"/>
                </a:solidFill>
              </a:rPr>
              <a:t>SRTR 7/26 — Priority Review
July 2026</a:t>
            </a:r>
          </a:p>
        </p:txBody>
      </p:sp>
      <p:sp>
        <p:nvSpPr>
          <p:cNvPr id="9" name="TextBox 8"/>
          <p:cNvSpPr txBox="1"/>
          <p:nvPr/>
        </p:nvSpPr>
        <p:spPr>
          <a:xfrm>
            <a:off x="320039" y="1060704"/>
            <a:ext cx="5468112" cy="523220"/>
          </a:xfrm>
          <a:prstGeom prst="rect">
            <a:avLst/>
          </a:prstGeom>
          <a:noFill/>
        </p:spPr>
        <p:txBody>
          <a:bodyPr wrap="square">
            <a:spAutoFit/>
          </a:bodyPr>
          <a:lstStyle/>
          <a:p>
            <a:pPr algn="l"/>
            <a:r>
              <a:rPr sz="1400" b="0" i="0" dirty="0">
                <a:solidFill>
                  <a:srgbClr val="6B7280"/>
                </a:solidFill>
              </a:rPr>
              <a:t>First full 12-month follow-up on 2025 surge cohort. If HR remains &gt;1.5, trigger formal quality review with acuity-adjusted analysis.</a:t>
            </a:r>
          </a:p>
        </p:txBody>
      </p:sp>
      <p:sp>
        <p:nvSpPr>
          <p:cNvPr id="10" name="Rectangle 9"/>
          <p:cNvSpPr/>
          <p:nvPr/>
        </p:nvSpPr>
        <p:spPr>
          <a:xfrm>
            <a:off x="6172200" y="566928"/>
            <a:ext cx="5806440" cy="16916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566928"/>
            <a:ext cx="73152" cy="16916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36792" y="630936"/>
            <a:ext cx="411480" cy="438912"/>
          </a:xfrm>
          <a:prstGeom prst="rect">
            <a:avLst/>
          </a:prstGeom>
          <a:noFill/>
        </p:spPr>
        <p:txBody>
          <a:bodyPr wrap="square">
            <a:spAutoFit/>
          </a:bodyPr>
          <a:lstStyle/>
          <a:p>
            <a:pPr algn="ctr"/>
            <a:r>
              <a:rPr sz="2000" b="1" i="0">
                <a:solidFill>
                  <a:srgbClr val="1A7A4A"/>
                </a:solidFill>
              </a:rPr>
              <a:t>2</a:t>
            </a:r>
          </a:p>
        </p:txBody>
      </p:sp>
      <p:sp>
        <p:nvSpPr>
          <p:cNvPr id="13" name="TextBox 12"/>
          <p:cNvSpPr txBox="1"/>
          <p:nvPr/>
        </p:nvSpPr>
        <p:spPr>
          <a:xfrm>
            <a:off x="6812280" y="640080"/>
            <a:ext cx="5029200" cy="475488"/>
          </a:xfrm>
          <a:prstGeom prst="rect">
            <a:avLst/>
          </a:prstGeom>
          <a:noFill/>
        </p:spPr>
        <p:txBody>
          <a:bodyPr wrap="square">
            <a:spAutoFit/>
          </a:bodyPr>
          <a:lstStyle/>
          <a:p>
            <a:pPr algn="l"/>
            <a:r>
              <a:rPr sz="950" b="1" i="0">
                <a:solidFill>
                  <a:srgbClr val="2D3A4A"/>
                </a:solidFill>
              </a:rPr>
              <a:t>Retain Surgical Team
Through April 2027</a:t>
            </a:r>
          </a:p>
        </p:txBody>
      </p:sp>
      <p:sp>
        <p:nvSpPr>
          <p:cNvPr id="14" name="TextBox 13"/>
          <p:cNvSpPr txBox="1"/>
          <p:nvPr/>
        </p:nvSpPr>
        <p:spPr>
          <a:xfrm>
            <a:off x="6336792" y="1097280"/>
            <a:ext cx="5468112" cy="523220"/>
          </a:xfrm>
          <a:prstGeom prst="rect">
            <a:avLst/>
          </a:prstGeom>
          <a:noFill/>
        </p:spPr>
        <p:txBody>
          <a:bodyPr wrap="square">
            <a:spAutoFit/>
          </a:bodyPr>
          <a:lstStyle/>
          <a:p>
            <a:pPr algn="l"/>
            <a:r>
              <a:rPr sz="1400" b="0" i="0" dirty="0">
                <a:solidFill>
                  <a:srgbClr val="6B7280"/>
                </a:solidFill>
              </a:rPr>
              <a:t>Disruption probability is the dominant model parameter. Retention to 24-month milestone shifts 3yr P(≥33) from 28% → 38%.</a:t>
            </a:r>
          </a:p>
        </p:txBody>
      </p:sp>
      <p:sp>
        <p:nvSpPr>
          <p:cNvPr id="15" name="Rectangle 14"/>
          <p:cNvSpPr/>
          <p:nvPr/>
        </p:nvSpPr>
        <p:spPr>
          <a:xfrm>
            <a:off x="182880" y="2350008"/>
            <a:ext cx="5806440" cy="16916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82880" y="2350008"/>
            <a:ext cx="73152" cy="1691640"/>
          </a:xfrm>
          <a:prstGeom prst="rect">
            <a:avLst/>
          </a:prstGeom>
          <a:solidFill>
            <a:srgbClr val="1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2414015"/>
            <a:ext cx="411480" cy="438912"/>
          </a:xfrm>
          <a:prstGeom prst="rect">
            <a:avLst/>
          </a:prstGeom>
          <a:noFill/>
        </p:spPr>
        <p:txBody>
          <a:bodyPr wrap="square">
            <a:spAutoFit/>
          </a:bodyPr>
          <a:lstStyle/>
          <a:p>
            <a:pPr algn="ctr"/>
            <a:r>
              <a:rPr sz="2000" b="1" i="0">
                <a:solidFill>
                  <a:srgbClr val="1A7A8A"/>
                </a:solidFill>
              </a:rPr>
              <a:t>3</a:t>
            </a:r>
          </a:p>
        </p:txBody>
      </p:sp>
      <p:sp>
        <p:nvSpPr>
          <p:cNvPr id="18" name="TextBox 17"/>
          <p:cNvSpPr txBox="1"/>
          <p:nvPr/>
        </p:nvSpPr>
        <p:spPr>
          <a:xfrm>
            <a:off x="822959" y="2423160"/>
            <a:ext cx="5029200" cy="475488"/>
          </a:xfrm>
          <a:prstGeom prst="rect">
            <a:avLst/>
          </a:prstGeom>
          <a:noFill/>
        </p:spPr>
        <p:txBody>
          <a:bodyPr wrap="square">
            <a:spAutoFit/>
          </a:bodyPr>
          <a:lstStyle/>
          <a:p>
            <a:pPr algn="l"/>
            <a:r>
              <a:rPr sz="950" b="1" i="0">
                <a:solidFill>
                  <a:srgbClr val="2D3A4A"/>
                </a:solidFill>
              </a:rPr>
              <a:t>Expand Offer Acceptance
Selectively</a:t>
            </a:r>
          </a:p>
        </p:txBody>
      </p:sp>
      <p:sp>
        <p:nvSpPr>
          <p:cNvPr id="19" name="TextBox 18"/>
          <p:cNvSpPr txBox="1"/>
          <p:nvPr/>
        </p:nvSpPr>
        <p:spPr>
          <a:xfrm>
            <a:off x="347472" y="2880360"/>
            <a:ext cx="5468112" cy="523220"/>
          </a:xfrm>
          <a:prstGeom prst="rect">
            <a:avLst/>
          </a:prstGeom>
          <a:noFill/>
        </p:spPr>
        <p:txBody>
          <a:bodyPr wrap="square">
            <a:spAutoFit/>
          </a:bodyPr>
          <a:lstStyle/>
          <a:p>
            <a:pPr algn="l"/>
            <a:r>
              <a:rPr sz="1400" b="0" i="0" dirty="0">
                <a:solidFill>
                  <a:srgbClr val="6B7280"/>
                </a:solidFill>
              </a:rPr>
              <a:t>Target well-matched younger donors at </a:t>
            </a:r>
            <a:r>
              <a:rPr lang="en-US" sz="1400" b="0" i="0" dirty="0">
                <a:solidFill>
                  <a:srgbClr val="6B7280"/>
                </a:solidFill>
              </a:rPr>
              <a:t>&gt; </a:t>
            </a:r>
            <a:r>
              <a:rPr sz="1400" b="0" i="0" dirty="0">
                <a:solidFill>
                  <a:srgbClr val="6B7280"/>
                </a:solidFill>
              </a:rPr>
              <a:t>250–400 miles. Avoid hard-to-place lungs until surgeon reaches 24-month maturity.</a:t>
            </a:r>
          </a:p>
        </p:txBody>
      </p:sp>
      <p:sp>
        <p:nvSpPr>
          <p:cNvPr id="20" name="Rectangle 19"/>
          <p:cNvSpPr/>
          <p:nvPr/>
        </p:nvSpPr>
        <p:spPr>
          <a:xfrm>
            <a:off x="6172200" y="2350008"/>
            <a:ext cx="5806440" cy="16916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2200" y="2350008"/>
            <a:ext cx="73152" cy="1691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36792" y="2414015"/>
            <a:ext cx="411480" cy="438912"/>
          </a:xfrm>
          <a:prstGeom prst="rect">
            <a:avLst/>
          </a:prstGeom>
          <a:noFill/>
        </p:spPr>
        <p:txBody>
          <a:bodyPr wrap="square">
            <a:spAutoFit/>
          </a:bodyPr>
          <a:lstStyle/>
          <a:p>
            <a:pPr algn="ctr"/>
            <a:r>
              <a:rPr sz="2000" b="1" i="0">
                <a:solidFill>
                  <a:srgbClr val="1E3A5F"/>
                </a:solidFill>
              </a:rPr>
              <a:t>4</a:t>
            </a:r>
          </a:p>
        </p:txBody>
      </p:sp>
      <p:sp>
        <p:nvSpPr>
          <p:cNvPr id="23" name="TextBox 22"/>
          <p:cNvSpPr txBox="1"/>
          <p:nvPr/>
        </p:nvSpPr>
        <p:spPr>
          <a:xfrm>
            <a:off x="6812280" y="2423160"/>
            <a:ext cx="5029200" cy="475488"/>
          </a:xfrm>
          <a:prstGeom prst="rect">
            <a:avLst/>
          </a:prstGeom>
          <a:noFill/>
        </p:spPr>
        <p:txBody>
          <a:bodyPr wrap="square">
            <a:spAutoFit/>
          </a:bodyPr>
          <a:lstStyle/>
          <a:p>
            <a:pPr algn="l"/>
            <a:r>
              <a:rPr sz="950" b="1" i="0">
                <a:solidFill>
                  <a:srgbClr val="2D3A4A"/>
                </a:solidFill>
              </a:rPr>
              <a:t>Monitor Acuity-Adjusted
Metrics</a:t>
            </a:r>
          </a:p>
        </p:txBody>
      </p:sp>
      <p:sp>
        <p:nvSpPr>
          <p:cNvPr id="24" name="TextBox 23"/>
          <p:cNvSpPr txBox="1"/>
          <p:nvPr/>
        </p:nvSpPr>
        <p:spPr>
          <a:xfrm>
            <a:off x="6336792" y="2880360"/>
            <a:ext cx="5468112" cy="523220"/>
          </a:xfrm>
          <a:prstGeom prst="rect">
            <a:avLst/>
          </a:prstGeom>
          <a:noFill/>
        </p:spPr>
        <p:txBody>
          <a:bodyPr wrap="square">
            <a:spAutoFit/>
          </a:bodyPr>
          <a:lstStyle/>
          <a:p>
            <a:pPr algn="l"/>
            <a:r>
              <a:rPr sz="1400" b="0" i="0" dirty="0">
                <a:solidFill>
                  <a:srgbClr val="6B7280"/>
                </a:solidFill>
              </a:rPr>
              <a:t>ICU intake 2.3× national inflates raw HR. Request SRTR sensitivity analysis with updated acuity covariates.</a:t>
            </a:r>
          </a:p>
        </p:txBody>
      </p:sp>
      <p:sp>
        <p:nvSpPr>
          <p:cNvPr id="25" name="Rectangle 24"/>
          <p:cNvSpPr/>
          <p:nvPr/>
        </p:nvSpPr>
        <p:spPr>
          <a:xfrm>
            <a:off x="3200400" y="4133087"/>
            <a:ext cx="5806440" cy="169164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00400" y="4133087"/>
            <a:ext cx="73152" cy="169164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64992" y="4197096"/>
            <a:ext cx="411480" cy="438912"/>
          </a:xfrm>
          <a:prstGeom prst="rect">
            <a:avLst/>
          </a:prstGeom>
          <a:noFill/>
        </p:spPr>
        <p:txBody>
          <a:bodyPr wrap="square">
            <a:spAutoFit/>
          </a:bodyPr>
          <a:lstStyle/>
          <a:p>
            <a:pPr algn="ctr"/>
            <a:r>
              <a:rPr sz="2000" b="1" i="0">
                <a:solidFill>
                  <a:srgbClr val="6B7280"/>
                </a:solidFill>
              </a:rPr>
              <a:t>5</a:t>
            </a:r>
          </a:p>
        </p:txBody>
      </p:sp>
      <p:sp>
        <p:nvSpPr>
          <p:cNvPr id="28" name="TextBox 27"/>
          <p:cNvSpPr txBox="1"/>
          <p:nvPr/>
        </p:nvSpPr>
        <p:spPr>
          <a:xfrm>
            <a:off x="3840480" y="4206240"/>
            <a:ext cx="5029200" cy="475488"/>
          </a:xfrm>
          <a:prstGeom prst="rect">
            <a:avLst/>
          </a:prstGeom>
          <a:noFill/>
        </p:spPr>
        <p:txBody>
          <a:bodyPr wrap="square">
            <a:spAutoFit/>
          </a:bodyPr>
          <a:lstStyle/>
          <a:p>
            <a:pPr algn="l"/>
            <a:r>
              <a:rPr sz="950" b="1" i="0">
                <a:solidFill>
                  <a:srgbClr val="2D3A4A"/>
                </a:solidFill>
              </a:rPr>
              <a:t>Q2 2026 = Bayesian Update
Point</a:t>
            </a:r>
          </a:p>
        </p:txBody>
      </p:sp>
      <p:sp>
        <p:nvSpPr>
          <p:cNvPr id="29" name="TextBox 28"/>
          <p:cNvSpPr txBox="1"/>
          <p:nvPr/>
        </p:nvSpPr>
        <p:spPr>
          <a:xfrm>
            <a:off x="3364992" y="4663440"/>
            <a:ext cx="5468112" cy="523220"/>
          </a:xfrm>
          <a:prstGeom prst="rect">
            <a:avLst/>
          </a:prstGeom>
          <a:noFill/>
        </p:spPr>
        <p:txBody>
          <a:bodyPr wrap="square">
            <a:spAutoFit/>
          </a:bodyPr>
          <a:lstStyle/>
          <a:p>
            <a:pPr algn="l"/>
            <a:r>
              <a:rPr sz="1400" b="0" i="0" dirty="0">
                <a:solidFill>
                  <a:srgbClr val="6B7280"/>
                </a:solidFill>
              </a:rPr>
              <a:t>≥8 Q2 cases → P(2026 ≥33) exceeds 50%. ≤6 → base case of 22 is the anchor. Update Monte Carlo starting volumes.</a:t>
            </a:r>
          </a:p>
        </p:txBody>
      </p:sp>
      <p:sp>
        <p:nvSpPr>
          <p:cNvPr id="30" name="Rectangle 29"/>
          <p:cNvSpPr/>
          <p:nvPr/>
        </p:nvSpPr>
        <p:spPr>
          <a:xfrm>
            <a:off x="0" y="6492240"/>
            <a:ext cx="12188952" cy="3657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2880" y="6510528"/>
            <a:ext cx="9144000" cy="274320"/>
          </a:xfrm>
          <a:prstGeom prst="rect">
            <a:avLst/>
          </a:prstGeom>
          <a:noFill/>
        </p:spPr>
        <p:txBody>
          <a:bodyPr wrap="square">
            <a:spAutoFit/>
          </a:bodyPr>
          <a:lstStyle/>
          <a:p>
            <a:pPr algn="l"/>
            <a:r>
              <a:rPr sz="900" b="0" i="0">
                <a:solidFill>
                  <a:srgbClr val="FFFFFF"/>
                </a:solidFill>
              </a:rPr>
              <a:t>US Lung Transplant Analytics  |  Recommendations</a:t>
            </a:r>
          </a:p>
        </p:txBody>
      </p:sp>
      <p:sp>
        <p:nvSpPr>
          <p:cNvPr id="32" name="TextBox 31"/>
          <p:cNvSpPr txBox="1"/>
          <p:nvPr/>
        </p:nvSpPr>
        <p:spPr>
          <a:xfrm>
            <a:off x="11704320" y="6510528"/>
            <a:ext cx="365760" cy="274320"/>
          </a:xfrm>
          <a:prstGeom prst="rect">
            <a:avLst/>
          </a:prstGeom>
          <a:noFill/>
        </p:spPr>
        <p:txBody>
          <a:bodyPr wrap="square">
            <a:spAutoFit/>
          </a:bodyPr>
          <a:lstStyle/>
          <a:p>
            <a:pPr algn="ctr"/>
            <a:r>
              <a:rPr sz="900" b="1" i="0">
                <a:solidFill>
                  <a:srgbClr val="FFFFFF"/>
                </a:solidFill>
              </a:rPr>
              <a:t>14</a:t>
            </a:r>
          </a:p>
        </p:txBody>
      </p:sp>
    </p:spTree>
    <p:extLst>
      <p:ext uri="{BB962C8B-B14F-4D97-AF65-F5344CB8AC3E}">
        <p14:creationId xmlns:p14="http://schemas.microsoft.com/office/powerpoint/2010/main" val="2044821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187952"/>
            <a:ext cx="12188952" cy="64008"/>
          </a:xfrm>
          <a:prstGeom prst="rect">
            <a:avLst/>
          </a:prstGeom>
          <a:solidFill>
            <a:srgbClr val="B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47472"/>
            <a:ext cx="11247120" cy="713232"/>
          </a:xfrm>
          <a:prstGeom prst="rect">
            <a:avLst/>
          </a:prstGeom>
          <a:noFill/>
        </p:spPr>
        <p:txBody>
          <a:bodyPr wrap="square">
            <a:spAutoFit/>
          </a:bodyPr>
          <a:lstStyle/>
          <a:p>
            <a:pPr algn="ctr"/>
            <a:r>
              <a:rPr sz="3600" b="1" i="0">
                <a:solidFill>
                  <a:srgbClr val="FFFFFF"/>
                </a:solidFill>
              </a:rPr>
              <a:t>Summary</a:t>
            </a:r>
          </a:p>
        </p:txBody>
      </p:sp>
      <p:sp>
        <p:nvSpPr>
          <p:cNvPr id="5" name="Rectangle 4"/>
          <p:cNvSpPr/>
          <p:nvPr/>
        </p:nvSpPr>
        <p:spPr>
          <a:xfrm>
            <a:off x="274320" y="1170432"/>
            <a:ext cx="5715000" cy="141732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70432"/>
            <a:ext cx="73152" cy="1417320"/>
          </a:xfrm>
          <a:prstGeom prst="rect">
            <a:avLst/>
          </a:prstGeom>
          <a:solidFill>
            <a:srgbClr val="1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34440"/>
            <a:ext cx="5394960" cy="384048"/>
          </a:xfrm>
          <a:prstGeom prst="rect">
            <a:avLst/>
          </a:prstGeom>
          <a:noFill/>
        </p:spPr>
        <p:txBody>
          <a:bodyPr wrap="square">
            <a:spAutoFit/>
          </a:bodyPr>
          <a:lstStyle/>
          <a:p>
            <a:pPr algn="l"/>
            <a:r>
              <a:rPr sz="1100" b="1" i="0">
                <a:solidFill>
                  <a:srgbClr val="1A7A8A"/>
                </a:solidFill>
              </a:rPr>
              <a:t>National Market</a:t>
            </a:r>
          </a:p>
        </p:txBody>
      </p:sp>
      <p:sp>
        <p:nvSpPr>
          <p:cNvPr id="8" name="TextBox 7"/>
          <p:cNvSpPr txBox="1"/>
          <p:nvPr/>
        </p:nvSpPr>
        <p:spPr>
          <a:xfrm>
            <a:off x="457200" y="1591056"/>
            <a:ext cx="5394960" cy="914400"/>
          </a:xfrm>
          <a:prstGeom prst="rect">
            <a:avLst/>
          </a:prstGeom>
          <a:noFill/>
        </p:spPr>
        <p:txBody>
          <a:bodyPr wrap="square">
            <a:spAutoFit/>
          </a:bodyPr>
          <a:lstStyle/>
          <a:p>
            <a:pPr algn="l"/>
            <a:r>
              <a:rPr sz="950" b="0" i="0">
                <a:solidFill>
                  <a:srgbClr val="FFFFFF"/>
                </a:solidFill>
              </a:rPr>
              <a:t>3,083 transplants (2025) — 158% growth since 2005. Both reforms improved equity and access. CAS produced the largest policy-driven uplift in program history.</a:t>
            </a:r>
          </a:p>
        </p:txBody>
      </p:sp>
      <p:sp>
        <p:nvSpPr>
          <p:cNvPr id="9" name="Rectangle 8"/>
          <p:cNvSpPr/>
          <p:nvPr/>
        </p:nvSpPr>
        <p:spPr>
          <a:xfrm>
            <a:off x="6263640" y="1170432"/>
            <a:ext cx="5715000" cy="141732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170432"/>
            <a:ext cx="73152" cy="1417320"/>
          </a:xfrm>
          <a:prstGeom prst="rect">
            <a:avLst/>
          </a:prstGeom>
          <a:solidFill>
            <a:srgbClr val="1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234440"/>
            <a:ext cx="5394960" cy="384048"/>
          </a:xfrm>
          <a:prstGeom prst="rect">
            <a:avLst/>
          </a:prstGeom>
          <a:noFill/>
        </p:spPr>
        <p:txBody>
          <a:bodyPr wrap="square">
            <a:spAutoFit/>
          </a:bodyPr>
          <a:lstStyle/>
          <a:p>
            <a:pPr algn="l"/>
            <a:r>
              <a:rPr sz="1100" b="1" i="0">
                <a:solidFill>
                  <a:srgbClr val="1A7A8A"/>
                </a:solidFill>
              </a:rPr>
              <a:t>Policy Impact</a:t>
            </a:r>
          </a:p>
        </p:txBody>
      </p:sp>
      <p:sp>
        <p:nvSpPr>
          <p:cNvPr id="12" name="TextBox 11"/>
          <p:cNvSpPr txBox="1"/>
          <p:nvPr/>
        </p:nvSpPr>
        <p:spPr>
          <a:xfrm>
            <a:off x="6446520" y="1591056"/>
            <a:ext cx="5394960" cy="914400"/>
          </a:xfrm>
          <a:prstGeom prst="rect">
            <a:avLst/>
          </a:prstGeom>
          <a:noFill/>
        </p:spPr>
        <p:txBody>
          <a:bodyPr wrap="square">
            <a:spAutoFit/>
          </a:bodyPr>
          <a:lstStyle/>
          <a:p>
            <a:pPr algn="l"/>
            <a:r>
              <a:rPr sz="950" b="0" i="0">
                <a:solidFill>
                  <a:srgbClr val="FFFFFF"/>
                </a:solidFill>
              </a:rPr>
              <a:t>Only 4 of 51 centers lost under both reforms. CAS rewards acuity-optimized programs. The Southeast access gap (AL, LA, GA) remains a structural equity concern.</a:t>
            </a:r>
          </a:p>
        </p:txBody>
      </p:sp>
      <p:sp>
        <p:nvSpPr>
          <p:cNvPr id="13" name="Rectangle 12"/>
          <p:cNvSpPr/>
          <p:nvPr/>
        </p:nvSpPr>
        <p:spPr>
          <a:xfrm>
            <a:off x="274320" y="2706624"/>
            <a:ext cx="5715000" cy="141732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2706624"/>
            <a:ext cx="73152" cy="141732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770632"/>
            <a:ext cx="5394960" cy="384048"/>
          </a:xfrm>
          <a:prstGeom prst="rect">
            <a:avLst/>
          </a:prstGeom>
          <a:noFill/>
        </p:spPr>
        <p:txBody>
          <a:bodyPr wrap="square">
            <a:spAutoFit/>
          </a:bodyPr>
          <a:lstStyle/>
          <a:p>
            <a:pPr algn="l"/>
            <a:r>
              <a:rPr sz="1100" b="1" i="0">
                <a:solidFill>
                  <a:srgbClr val="C47A00"/>
                </a:solidFill>
              </a:rPr>
              <a:t>ALUA Current State</a:t>
            </a:r>
          </a:p>
        </p:txBody>
      </p:sp>
      <p:sp>
        <p:nvSpPr>
          <p:cNvPr id="16" name="TextBox 15"/>
          <p:cNvSpPr txBox="1"/>
          <p:nvPr/>
        </p:nvSpPr>
        <p:spPr>
          <a:xfrm>
            <a:off x="457200" y="3127248"/>
            <a:ext cx="5394960" cy="914400"/>
          </a:xfrm>
          <a:prstGeom prst="rect">
            <a:avLst/>
          </a:prstGeom>
          <a:noFill/>
        </p:spPr>
        <p:txBody>
          <a:bodyPr wrap="square">
            <a:spAutoFit/>
          </a:bodyPr>
          <a:lstStyle/>
          <a:p>
            <a:pPr algn="l"/>
            <a:r>
              <a:rPr sz="950" b="0" i="0">
                <a:solidFill>
                  <a:srgbClr val="FFFFFF"/>
                </a:solidFill>
              </a:rPr>
              <a:t>PSR Jan 2026 outstanding: 1-yr survival 95.7% vs 89.6% national. HR=0.69. Rising projected HRs (1.56–1.79) reflect acuity and incomplete follow-up — not confirmed quality failure.</a:t>
            </a:r>
          </a:p>
        </p:txBody>
      </p:sp>
      <p:sp>
        <p:nvSpPr>
          <p:cNvPr id="17" name="Rectangle 16"/>
          <p:cNvSpPr/>
          <p:nvPr/>
        </p:nvSpPr>
        <p:spPr>
          <a:xfrm>
            <a:off x="6263640" y="2706624"/>
            <a:ext cx="5715000" cy="1417320"/>
          </a:xfrm>
          <a:prstGeom prst="rect">
            <a:avLst/>
          </a:prstGeom>
          <a:solidFill>
            <a:srgbClr val="12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63640" y="2706624"/>
            <a:ext cx="73152" cy="1417320"/>
          </a:xfrm>
          <a:prstGeom prst="rect">
            <a:avLst/>
          </a:prstGeom>
          <a:solidFill>
            <a:srgbClr val="C4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770632"/>
            <a:ext cx="5394960" cy="384048"/>
          </a:xfrm>
          <a:prstGeom prst="rect">
            <a:avLst/>
          </a:prstGeom>
          <a:noFill/>
        </p:spPr>
        <p:txBody>
          <a:bodyPr wrap="square">
            <a:spAutoFit/>
          </a:bodyPr>
          <a:lstStyle/>
          <a:p>
            <a:pPr algn="l"/>
            <a:r>
              <a:rPr sz="1100" b="1" i="0">
                <a:solidFill>
                  <a:srgbClr val="C47A00"/>
                </a:solidFill>
              </a:rPr>
              <a:t>ALUA Trajectory</a:t>
            </a:r>
          </a:p>
        </p:txBody>
      </p:sp>
      <p:sp>
        <p:nvSpPr>
          <p:cNvPr id="20" name="TextBox 19"/>
          <p:cNvSpPr txBox="1"/>
          <p:nvPr/>
        </p:nvSpPr>
        <p:spPr>
          <a:xfrm>
            <a:off x="6446520" y="3127248"/>
            <a:ext cx="5394960" cy="914400"/>
          </a:xfrm>
          <a:prstGeom prst="rect">
            <a:avLst/>
          </a:prstGeom>
          <a:noFill/>
        </p:spPr>
        <p:txBody>
          <a:bodyPr wrap="square">
            <a:spAutoFit/>
          </a:bodyPr>
          <a:lstStyle/>
          <a:p>
            <a:pPr algn="l"/>
            <a:r>
              <a:rPr sz="950" b="0" i="0">
                <a:solidFill>
                  <a:srgbClr val="FFFFFF"/>
                </a:solidFill>
              </a:rPr>
              <a:t>Regression base: 22 cases/yr. Q1 2026 annualizes to 36 (above model). New surgeon effect may persist. 3yr P(≥33): 28–38%. Retention and selective offer acceptance are the levers.</a:t>
            </a:r>
          </a:p>
        </p:txBody>
      </p:sp>
      <p:sp>
        <p:nvSpPr>
          <p:cNvPr id="21" name="TextBox 20"/>
          <p:cNvSpPr txBox="1"/>
          <p:nvPr/>
        </p:nvSpPr>
        <p:spPr>
          <a:xfrm>
            <a:off x="457200" y="4325112"/>
            <a:ext cx="11247120" cy="347472"/>
          </a:xfrm>
          <a:prstGeom prst="rect">
            <a:avLst/>
          </a:prstGeom>
          <a:noFill/>
        </p:spPr>
        <p:txBody>
          <a:bodyPr wrap="square">
            <a:spAutoFit/>
          </a:bodyPr>
          <a:lstStyle/>
          <a:p>
            <a:pPr algn="ctr"/>
            <a:r>
              <a:rPr sz="800" b="0" i="0">
                <a:solidFill>
                  <a:srgbClr val="7090B0"/>
                </a:solidFill>
              </a:rPr>
              <a:t>Data: OPTN 2005–2025 · SRTR PSR January 2026 · Rolling PSR April 2026 · Analysis: OLS Regression, Monte Carlo, Bayesian Update</a:t>
            </a:r>
          </a:p>
        </p:txBody>
      </p:sp>
      <p:sp>
        <p:nvSpPr>
          <p:cNvPr id="22" name="TextBox 21"/>
          <p:cNvSpPr txBox="1"/>
          <p:nvPr/>
        </p:nvSpPr>
        <p:spPr>
          <a:xfrm>
            <a:off x="457200" y="4663440"/>
            <a:ext cx="11247120" cy="347472"/>
          </a:xfrm>
          <a:prstGeom prst="rect">
            <a:avLst/>
          </a:prstGeom>
          <a:noFill/>
        </p:spPr>
        <p:txBody>
          <a:bodyPr wrap="square">
            <a:spAutoFit/>
          </a:bodyPr>
          <a:lstStyle/>
          <a:p>
            <a:pPr algn="ctr"/>
            <a:r>
              <a:rPr sz="900" b="0" i="0">
                <a:solidFill>
                  <a:srgbClr val="7090B0"/>
                </a:solidFill>
              </a:rPr>
              <a:t>US Lung Transplant Analytics Report  ·  April 2026  ·  For Internal Program Use</a:t>
            </a:r>
          </a:p>
        </p:txBody>
      </p:sp>
    </p:spTree>
    <p:extLst>
      <p:ext uri="{BB962C8B-B14F-4D97-AF65-F5344CB8AC3E}">
        <p14:creationId xmlns:p14="http://schemas.microsoft.com/office/powerpoint/2010/main" val="231371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C6D2A43-1C4B-254B-AE46-46713AF0E1BF}">
  <we:reference id="wa200010001" version="1.0.0.1" store="en-US" storeType="OMEX"/>
  <we:alternateReferences>
    <we:reference id="wa200010001" version="1.0.0.1" store="en-US" storeType="OMEX"/>
  </we:alternateReferences>
  <we:properties>
    <we:property name="claude.fileId" value="&quot;5fdef363-2893-480a-85f4-6d4b2db4638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147</TotalTime>
  <Words>5551</Words>
  <Application>Microsoft Macintosh PowerPoint</Application>
  <PresentationFormat>Custom</PresentationFormat>
  <Paragraphs>432</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Office Theme</vt:lpstr>
      <vt:lpstr>PowerPoint Presentation</vt:lpstr>
      <vt:lpstr>Web-scraped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Thomas Kaleekal</cp:lastModifiedBy>
  <cp:revision>3</cp:revision>
  <dcterms:created xsi:type="dcterms:W3CDTF">2013-01-27T09:14:16Z</dcterms:created>
  <dcterms:modified xsi:type="dcterms:W3CDTF">2026-05-05T20:47:01Z</dcterms:modified>
  <cp:category/>
</cp:coreProperties>
</file>